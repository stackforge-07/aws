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b21c1250b014742" /><Relationship Type="http://schemas.openxmlformats.org/officeDocument/2006/relationships/extended-properties" Target="/docProps/app.xml" Id="R8295fb68950d4bcc" /><Relationship Type="http://schemas.openxmlformats.org/officeDocument/2006/relationships/officeDocument" Target="/ppt/presentation.xml" Id="R9877b297e3e54f54" /></Relationships>
</file>

<file path=ppt/presentation.xml><?xml version="1.0" encoding="utf-8"?>
<p:presentation xmlns:p="http://schemas.openxmlformats.org/presentationml/2006/main">
  <p:sldMasterIdLst>
    <p:sldMasterId xmlns:r="http://schemas.openxmlformats.org/officeDocument/2006/relationships" id="2147483648" r:id="R418e5bcee0914123"/>
  </p:sldMasterIdLst>
  <p:notesMasterIdLst>
    <p:notesMasterId xmlns:r="http://schemas.openxmlformats.org/officeDocument/2006/relationships" r:id="R009441e075f54fb1"/>
  </p:notesMasterIdLst>
  <p:sldIdLst>
    <p:sldId xmlns:r="http://schemas.openxmlformats.org/officeDocument/2006/relationships" id="256" r:id="R3fb7f2ec7ec743e6"/>
    <p:sldId xmlns:r="http://schemas.openxmlformats.org/officeDocument/2006/relationships" id="257" r:id="R732f5dcafcd04582"/>
    <p:sldId xmlns:r="http://schemas.openxmlformats.org/officeDocument/2006/relationships" id="258" r:id="Rcd2249a2253c4c30"/>
    <p:sldId xmlns:r="http://schemas.openxmlformats.org/officeDocument/2006/relationships" id="259" r:id="Re1f7faeb8d894a76"/>
    <p:sldId xmlns:r="http://schemas.openxmlformats.org/officeDocument/2006/relationships" id="260" r:id="Rf71b8e531e6e4d57"/>
    <p:sldId xmlns:r="http://schemas.openxmlformats.org/officeDocument/2006/relationships" id="261" r:id="R2874087aba8b43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5708b82bee433c" /><Relationship Type="http://schemas.openxmlformats.org/officeDocument/2006/relationships/slideMaster" Target="/ppt/slideMasters/slideMaster1.xml" Id="R418e5bcee0914123" /><Relationship Type="http://schemas.openxmlformats.org/officeDocument/2006/relationships/notesMaster" Target="/ppt/notesMasters/notesMaster1.xml" Id="R009441e075f54fb1" /><Relationship Type="http://schemas.openxmlformats.org/officeDocument/2006/relationships/presProps" Target="/ppt/presProps.xml" Id="R716a8fcc3d714e94" /><Relationship Type="http://schemas.openxmlformats.org/officeDocument/2006/relationships/tableStyles" Target="/ppt/tableStyles.xml" Id="R26452dde7fd24ebd" /><Relationship Type="http://schemas.openxmlformats.org/officeDocument/2006/relationships/slide" Target="/ppt/slides/slide1.xml" Id="R3fb7f2ec7ec743e6" /><Relationship Type="http://schemas.openxmlformats.org/officeDocument/2006/relationships/slide" Target="/ppt/slides/slide2.xml" Id="R732f5dcafcd04582" /><Relationship Type="http://schemas.openxmlformats.org/officeDocument/2006/relationships/slide" Target="/ppt/slides/slide3.xml" Id="Rcd2249a2253c4c30" /><Relationship Type="http://schemas.openxmlformats.org/officeDocument/2006/relationships/slide" Target="/ppt/slides/slide4.xml" Id="Re1f7faeb8d894a76" /><Relationship Type="http://schemas.openxmlformats.org/officeDocument/2006/relationships/slide" Target="/ppt/slides/slide5.xml" Id="Rf71b8e531e6e4d57" /><Relationship Type="http://schemas.openxmlformats.org/officeDocument/2006/relationships/slide" Target="/ppt/slides/slide6.xml" Id="R2874087aba8b43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951f6d084644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11fa90083a4e78" /><Relationship Type="http://schemas.openxmlformats.org/officeDocument/2006/relationships/notesMaster" Target="/ppt/notesMasters/notesMaster1.xml" Id="R3c824a42e8e64e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64d06018ea4db9" /><Relationship Type="http://schemas.openxmlformats.org/officeDocument/2006/relationships/notesMaster" Target="/ppt/notesMasters/notesMaster1.xml" Id="R7cb14f921c6141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e3f5c66386443e" /><Relationship Type="http://schemas.openxmlformats.org/officeDocument/2006/relationships/notesMaster" Target="/ppt/notesMasters/notesMaster1.xml" Id="R2388ec9cecf04d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d218e7cf6d48af" /><Relationship Type="http://schemas.openxmlformats.org/officeDocument/2006/relationships/notesMaster" Target="/ppt/notesMasters/notesMaster1.xml" Id="R24fd848518254e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2f7cf9ca854a27" /><Relationship Type="http://schemas.openxmlformats.org/officeDocument/2006/relationships/notesMaster" Target="/ppt/notesMasters/notesMaster1.xml" Id="R7b0ff5b5757443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908038ec9f40fd" /><Relationship Type="http://schemas.openxmlformats.org/officeDocument/2006/relationships/notesMaster" Target="/ppt/notesMasters/notesMaster1.xml" Id="R64dd0d188fda46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scope: references/tprh-revision.txt; README.md. Demo network contains synthetic observations. No real IMD/AWS feed is connected. Team details carried from user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local pipeline implementation, README.md and docs/LIMITATIONS.md. This slide groups operational outcomes for explanation; the implementation retains six classes, shown on technical slide. Nearby-station evidence is conditional on sufficient trusted peers.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reflects backend/API, storage and frontend in README.md. All online features use current and past data. Isolation Forest trains on synthetic normal data. Evidence strength is uncalibrated. No NWP or external forecasts are implemented. Technology logo SVGs: docs/presentation/pitch/logos/SOURCES.md. Icons: lucide-react, ISC 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values from ml/artifacts/evaluation_v2_comparison.json: 4,032 observations, 24 unseen station identities, 7 scenarios; fault recall 77.47% vs 85.76%; weather recall 9.72%. Same simulator family; not independent field validation. API and UI capabilities from README.md. No operating-cost or hardware-speed claims are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Operational workflow is implemented in local UI/API per README.md and WORK_LOG.md. Benefits are expected outcomes to measure in a pilot, not quantified field savings. Maintenance scheduling and personnel management are not claimed as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a:t>
            </a:r>
          </a:p>
          <a:p xmlns:a="http://schemas.openxmlformats.org/drawingml/2006/main">
            <a:r>
              <a:t>SIH problem statement supplied by user: references/tprh-revision.txt and original brief.</a:t>
            </a:r>
          </a:p>
          <a:p xmlns:a="http://schemas.openxmlformats.org/drawingml/2006/main">
            <a:r>
              <a:t>IMD: https://mausam.imd.gov.in/imd_latest/contents/surface-met.php</a:t>
            </a:r>
          </a:p>
          <a:p xmlns:a="http://schemas.openxmlformats.org/drawingml/2006/main">
            <a:r>
              <a:t>WMO: https://wmo.int/publication-series/guide-instruments-and-methods-of-observation-wmo-no-8</a:t>
            </a:r>
          </a:p>
          <a:p xmlns:a="http://schemas.openxmlformats.org/drawingml/2006/main">
            <a:r>
              <a:t>scikit-learn: https://scikit-learn.org/stable/modules/generated/sklearn.ensemble.IsolationForest.html</a:t>
            </a:r>
          </a:p>
          <a:p xmlns:a="http://schemas.openxmlformats.org/drawingml/2006/main">
            <a:r>
              <a:t>PMFBY: https://pmfby.gov.in/winds/weather</a:t>
            </a:r>
          </a:p>
          <a:p xmlns:a="http://schemas.openxmlformats.org/drawingml/2006/main">
            <a:r>
              <a:t>OpenStreetMap: https://www.openstreetmap.org</a:t>
            </a:r>
          </a:p>
          <a:p xmlns:a="http://schemas.openxmlformats.org/drawingml/2006/main">
            <a:r>
              <a:t>Local evidence: ml/artifacts/evaluation_v2_comparison.json and docs/LIMITATIONS.md.</a:t>
            </a:r>
          </a:p>
          <a:p xmlns:a="http://schemas.openxmlformats.org/drawingml/2006/main">
            <a:r>
              <a:t>Visual direction: user-supplied SIH reference screenshots (technical flow and feasibility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600f1cb1f74e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b12e3d6e4641fd" /><Relationship Type="http://schemas.openxmlformats.org/officeDocument/2006/relationships/slideLayout" Target="/ppt/slideLayouts/slideLayout1.xml" Id="Rb4b85b9e85244e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b85b9e85244e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3f5f339ede4f9f" /><Relationship Type="http://schemas.openxmlformats.org/officeDocument/2006/relationships/image" Target="/ppt/media/image.png" Id="R89a0b452ee374533" /><Relationship Type="http://schemas.openxmlformats.org/officeDocument/2006/relationships/image" Target="/ppt/media/image2.png" Id="Rbb8e08611ef84766" /><Relationship Type="http://schemas.openxmlformats.org/officeDocument/2006/relationships/image" Target="/ppt/media/image.svg" Id="R5e45b2ba518749ac" /><Relationship Type="http://schemas.openxmlformats.org/officeDocument/2006/relationships/image" Target="/ppt/media/image3.png" Id="Rc26e5593c93e455f" /><Relationship Type="http://schemas.openxmlformats.org/officeDocument/2006/relationships/image" Target="/ppt/media/image2.svg" Id="R1d17d8f996db4e9a" /><Relationship Type="http://schemas.openxmlformats.org/officeDocument/2006/relationships/image" Target="/ppt/media/image4.png" Id="R35fa10d20a854b70" /><Relationship Type="http://schemas.openxmlformats.org/officeDocument/2006/relationships/image" Target="/ppt/media/image3.svg" Id="R5d16d21b8be34bf2" /><Relationship Type="http://schemas.openxmlformats.org/officeDocument/2006/relationships/notesSlide" Target="/ppt/notesSlides/notesSlide1.xml" Id="Re2b2556e1ded4ed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8570a82fd14eb9" /><Relationship Type="http://schemas.openxmlformats.org/officeDocument/2006/relationships/image" Target="/ppt/media/image5.png" Id="R7b408554684040d0" /><Relationship Type="http://schemas.openxmlformats.org/officeDocument/2006/relationships/image" Target="/ppt/media/image6.png" Id="R3453fe304ab34539" /><Relationship Type="http://schemas.openxmlformats.org/officeDocument/2006/relationships/image" Target="/ppt/media/image4.svg" Id="Rc29aa195adf643b8" /><Relationship Type="http://schemas.openxmlformats.org/officeDocument/2006/relationships/image" Target="/ppt/media/image7.png" Id="Rda6dd03025854fa0" /><Relationship Type="http://schemas.openxmlformats.org/officeDocument/2006/relationships/image" Target="/ppt/media/image5.svg" Id="R855332eb2857454e" /><Relationship Type="http://schemas.openxmlformats.org/officeDocument/2006/relationships/image" Target="/ppt/media/image8.png" Id="R55f6a146ecce4557" /><Relationship Type="http://schemas.openxmlformats.org/officeDocument/2006/relationships/image" Target="/ppt/media/image6.svg" Id="R83bd3e57f4e6473d" /><Relationship Type="http://schemas.openxmlformats.org/officeDocument/2006/relationships/image" Target="/ppt/media/image9.png" Id="R17887d3bd1354239" /><Relationship Type="http://schemas.openxmlformats.org/officeDocument/2006/relationships/image" Target="/ppt/media/image7.svg" Id="R4852165124024cf4" /><Relationship Type="http://schemas.openxmlformats.org/officeDocument/2006/relationships/image" Target="/ppt/media/image10.png" Id="R4319957386714e1b" /><Relationship Type="http://schemas.openxmlformats.org/officeDocument/2006/relationships/image" Target="/ppt/media/image8.svg" Id="R55367af0cd2c42f2" /><Relationship Type="http://schemas.openxmlformats.org/officeDocument/2006/relationships/image" Target="/ppt/media/image11.png" Id="R3266573dc43f4ec0" /><Relationship Type="http://schemas.openxmlformats.org/officeDocument/2006/relationships/image" Target="/ppt/media/image9.svg" Id="R2b17d59f90904075" /><Relationship Type="http://schemas.openxmlformats.org/officeDocument/2006/relationships/image" Target="/ppt/media/image12.png" Id="Re04d723b4f684384" /><Relationship Type="http://schemas.openxmlformats.org/officeDocument/2006/relationships/image" Target="/ppt/media/image10.svg" Id="R081570dc732f4b49" /><Relationship Type="http://schemas.openxmlformats.org/officeDocument/2006/relationships/image" Target="/ppt/media/image13.png" Id="Rcfcda8e194104b5e" /><Relationship Type="http://schemas.openxmlformats.org/officeDocument/2006/relationships/image" Target="/ppt/media/image11.svg" Id="R7ba1465949374fa8" /><Relationship Type="http://schemas.openxmlformats.org/officeDocument/2006/relationships/notesSlide" Target="/ppt/notesSlides/notesSlide2.xml" Id="R9dc552e571394d9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5b2989051c4443" /><Relationship Type="http://schemas.openxmlformats.org/officeDocument/2006/relationships/image" Target="/ppt/media/image14.png" Id="R80384d3b68294f7a" /><Relationship Type="http://schemas.openxmlformats.org/officeDocument/2006/relationships/image" Target="/ppt/media/image15.png" Id="R61df61ed82b14cd1" /><Relationship Type="http://schemas.openxmlformats.org/officeDocument/2006/relationships/image" Target="/ppt/media/image12.svg" Id="Rcb8f9fcbf3e34460" /><Relationship Type="http://schemas.openxmlformats.org/officeDocument/2006/relationships/image" Target="/ppt/media/image16.png" Id="R49254d6c9fe54d60" /><Relationship Type="http://schemas.openxmlformats.org/officeDocument/2006/relationships/image" Target="/ppt/media/image13.svg" Id="R03b2c2f185ce4541" /><Relationship Type="http://schemas.openxmlformats.org/officeDocument/2006/relationships/image" Target="/ppt/media/image17.png" Id="R0350c2416b084efd" /><Relationship Type="http://schemas.openxmlformats.org/officeDocument/2006/relationships/image" Target="/ppt/media/image14.svg" Id="R9c0ed6da0fa2433a" /><Relationship Type="http://schemas.openxmlformats.org/officeDocument/2006/relationships/image" Target="/ppt/media/image18.png" Id="R79fb1bae14ed4dbb" /><Relationship Type="http://schemas.openxmlformats.org/officeDocument/2006/relationships/image" Target="/ppt/media/image15.svg" Id="R41f37392259d4ffb" /><Relationship Type="http://schemas.openxmlformats.org/officeDocument/2006/relationships/image" Target="/ppt/media/image19.png" Id="R9e62936f94314ddb" /><Relationship Type="http://schemas.openxmlformats.org/officeDocument/2006/relationships/image" Target="/ppt/media/image16.svg" Id="R0a479e4450834bc4" /><Relationship Type="http://schemas.openxmlformats.org/officeDocument/2006/relationships/image" Target="/ppt/media/image20.png" Id="Re770797ad83d4c37" /><Relationship Type="http://schemas.openxmlformats.org/officeDocument/2006/relationships/image" Target="/ppt/media/image17.svg" Id="Reddc0ccd9c1a4049" /><Relationship Type="http://schemas.openxmlformats.org/officeDocument/2006/relationships/image" Target="/ppt/media/image21.png" Id="R2a0006e5ce84456a" /><Relationship Type="http://schemas.openxmlformats.org/officeDocument/2006/relationships/image" Target="/ppt/media/image18.svg" Id="Rf037955d0abc4292" /><Relationship Type="http://schemas.openxmlformats.org/officeDocument/2006/relationships/image" Target="/ppt/media/image22.png" Id="R85dbc97de0414665" /><Relationship Type="http://schemas.openxmlformats.org/officeDocument/2006/relationships/image" Target="/ppt/media/image19.svg" Id="R0bb0887e724e4d68" /><Relationship Type="http://schemas.openxmlformats.org/officeDocument/2006/relationships/image" Target="/ppt/media/image23.png" Id="R47d05bb5516047c7" /><Relationship Type="http://schemas.openxmlformats.org/officeDocument/2006/relationships/image" Target="/ppt/media/image20.svg" Id="Rd6594763af67477d" /><Relationship Type="http://schemas.openxmlformats.org/officeDocument/2006/relationships/image" Target="/ppt/media/image24.png" Id="R4d45580e183d4e1d" /><Relationship Type="http://schemas.openxmlformats.org/officeDocument/2006/relationships/image" Target="/ppt/media/image21.svg" Id="R3ad59aa38bb141fc" /><Relationship Type="http://schemas.openxmlformats.org/officeDocument/2006/relationships/image" Target="/ppt/media/image25.png" Id="R4beb973456a347fa" /><Relationship Type="http://schemas.openxmlformats.org/officeDocument/2006/relationships/image" Target="/ppt/media/image22.svg" Id="Rc3edaaddf00c44a1" /><Relationship Type="http://schemas.openxmlformats.org/officeDocument/2006/relationships/image" Target="/ppt/media/image26.png" Id="Rbf8b3f6140204d7f" /><Relationship Type="http://schemas.openxmlformats.org/officeDocument/2006/relationships/image" Target="/ppt/media/image23.svg" Id="Rdc821fe34bc047dd" /><Relationship Type="http://schemas.openxmlformats.org/officeDocument/2006/relationships/image" Target="/ppt/media/image27.png" Id="R863a480367204092" /><Relationship Type="http://schemas.openxmlformats.org/officeDocument/2006/relationships/image" Target="/ppt/media/image24.svg" Id="R1936b7c1f5654bc0" /><Relationship Type="http://schemas.openxmlformats.org/officeDocument/2006/relationships/notesSlide" Target="/ppt/notesSlides/notesSlide3.xml" Id="Ra8ec0ef501094c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79e53c5b5f4c56" /><Relationship Type="http://schemas.openxmlformats.org/officeDocument/2006/relationships/image" Target="/ppt/media/image28.png" Id="R7ec7a023eb0d42fa" /><Relationship Type="http://schemas.openxmlformats.org/officeDocument/2006/relationships/image" Target="/ppt/media/image29.png" Id="R6d1a273a3ab2484b" /><Relationship Type="http://schemas.openxmlformats.org/officeDocument/2006/relationships/image" Target="/ppt/media/image25.svg" Id="R59dc0a3acd0749f1" /><Relationship Type="http://schemas.openxmlformats.org/officeDocument/2006/relationships/image" Target="/ppt/media/image30.png" Id="Rc3acae5a2d5e4919" /><Relationship Type="http://schemas.openxmlformats.org/officeDocument/2006/relationships/image" Target="/ppt/media/image26.svg" Id="Rc5d5f8e92a694f62" /><Relationship Type="http://schemas.openxmlformats.org/officeDocument/2006/relationships/chart" Target="/ppt/slides/charts/chart1.xml" Id="R8112e5f3a65d4d2f" /><Relationship Type="http://schemas.openxmlformats.org/officeDocument/2006/relationships/image" Target="/ppt/media/image31.png" Id="R743d3f09e0994a3f" /><Relationship Type="http://schemas.openxmlformats.org/officeDocument/2006/relationships/image" Target="/ppt/media/image27.svg" Id="Ree65ab0e839a4e45" /><Relationship Type="http://schemas.openxmlformats.org/officeDocument/2006/relationships/image" Target="/ppt/media/image32.png" Id="R541166861ba545ec" /><Relationship Type="http://schemas.openxmlformats.org/officeDocument/2006/relationships/image" Target="/ppt/media/image28.svg" Id="R6f48cf13056541de" /><Relationship Type="http://schemas.openxmlformats.org/officeDocument/2006/relationships/image" Target="/ppt/media/image33.png" Id="Rfb610686d9334cfb" /><Relationship Type="http://schemas.openxmlformats.org/officeDocument/2006/relationships/image" Target="/ppt/media/image29.svg" Id="R26fb7e9230504a22" /><Relationship Type="http://schemas.openxmlformats.org/officeDocument/2006/relationships/notesSlide" Target="/ppt/notesSlides/notesSlide4.xml" Id="Rffcbfa008b0845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2d004d492a4f74" /><Relationship Type="http://schemas.openxmlformats.org/officeDocument/2006/relationships/image" Target="/ppt/media/image34.png" Id="R49c3085a39e34b11" /><Relationship Type="http://schemas.openxmlformats.org/officeDocument/2006/relationships/image" Target="/ppt/media/image35.png" Id="R8dc765e6291846d9" /><Relationship Type="http://schemas.openxmlformats.org/officeDocument/2006/relationships/image" Target="/ppt/media/image30.svg" Id="R542972ff976e4dbc" /><Relationship Type="http://schemas.openxmlformats.org/officeDocument/2006/relationships/image" Target="/ppt/media/image36.png" Id="R6ccbf8ced4d24053" /><Relationship Type="http://schemas.openxmlformats.org/officeDocument/2006/relationships/image" Target="/ppt/media/image31.svg" Id="Ra06c00d74d7d48a6" /><Relationship Type="http://schemas.openxmlformats.org/officeDocument/2006/relationships/image" Target="/ppt/media/image37.png" Id="Rc95360c2efeb4bb4" /><Relationship Type="http://schemas.openxmlformats.org/officeDocument/2006/relationships/image" Target="/ppt/media/image32.svg" Id="Rafee0b662d4a44f8" /><Relationship Type="http://schemas.openxmlformats.org/officeDocument/2006/relationships/image" Target="/ppt/media/image38.png" Id="Rda9be297205647b1" /><Relationship Type="http://schemas.openxmlformats.org/officeDocument/2006/relationships/image" Target="/ppt/media/image33.svg" Id="R1ae51f85695c48f8" /><Relationship Type="http://schemas.openxmlformats.org/officeDocument/2006/relationships/image" Target="/ppt/media/image39.png" Id="R36c6e964e93d4bd2" /><Relationship Type="http://schemas.openxmlformats.org/officeDocument/2006/relationships/image" Target="/ppt/media/image34.svg" Id="Rb4081374c4a7472f" /><Relationship Type="http://schemas.openxmlformats.org/officeDocument/2006/relationships/image" Target="/ppt/media/image40.png" Id="Rc7680327e8e842e8" /><Relationship Type="http://schemas.openxmlformats.org/officeDocument/2006/relationships/image" Target="/ppt/media/image35.svg" Id="R9e8ed35a74e24c93" /><Relationship Type="http://schemas.openxmlformats.org/officeDocument/2006/relationships/image" Target="/ppt/media/image41.png" Id="R9658c014f3e64646" /><Relationship Type="http://schemas.openxmlformats.org/officeDocument/2006/relationships/image" Target="/ppt/media/image36.svg" Id="Raaa5402b57d04a8e" /><Relationship Type="http://schemas.openxmlformats.org/officeDocument/2006/relationships/notesSlide" Target="/ppt/notesSlides/notesSlide5.xml" Id="Rcc6f758737284c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cad457b94d42bc" /><Relationship Type="http://schemas.openxmlformats.org/officeDocument/2006/relationships/image" Target="/ppt/media/image42.png" Id="R18cc0fd151f04a21" /><Relationship Type="http://schemas.openxmlformats.org/officeDocument/2006/relationships/image" Target="/ppt/media/image43.png" Id="Rc972edc5fd624508" /><Relationship Type="http://schemas.openxmlformats.org/officeDocument/2006/relationships/image" Target="/ppt/media/image37.svg" Id="R460b0753c87b4abb" /><Relationship Type="http://schemas.openxmlformats.org/officeDocument/2006/relationships/image" Target="/ppt/media/image44.png" Id="Rfc841ea67df4469e" /><Relationship Type="http://schemas.openxmlformats.org/officeDocument/2006/relationships/image" Target="/ppt/media/image38.svg" Id="R6b95f77dc99f4df9" /><Relationship Type="http://schemas.openxmlformats.org/officeDocument/2006/relationships/image" Target="/ppt/media/image45.png" Id="R9a265c15349246af" /><Relationship Type="http://schemas.openxmlformats.org/officeDocument/2006/relationships/image" Target="/ppt/media/image39.svg" Id="R43466bd084554731" /><Relationship Type="http://schemas.openxmlformats.org/officeDocument/2006/relationships/image" Target="/ppt/media/image46.png" Id="Ra76cc3d018b54111" /><Relationship Type="http://schemas.openxmlformats.org/officeDocument/2006/relationships/image" Target="/ppt/media/image40.svg" Id="R07d46640e348427f" /><Relationship Type="http://schemas.openxmlformats.org/officeDocument/2006/relationships/image" Target="/ppt/media/image47.png" Id="Rb5cb2c7ba9c84fb9" /><Relationship Type="http://schemas.openxmlformats.org/officeDocument/2006/relationships/image" Target="/ppt/media/image41.svg" Id="R56393ad4899c4dbd" /><Relationship Type="http://schemas.openxmlformats.org/officeDocument/2006/relationships/notesSlide" Target="/ppt/notesSlides/notesSlide6.xml" Id="Rf00c337ffc51451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Fault recall</c:v>
          </c:tx>
          <c:spPr>
            <a:solidFill xmlns:a="http://schemas.openxmlformats.org/drawingml/2006/main">
              <a:srgbClr val="2868B2"/>
            </a:solidFill>
          </c:spPr>
          <c:cat>
            <c:strRef>
              <c:f>'Chart Data'!$A$2:$A$3</c:f>
              <c:strCache>
                <c:ptCount val="2"/>
                <c:pt idx="0">
                  <c:v>Baseline</c:v>
                </c:pt>
                <c:pt idx="1">
                  <c:v>SkyGuard</c:v>
                </c:pt>
              </c:strCache>
            </c:strRef>
          </c:cat>
          <c:val>
            <c:numRef>
              <c:f>'Chart Data'!$B$2:$B$3</c:f>
              <c:numCache>
                <c:formatCode>General</c:formatCode>
                <c:ptCount val="2"/>
                <c:pt idx="0">
                  <c:v>77.47</c:v>
                </c:pt>
                <c:pt idx="1">
                  <c:v>85.76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9AE2026-5060-4C3A-8F05-CFDA061ADDF1}"/>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7F032F6C-9905-49D7-8AB0-CEC705608018}"/>
              </a:ext>
            </a:extLst>
          </p:cNvPr>
          <p:cNvSpPr>
            <a:spLocks xmlns:a="http://schemas.openxmlformats.org/drawingml/2006/main" noGrp="1"/>
          </p:cNvSpPr>
          <p:nvPr/>
        </p:nvSpPr>
        <p:spPr>
          <a:xfrm xmlns:a="http://schemas.openxmlformats.org/drawingml/2006/main">
            <a:off x="2381250" y="209550"/>
            <a:ext cx="6953250" cy="495300"/>
          </a:xfrm>
          <a:prstGeom xmlns:a="http://schemas.openxmlformats.org/drawingml/2006/main" prst="roundRect">
            <a:avLst>
              <a:gd name="adj" fmla="val 2307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SKYGUARD</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9a0b452ee374533"/>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5D572E9-FFE3-4F71-A9D1-FBDBB853D4AC}"/>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822D1385-441B-4B1A-A9CB-748EAA34B198}"/>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oundRect">
            <a:avLst>
              <a:gd name="adj" fmla="val 31579"/>
            </a:avLst>
          </a:prstGeom>
          <a:solidFill xmlns:a="http://schemas.openxmlformats.org/drawingml/2006/main">
            <a:srgbClr val="2868B2"/>
          </a:solidFill>
          <a:ln xmlns:a="http://schemas.openxmlformats.org/drawingml/2006/main" w="15240">
            <a:noFill/>
          </a:ln>
        </p:spPr>
      </p:sp>
      <p:sp>
        <p:nvSpPr>
          <p:cNvPr id="6" name="">
            <a:extLst xmlns:a="http://schemas.openxmlformats.org/drawingml/2006/main">
              <a:ext uri="{FF2B5EF4-FFF2-40B4-BE49-F238E27FC236}">
                <a16:creationId xmlns:a16="http://schemas.microsoft.com/office/drawing/2014/main" id="{D0F9A4E2-1E21-4DC6-BDF8-624F865132BE}"/>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7" name="">
            <a:extLst xmlns:a="http://schemas.openxmlformats.org/drawingml/2006/main">
              <a:ext uri="{FF2B5EF4-FFF2-40B4-BE49-F238E27FC236}">
                <a16:creationId xmlns:a16="http://schemas.microsoft.com/office/drawing/2014/main" id="{3E3D0C24-2C84-4E72-A478-93AF2DEAB673}"/>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043928D4-575C-455B-943C-258400CE1AE3}"/>
              </a:ext>
            </a:extLst>
          </p:cNvPr>
          <p:cNvSpPr>
            <a:spLocks xmlns:a="http://schemas.openxmlformats.org/drawingml/2006/main" noGrp="1"/>
          </p:cNvSpPr>
          <p:nvPr/>
        </p:nvSpPr>
        <p:spPr>
          <a:xfrm xmlns:a="http://schemas.openxmlformats.org/drawingml/2006/main">
            <a:off x="523875" y="1495425"/>
            <a:ext cx="5810250" cy="1162050"/>
          </a:xfrm>
          <a:prstGeom xmlns:a="http://schemas.openxmlformats.org/drawingml/2006/main" prst="roundRect">
            <a:avLst>
              <a:gd name="adj" fmla="val 983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3450" b="1">
                <a:solidFill>
                  <a:srgbClr val="17324D"/>
                </a:solidFill>
                <a:latin typeface="Arial"/>
                <a:ea typeface="Arial"/>
                <a:cs typeface="Arial"/>
              </a:defRPr>
            </a:pPr>
            <a:r>
              <a:rPr sz="3450" b="1">
                <a:solidFill>
                  <a:srgbClr val="17324D"/>
                </a:solidFill>
                <a:latin typeface="Arial"/>
                <a:ea typeface="Arial"/>
                <a:cs typeface="Arial"/>
              </a:rPr>
              <a:t>Weather station data</a:t>
            </a:r>
          </a:p>
          <a:p xmlns:a="http://schemas.openxmlformats.org/drawingml/2006/main">
            <a:pPr algn="l">
              <a:defRPr sz="3450" b="1">
                <a:solidFill>
                  <a:srgbClr val="17324D"/>
                </a:solidFill>
                <a:latin typeface="Arial"/>
                <a:ea typeface="Arial"/>
                <a:cs typeface="Arial"/>
              </a:defRPr>
            </a:pPr>
            <a:r>
              <a:rPr sz="3450" b="1">
                <a:solidFill>
                  <a:srgbClr val="17324D"/>
                </a:solidFill>
                <a:latin typeface="Arial"/>
                <a:ea typeface="Arial"/>
                <a:cs typeface="Arial"/>
              </a:rPr>
              <a:t>with an explanation</a:t>
            </a:r>
          </a:p>
        </p:txBody>
      </p:sp>
      <p:sp>
        <p:nvSpPr>
          <p:cNvPr id="9" name="">
            <a:extLst xmlns:a="http://schemas.openxmlformats.org/drawingml/2006/main">
              <a:ext uri="{FF2B5EF4-FFF2-40B4-BE49-F238E27FC236}">
                <a16:creationId xmlns:a16="http://schemas.microsoft.com/office/drawing/2014/main" id="{16CF8F2C-3219-4DEB-9356-3539FFDD13AD}"/>
              </a:ext>
            </a:extLst>
          </p:cNvPr>
          <p:cNvSpPr>
            <a:spLocks xmlns:a="http://schemas.openxmlformats.org/drawingml/2006/main" noGrp="1"/>
          </p:cNvSpPr>
          <p:nvPr/>
        </p:nvSpPr>
        <p:spPr>
          <a:xfrm xmlns:a="http://schemas.openxmlformats.org/drawingml/2006/main">
            <a:off x="542925" y="2886075"/>
            <a:ext cx="5619750" cy="762000"/>
          </a:xfrm>
          <a:prstGeom xmlns:a="http://schemas.openxmlformats.org/drawingml/2006/main" prst="roundRect">
            <a:avLst>
              <a:gd name="adj" fmla="val 1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2667B"/>
                </a:solidFill>
                <a:latin typeface="Arial"/>
                <a:ea typeface="Arial"/>
                <a:cs typeface="Arial"/>
              </a:defRPr>
            </a:pPr>
            <a:r>
              <a:rPr sz="1950" b="0">
                <a:solidFill>
                  <a:srgbClr val="52667B"/>
                </a:solidFill>
                <a:latin typeface="Arial"/>
                <a:ea typeface="Arial"/>
                <a:cs typeface="Arial"/>
              </a:rPr>
              <a:t>AI/ML-Based Intelligent Anomaly Detection</a:t>
            </a:r>
          </a:p>
          <a:p xmlns:a="http://schemas.openxmlformats.org/drawingml/2006/main">
            <a:pPr algn="l">
              <a:defRPr sz="1950" b="0">
                <a:solidFill>
                  <a:srgbClr val="52667B"/>
                </a:solidFill>
                <a:latin typeface="Arial"/>
                <a:ea typeface="Arial"/>
                <a:cs typeface="Arial"/>
              </a:defRPr>
            </a:pPr>
            <a:r>
              <a:rPr sz="1950" b="0">
                <a:solidFill>
                  <a:srgbClr val="52667B"/>
                </a:solidFill>
                <a:latin typeface="Arial"/>
                <a:ea typeface="Arial"/>
                <a:cs typeface="Arial"/>
              </a:rPr>
              <a:t>for Automatic Weather Stations (AWS)</a:t>
            </a:r>
          </a:p>
        </p:txBody>
      </p:sp>
      <p:sp>
        <p:nvSpPr>
          <p:cNvPr id="10" name="">
            <a:extLst xmlns:a="http://schemas.openxmlformats.org/drawingml/2006/main">
              <a:ext uri="{FF2B5EF4-FFF2-40B4-BE49-F238E27FC236}">
                <a16:creationId xmlns:a16="http://schemas.microsoft.com/office/drawing/2014/main" id="{6E266F51-25A5-4F4E-BA74-581462CE3368}"/>
              </a:ext>
            </a:extLst>
          </p:cNvPr>
          <p:cNvSpPr>
            <a:spLocks xmlns:a="http://schemas.openxmlformats.org/drawingml/2006/main" noGrp="1"/>
          </p:cNvSpPr>
          <p:nvPr/>
        </p:nvSpPr>
        <p:spPr>
          <a:xfrm xmlns:a="http://schemas.openxmlformats.org/drawingml/2006/main">
            <a:off x="542925" y="4076700"/>
            <a:ext cx="5334000" cy="333375"/>
          </a:xfrm>
          <a:prstGeom xmlns:a="http://schemas.openxmlformats.org/drawingml/2006/main" prst="roundRect">
            <a:avLst>
              <a:gd name="adj" fmla="val 3428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2868B2"/>
                </a:solidFill>
                <a:latin typeface="Arial"/>
                <a:ea typeface="Arial"/>
                <a:cs typeface="Arial"/>
              </a:defRPr>
            </a:pPr>
            <a:r>
              <a:rPr sz="1725" b="1">
                <a:solidFill>
                  <a:srgbClr val="2868B2"/>
                </a:solidFill>
                <a:latin typeface="Arial"/>
                <a:ea typeface="Arial"/>
                <a:cs typeface="Arial"/>
              </a:rPr>
              <a:t>Problem statement 26073</a:t>
            </a:r>
          </a:p>
        </p:txBody>
      </p:sp>
      <p:sp>
        <p:nvSpPr>
          <p:cNvPr id="11" name="">
            <a:extLst xmlns:a="http://schemas.openxmlformats.org/drawingml/2006/main">
              <a:ext uri="{FF2B5EF4-FFF2-40B4-BE49-F238E27FC236}">
                <a16:creationId xmlns:a16="http://schemas.microsoft.com/office/drawing/2014/main" id="{493DB0CA-9484-46ED-B08B-CD9BE6073799}"/>
              </a:ext>
            </a:extLst>
          </p:cNvPr>
          <p:cNvSpPr>
            <a:spLocks xmlns:a="http://schemas.openxmlformats.org/drawingml/2006/main" noGrp="1"/>
          </p:cNvSpPr>
          <p:nvPr/>
        </p:nvSpPr>
        <p:spPr>
          <a:xfrm xmlns:a="http://schemas.openxmlformats.org/drawingml/2006/main">
            <a:off x="542925" y="4552950"/>
            <a:ext cx="5524500" cy="685800"/>
          </a:xfrm>
          <a:prstGeom xmlns:a="http://schemas.openxmlformats.org/drawingml/2006/main" prst="roundRect">
            <a:avLst>
              <a:gd name="adj" fmla="val 1666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Disaster Management  •  Software</a:t>
            </a:r>
          </a:p>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Team OFF BY ONE  •  ID 132195</a:t>
            </a:r>
          </a:p>
        </p:txBody>
      </p:sp>
      <p:sp>
        <p:nvSpPr>
          <p:cNvPr id="12" name="">
            <a:extLst xmlns:a="http://schemas.openxmlformats.org/drawingml/2006/main">
              <a:ext uri="{FF2B5EF4-FFF2-40B4-BE49-F238E27FC236}">
                <a16:creationId xmlns:a16="http://schemas.microsoft.com/office/drawing/2014/main" id="{D0760BBF-784E-4A56-BDFD-F153287EFF13}"/>
              </a:ext>
            </a:extLst>
          </p:cNvPr>
          <p:cNvSpPr>
            <a:spLocks xmlns:a="http://schemas.openxmlformats.org/drawingml/2006/main" noGrp="1"/>
          </p:cNvSpPr>
          <p:nvPr/>
        </p:nvSpPr>
        <p:spPr>
          <a:xfrm xmlns:a="http://schemas.openxmlformats.org/drawingml/2006/main">
            <a:off x="542925" y="5600700"/>
            <a:ext cx="5524500" cy="333375"/>
          </a:xfrm>
          <a:prstGeom xmlns:a="http://schemas.openxmlformats.org/drawingml/2006/main" prst="roundRect">
            <a:avLst>
              <a:gd name="adj" fmla="val 3428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168B83"/>
                </a:solidFill>
                <a:latin typeface="Arial"/>
                <a:ea typeface="Arial"/>
                <a:cs typeface="Arial"/>
              </a:defRPr>
            </a:pPr>
            <a:r>
              <a:rPr sz="1500" b="0">
                <a:solidFill>
                  <a:srgbClr val="168B83"/>
                </a:solidFill>
                <a:latin typeface="Arial"/>
                <a:ea typeface="Arial"/>
                <a:cs typeface="Arial"/>
              </a:rPr>
              <a:t>Working prototype with 500 simulated stations</a:t>
            </a:r>
          </a:p>
        </p:txBody>
      </p:sp>
      <p:sp>
        <p:nvSpPr>
          <p:cNvPr id="13" name="">
            <a:extLst xmlns:a="http://schemas.openxmlformats.org/drawingml/2006/main">
              <a:ext uri="{FF2B5EF4-FFF2-40B4-BE49-F238E27FC236}">
                <a16:creationId xmlns:a16="http://schemas.microsoft.com/office/drawing/2014/main" id="{8A5927DE-0385-4847-A98B-781C9FF75D6E}"/>
              </a:ext>
            </a:extLst>
          </p:cNvPr>
          <p:cNvSpPr>
            <a:spLocks xmlns:a="http://schemas.openxmlformats.org/drawingml/2006/main" noGrp="1"/>
          </p:cNvSpPr>
          <p:nvPr/>
        </p:nvSpPr>
        <p:spPr>
          <a:xfrm xmlns:a="http://schemas.openxmlformats.org/drawingml/2006/main">
            <a:off x="7029450" y="1533525"/>
            <a:ext cx="4143375" cy="1190625"/>
          </a:xfrm>
          <a:prstGeom xmlns:a="http://schemas.openxmlformats.org/drawingml/2006/main" prst="roundRect">
            <a:avLst>
              <a:gd name="adj" fmla="val 9600"/>
            </a:avLst>
          </a:prstGeom>
          <a:solidFill xmlns:a="http://schemas.openxmlformats.org/drawingml/2006/main">
            <a:srgbClr val="EEF5FD"/>
          </a:solidFill>
          <a:ln xmlns:a="http://schemas.openxmlformats.org/drawingml/2006/main" w="15240">
            <a:solidFill>
              <a:srgbClr val="2868B2"/>
            </a:solidFill>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b8e08611ef84766">
            <a:extLst>
              <a:ext uri="{96DAC541-7B7A-43D3-8B79-37D633B846F1}">
                <asvg:svgBlip xmlns:asvg="http://schemas.microsoft.com/office/drawing/2016/SVG/main" r:embed="R5e45b2ba518749ac"/>
              </a:ext>
            </a:extLst>
          </a:blip>
          <a:stretch xmlns:a="http://schemas.openxmlformats.org/drawingml/2006/main"/>
        </p:blipFill>
        <p:spPr>
          <a:xfrm xmlns:a="http://schemas.openxmlformats.org/drawingml/2006/main">
            <a:off x="7200900" y="1704975"/>
            <a:ext cx="285750" cy="285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A7242A9-D1E5-41FF-8800-E20425562EBD}"/>
              </a:ext>
            </a:extLst>
          </p:cNvPr>
          <p:cNvSpPr>
            <a:spLocks xmlns:a="http://schemas.openxmlformats.org/drawingml/2006/main" noGrp="1"/>
          </p:cNvSpPr>
          <p:nvPr/>
        </p:nvSpPr>
        <p:spPr>
          <a:xfrm xmlns:a="http://schemas.openxmlformats.org/drawingml/2006/main">
            <a:off x="7600950" y="1714500"/>
            <a:ext cx="34004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AWS observations</a:t>
            </a:r>
          </a:p>
        </p:txBody>
      </p:sp>
      <p:sp>
        <p:nvSpPr>
          <p:cNvPr id="16" name="">
            <a:extLst xmlns:a="http://schemas.openxmlformats.org/drawingml/2006/main">
              <a:ext uri="{FF2B5EF4-FFF2-40B4-BE49-F238E27FC236}">
                <a16:creationId xmlns:a16="http://schemas.microsoft.com/office/drawing/2014/main" id="{B1040C9C-850B-47A0-A490-ED6C2CBAB42C}"/>
              </a:ext>
            </a:extLst>
          </p:cNvPr>
          <p:cNvSpPr>
            <a:spLocks xmlns:a="http://schemas.openxmlformats.org/drawingml/2006/main" noGrp="1"/>
          </p:cNvSpPr>
          <p:nvPr/>
        </p:nvSpPr>
        <p:spPr>
          <a:xfrm xmlns:a="http://schemas.openxmlformats.org/drawingml/2006/main">
            <a:off x="7219950" y="2124075"/>
            <a:ext cx="3762375" cy="561975"/>
          </a:xfrm>
          <a:prstGeom xmlns:a="http://schemas.openxmlformats.org/drawingml/2006/main" prst="roundRect">
            <a:avLst>
              <a:gd name="adj" fmla="val 20339"/>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Temperature  •  Pressure  •  Humidity</a:t>
            </a:r>
          </a:p>
        </p:txBody>
      </p:sp>
      <p:sp>
        <p:nvSpPr>
          <p:cNvPr id="17" name="">
            <a:extLst xmlns:a="http://schemas.openxmlformats.org/drawingml/2006/main">
              <a:ext uri="{FF2B5EF4-FFF2-40B4-BE49-F238E27FC236}">
                <a16:creationId xmlns:a16="http://schemas.microsoft.com/office/drawing/2014/main" id="{52EA5415-C0C4-4873-A3FB-6C2E064711D4}"/>
              </a:ext>
            </a:extLst>
          </p:cNvPr>
          <p:cNvSpPr>
            <a:spLocks xmlns:a="http://schemas.openxmlformats.org/drawingml/2006/main" noGrp="1"/>
          </p:cNvSpPr>
          <p:nvPr/>
        </p:nvSpPr>
        <p:spPr>
          <a:xfrm xmlns:a="http://schemas.openxmlformats.org/drawingml/2006/main">
            <a:off x="7029450" y="3257550"/>
            <a:ext cx="4143375" cy="1219200"/>
          </a:xfrm>
          <a:prstGeom xmlns:a="http://schemas.openxmlformats.org/drawingml/2006/main" prst="roundRect">
            <a:avLst>
              <a:gd name="adj" fmla="val 9375"/>
            </a:avLst>
          </a:prstGeom>
          <a:solidFill xmlns:a="http://schemas.openxmlformats.org/drawingml/2006/main">
            <a:srgbClr val="EDF8F5"/>
          </a:solidFill>
          <a:ln xmlns:a="http://schemas.openxmlformats.org/drawingml/2006/main" w="15240">
            <a:solidFill>
              <a:srgbClr val="168B83"/>
            </a:solidFill>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c26e5593c93e455f">
            <a:extLst>
              <a:ext uri="{96DAC541-7B7A-43D3-8B79-37D633B846F1}">
                <asvg:svgBlip xmlns:asvg="http://schemas.microsoft.com/office/drawing/2016/SVG/main" r:embed="R1d17d8f996db4e9a"/>
              </a:ext>
            </a:extLst>
          </a:blip>
          <a:stretch xmlns:a="http://schemas.openxmlformats.org/drawingml/2006/main"/>
        </p:blipFill>
        <p:spPr>
          <a:xfrm xmlns:a="http://schemas.openxmlformats.org/drawingml/2006/main">
            <a:off x="7200900" y="3429000"/>
            <a:ext cx="285750" cy="2857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7B9EF41E-C1CF-48CB-A5DF-2CD531DF7D33}"/>
              </a:ext>
            </a:extLst>
          </p:cNvPr>
          <p:cNvSpPr>
            <a:spLocks xmlns:a="http://schemas.openxmlformats.org/drawingml/2006/main" noGrp="1"/>
          </p:cNvSpPr>
          <p:nvPr/>
        </p:nvSpPr>
        <p:spPr>
          <a:xfrm xmlns:a="http://schemas.openxmlformats.org/drawingml/2006/main">
            <a:off x="7600950" y="3438525"/>
            <a:ext cx="34004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SkyGuard checks</a:t>
            </a:r>
          </a:p>
        </p:txBody>
      </p:sp>
      <p:sp>
        <p:nvSpPr>
          <p:cNvPr id="20" name="">
            <a:extLst xmlns:a="http://schemas.openxmlformats.org/drawingml/2006/main">
              <a:ext uri="{FF2B5EF4-FFF2-40B4-BE49-F238E27FC236}">
                <a16:creationId xmlns:a16="http://schemas.microsoft.com/office/drawing/2014/main" id="{CB4F7F03-C3E5-4F35-ADF0-E00C1E31F6A1}"/>
              </a:ext>
            </a:extLst>
          </p:cNvPr>
          <p:cNvSpPr>
            <a:spLocks xmlns:a="http://schemas.openxmlformats.org/drawingml/2006/main" noGrp="1"/>
          </p:cNvSpPr>
          <p:nvPr/>
        </p:nvSpPr>
        <p:spPr>
          <a:xfrm xmlns:a="http://schemas.openxmlformats.org/drawingml/2006/main">
            <a:off x="7219950" y="3848100"/>
            <a:ext cx="3762375" cy="590550"/>
          </a:xfrm>
          <a:prstGeom xmlns:a="http://schemas.openxmlformats.org/drawingml/2006/main" prst="roundRect">
            <a:avLst>
              <a:gd name="adj" fmla="val 19355"/>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History, ML, physics and nearby stations</a:t>
            </a:r>
          </a:p>
        </p:txBody>
      </p:sp>
      <p:cxnSp>
        <p:nvCxnSpPr>
          <p:cNvPr id="47" name=""/>
          <p:cNvCxnSpPr>
            <a:stCxn xmlns:a="http://schemas.openxmlformats.org/drawingml/2006/main" id="13" idx="2"/>
            <a:endCxn xmlns:a="http://schemas.openxmlformats.org/drawingml/2006/main" id="17" idx="0"/>
          </p:cNvCxnSpPr>
          <p:nvPr/>
        </p:nvCxnSpPr>
        <p:spPr>
          <a:xfrm xmlns:a="http://schemas.openxmlformats.org/drawingml/2006/main">
            <a:off x="9101138" y="2724150"/>
            <a:ext cx="0" cy="533400"/>
          </a:xfrm>
          <a:prstGeom xmlns:a="http://schemas.openxmlformats.org/drawingml/2006/main" prst="straightConnector1">
            <a:avLst/>
          </a:prstGeom>
          <a:ln xmlns:a="http://schemas.openxmlformats.org/drawingml/2006/main" w="20955">
            <a:solidFill>
              <a:srgbClr val="2868B2"/>
            </a:solidFill>
            <a:tailEnd type="triangle" w="sm" len="sm"/>
          </a:ln>
        </p:spPr>
      </p:cxnSp>
      <p:sp>
        <p:nvSpPr>
          <p:cNvPr id="22" name="">
            <a:extLst xmlns:a="http://schemas.openxmlformats.org/drawingml/2006/main">
              <a:ext uri="{FF2B5EF4-FFF2-40B4-BE49-F238E27FC236}">
                <a16:creationId xmlns:a16="http://schemas.microsoft.com/office/drawing/2014/main" id="{0E337638-8C96-4C25-972C-A34A24E373CF}"/>
              </a:ext>
            </a:extLst>
          </p:cNvPr>
          <p:cNvSpPr>
            <a:spLocks xmlns:a="http://schemas.openxmlformats.org/drawingml/2006/main" noGrp="1"/>
          </p:cNvSpPr>
          <p:nvPr/>
        </p:nvSpPr>
        <p:spPr>
          <a:xfrm xmlns:a="http://schemas.openxmlformats.org/drawingml/2006/main">
            <a:off x="7029450" y="5010150"/>
            <a:ext cx="4143375" cy="1057275"/>
          </a:xfrm>
          <a:prstGeom xmlns:a="http://schemas.openxmlformats.org/drawingml/2006/main" prst="roundRect">
            <a:avLst>
              <a:gd name="adj" fmla="val 10811"/>
            </a:avLst>
          </a:prstGeom>
          <a:solidFill xmlns:a="http://schemas.openxmlformats.org/drawingml/2006/main">
            <a:srgbClr val="FFF7E6"/>
          </a:solidFill>
          <a:ln xmlns:a="http://schemas.openxmlformats.org/drawingml/2006/main" w="15240">
            <a:solidFill>
              <a:srgbClr val="D69A24"/>
            </a:solidFill>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35fa10d20a854b70">
            <a:extLst>
              <a:ext uri="{96DAC541-7B7A-43D3-8B79-37D633B846F1}">
                <asvg:svgBlip xmlns:asvg="http://schemas.microsoft.com/office/drawing/2016/SVG/main" r:embed="R5d16d21b8be34bf2"/>
              </a:ext>
            </a:extLst>
          </a:blip>
          <a:stretch xmlns:a="http://schemas.openxmlformats.org/drawingml/2006/main"/>
        </p:blipFill>
        <p:spPr>
          <a:xfrm xmlns:a="http://schemas.openxmlformats.org/drawingml/2006/main">
            <a:off x="7200900" y="5181600"/>
            <a:ext cx="285750" cy="28575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829C8512-22E9-4443-B0BD-6758B2FD773A}"/>
              </a:ext>
            </a:extLst>
          </p:cNvPr>
          <p:cNvSpPr>
            <a:spLocks xmlns:a="http://schemas.openxmlformats.org/drawingml/2006/main" noGrp="1"/>
          </p:cNvSpPr>
          <p:nvPr/>
        </p:nvSpPr>
        <p:spPr>
          <a:xfrm xmlns:a="http://schemas.openxmlformats.org/drawingml/2006/main">
            <a:off x="7600950" y="5191125"/>
            <a:ext cx="34004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Evidence for the operator</a:t>
            </a:r>
          </a:p>
        </p:txBody>
      </p:sp>
      <p:sp>
        <p:nvSpPr>
          <p:cNvPr id="25" name="">
            <a:extLst xmlns:a="http://schemas.openxmlformats.org/drawingml/2006/main">
              <a:ext uri="{FF2B5EF4-FFF2-40B4-BE49-F238E27FC236}">
                <a16:creationId xmlns:a16="http://schemas.microsoft.com/office/drawing/2014/main" id="{338C897F-8447-4B32-84B8-45E7F61109C5}"/>
              </a:ext>
            </a:extLst>
          </p:cNvPr>
          <p:cNvSpPr>
            <a:spLocks xmlns:a="http://schemas.openxmlformats.org/drawingml/2006/main" noGrp="1"/>
          </p:cNvSpPr>
          <p:nvPr/>
        </p:nvSpPr>
        <p:spPr>
          <a:xfrm xmlns:a="http://schemas.openxmlformats.org/drawingml/2006/main">
            <a:off x="7219950" y="5600700"/>
            <a:ext cx="3762375" cy="428625"/>
          </a:xfrm>
          <a:prstGeom xmlns:a="http://schemas.openxmlformats.org/drawingml/2006/main" prst="roundRect">
            <a:avLst>
              <a:gd name="adj" fmla="val 2666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Likely cause and a clear review action</a:t>
            </a:r>
          </a:p>
        </p:txBody>
      </p:sp>
      <p:cxnSp>
        <p:nvCxnSpPr>
          <p:cNvPr id="52" name=""/>
          <p:cNvCxnSpPr>
            <a:stCxn xmlns:a="http://schemas.openxmlformats.org/drawingml/2006/main" id="17" idx="2"/>
            <a:endCxn xmlns:a="http://schemas.openxmlformats.org/drawingml/2006/main" id="22" idx="0"/>
          </p:cNvCxnSpPr>
          <p:nvPr/>
        </p:nvCxnSpPr>
        <p:spPr>
          <a:xfrm xmlns:a="http://schemas.openxmlformats.org/drawingml/2006/main">
            <a:off x="9101138" y="4476750"/>
            <a:ext cx="0" cy="533400"/>
          </a:xfrm>
          <a:prstGeom xmlns:a="http://schemas.openxmlformats.org/drawingml/2006/main" prst="straightConnector1">
            <a:avLst/>
          </a:prstGeom>
          <a:ln xmlns:a="http://schemas.openxmlformats.org/drawingml/2006/main" w="20955">
            <a:solidFill>
              <a:srgbClr val="168B83"/>
            </a:solidFill>
            <a:tailEnd type="triangle" w="sm" len="sm"/>
          </a:ln>
        </p:spPr>
      </p:cxnSp>
    </p:spTree>
    <p:extLst>
      <p:ext uri="{BB962C8B-B14F-4D97-AF65-F5344CB8AC3E}">
        <p14:creationId xmlns:p14="http://schemas.microsoft.com/office/powerpoint/2010/main" val="1871025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EE2CAFD-BD4D-4613-B666-7EF42E57B06F}"/>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3B765E30-2811-4400-9342-463597B350DF}"/>
              </a:ext>
            </a:extLst>
          </p:cNvPr>
          <p:cNvSpPr>
            <a:spLocks xmlns:a="http://schemas.openxmlformats.org/drawingml/2006/main" noGrp="1"/>
          </p:cNvSpPr>
          <p:nvPr/>
        </p:nvSpPr>
        <p:spPr>
          <a:xfrm xmlns:a="http://schemas.openxmlformats.org/drawingml/2006/main">
            <a:off x="2381250" y="209550"/>
            <a:ext cx="6953250" cy="495300"/>
          </a:xfrm>
          <a:prstGeom xmlns:a="http://schemas.openxmlformats.org/drawingml/2006/main" prst="roundRect">
            <a:avLst>
              <a:gd name="adj" fmla="val 2307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PROPOSED SOLUTION</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7b408554684040d0"/>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51EA229-83AC-461E-B45E-1B509D5A5A42}"/>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4BD3D36E-D364-43B1-BFBE-8228E337DFF1}"/>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oundRect">
            <a:avLst>
              <a:gd name="adj" fmla="val 28571"/>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A sudden change may be weather, a sensor fault or a data-delivery problem.</a:t>
            </a:r>
          </a:p>
        </p:txBody>
      </p:sp>
      <p:sp>
        <p:nvSpPr>
          <p:cNvPr id="6" name="">
            <a:extLst xmlns:a="http://schemas.openxmlformats.org/drawingml/2006/main">
              <a:ext uri="{FF2B5EF4-FFF2-40B4-BE49-F238E27FC236}">
                <a16:creationId xmlns:a16="http://schemas.microsoft.com/office/drawing/2014/main" id="{1783CCE2-02CA-4B51-900F-CD2F6806240D}"/>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oundRect">
            <a:avLst>
              <a:gd name="adj" fmla="val 31579"/>
            </a:avLst>
          </a:prstGeom>
          <a:solidFill xmlns:a="http://schemas.openxmlformats.org/drawingml/2006/main">
            <a:srgbClr val="2868B2"/>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62E44EA2-5541-47B6-8E03-8446EF8B68C8}"/>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EB1D68D3-600D-4400-ABD7-35CB2984398A}"/>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C13FF03-F6A4-4E48-9A41-270FC7DC8A84}"/>
              </a:ext>
            </a:extLst>
          </p:cNvPr>
          <p:cNvSpPr>
            <a:spLocks xmlns:a="http://schemas.openxmlformats.org/drawingml/2006/main" noGrp="1"/>
          </p:cNvSpPr>
          <p:nvPr/>
        </p:nvSpPr>
        <p:spPr>
          <a:xfrm xmlns:a="http://schemas.openxmlformats.org/drawingml/2006/main">
            <a:off x="419100" y="2619375"/>
            <a:ext cx="2171700" cy="1619250"/>
          </a:xfrm>
          <a:prstGeom xmlns:a="http://schemas.openxmlformats.org/drawingml/2006/main" prst="roundRect">
            <a:avLst>
              <a:gd name="adj" fmla="val 7059"/>
            </a:avLst>
          </a:prstGeom>
          <a:solidFill xmlns:a="http://schemas.openxmlformats.org/drawingml/2006/main">
            <a:srgbClr val="EEF5FD"/>
          </a:solidFill>
          <a:ln xmlns:a="http://schemas.openxmlformats.org/drawingml/2006/main" w="15240">
            <a:solidFill>
              <a:srgbClr val="2868B2"/>
            </a:solidFill>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3453fe304ab34539">
            <a:extLst>
              <a:ext uri="{96DAC541-7B7A-43D3-8B79-37D633B846F1}">
                <asvg:svgBlip xmlns:asvg="http://schemas.microsoft.com/office/drawing/2016/SVG/main" r:embed="Rc29aa195adf643b8"/>
              </a:ext>
            </a:extLst>
          </a:blip>
          <a:stretch xmlns:a="http://schemas.openxmlformats.org/drawingml/2006/main"/>
        </p:blipFill>
        <p:spPr>
          <a:xfrm xmlns:a="http://schemas.openxmlformats.org/drawingml/2006/main">
            <a:off x="590550" y="2790825"/>
            <a:ext cx="285750" cy="285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4B5E315-377B-423B-9329-3BC05C197A29}"/>
              </a:ext>
            </a:extLst>
          </p:cNvPr>
          <p:cNvSpPr>
            <a:spLocks xmlns:a="http://schemas.openxmlformats.org/drawingml/2006/main" noGrp="1"/>
          </p:cNvSpPr>
          <p:nvPr/>
        </p:nvSpPr>
        <p:spPr>
          <a:xfrm xmlns:a="http://schemas.openxmlformats.org/drawingml/2006/main">
            <a:off x="990600" y="2800350"/>
            <a:ext cx="142875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Reading</a:t>
            </a:r>
          </a:p>
        </p:txBody>
      </p:sp>
      <p:sp>
        <p:nvSpPr>
          <p:cNvPr id="12" name="">
            <a:extLst xmlns:a="http://schemas.openxmlformats.org/drawingml/2006/main">
              <a:ext uri="{FF2B5EF4-FFF2-40B4-BE49-F238E27FC236}">
                <a16:creationId xmlns:a16="http://schemas.microsoft.com/office/drawing/2014/main" id="{E67A1F21-A229-4B53-BD0E-E805592B2151}"/>
              </a:ext>
            </a:extLst>
          </p:cNvPr>
          <p:cNvSpPr>
            <a:spLocks xmlns:a="http://schemas.openxmlformats.org/drawingml/2006/main" noGrp="1"/>
          </p:cNvSpPr>
          <p:nvPr/>
        </p:nvSpPr>
        <p:spPr>
          <a:xfrm xmlns:a="http://schemas.openxmlformats.org/drawingml/2006/main">
            <a:off x="609600" y="3209925"/>
            <a:ext cx="1790700" cy="990600"/>
          </a:xfrm>
          <a:prstGeom xmlns:a="http://schemas.openxmlformats.org/drawingml/2006/main" prst="roundRect">
            <a:avLst>
              <a:gd name="adj" fmla="val 11538"/>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 sudden change</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needs a cause.</a:t>
            </a:r>
          </a:p>
        </p:txBody>
      </p:sp>
      <p:sp>
        <p:nvSpPr>
          <p:cNvPr id="13" name="">
            <a:extLst xmlns:a="http://schemas.openxmlformats.org/drawingml/2006/main">
              <a:ext uri="{FF2B5EF4-FFF2-40B4-BE49-F238E27FC236}">
                <a16:creationId xmlns:a16="http://schemas.microsoft.com/office/drawing/2014/main" id="{705F1415-59A6-488C-BD10-88A23E099309}"/>
              </a:ext>
            </a:extLst>
          </p:cNvPr>
          <p:cNvSpPr>
            <a:spLocks xmlns:a="http://schemas.openxmlformats.org/drawingml/2006/main" noGrp="1"/>
          </p:cNvSpPr>
          <p:nvPr/>
        </p:nvSpPr>
        <p:spPr>
          <a:xfrm xmlns:a="http://schemas.openxmlformats.org/drawingml/2006/main">
            <a:off x="3114675" y="1781175"/>
            <a:ext cx="2381250" cy="1428750"/>
          </a:xfrm>
          <a:prstGeom xmlns:a="http://schemas.openxmlformats.org/drawingml/2006/main" prst="roundRect">
            <a:avLst>
              <a:gd name="adj" fmla="val 8000"/>
            </a:avLst>
          </a:prstGeom>
          <a:solidFill xmlns:a="http://schemas.openxmlformats.org/drawingml/2006/main">
            <a:srgbClr val="EEF5FD"/>
          </a:solidFill>
          <a:ln xmlns:a="http://schemas.openxmlformats.org/drawingml/2006/main" w="15240">
            <a:solidFill>
              <a:srgbClr val="2868B2"/>
            </a:solidFill>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da6dd03025854fa0">
            <a:extLst>
              <a:ext uri="{96DAC541-7B7A-43D3-8B79-37D633B846F1}">
                <asvg:svgBlip xmlns:asvg="http://schemas.microsoft.com/office/drawing/2016/SVG/main" r:embed="R855332eb2857454e"/>
              </a:ext>
            </a:extLst>
          </a:blip>
          <a:stretch xmlns:a="http://schemas.openxmlformats.org/drawingml/2006/main"/>
        </p:blipFill>
        <p:spPr>
          <a:xfrm xmlns:a="http://schemas.openxmlformats.org/drawingml/2006/main">
            <a:off x="3286125" y="1952625"/>
            <a:ext cx="285750" cy="285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C7C88234-6C17-4690-9605-5C5B583F4FA3}"/>
              </a:ext>
            </a:extLst>
          </p:cNvPr>
          <p:cNvSpPr>
            <a:spLocks xmlns:a="http://schemas.openxmlformats.org/drawingml/2006/main" noGrp="1"/>
          </p:cNvSpPr>
          <p:nvPr/>
        </p:nvSpPr>
        <p:spPr>
          <a:xfrm xmlns:a="http://schemas.openxmlformats.org/drawingml/2006/main">
            <a:off x="3686175" y="1962150"/>
            <a:ext cx="163830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Station history</a:t>
            </a:r>
          </a:p>
        </p:txBody>
      </p:sp>
      <p:sp>
        <p:nvSpPr>
          <p:cNvPr id="16" name="">
            <a:extLst xmlns:a="http://schemas.openxmlformats.org/drawingml/2006/main">
              <a:ext uri="{FF2B5EF4-FFF2-40B4-BE49-F238E27FC236}">
                <a16:creationId xmlns:a16="http://schemas.microsoft.com/office/drawing/2014/main" id="{441BFEC6-99C5-4A97-A404-6A0E67E7D13C}"/>
              </a:ext>
            </a:extLst>
          </p:cNvPr>
          <p:cNvSpPr>
            <a:spLocks xmlns:a="http://schemas.openxmlformats.org/drawingml/2006/main" noGrp="1"/>
          </p:cNvSpPr>
          <p:nvPr/>
        </p:nvSpPr>
        <p:spPr>
          <a:xfrm xmlns:a="http://schemas.openxmlformats.org/drawingml/2006/main">
            <a:off x="3305175" y="2371725"/>
            <a:ext cx="2000250" cy="800100"/>
          </a:xfrm>
          <a:prstGeom xmlns:a="http://schemas.openxmlformats.org/drawingml/2006/main" prst="roundRect">
            <a:avLst>
              <a:gd name="adj" fmla="val 1428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Check jumps, drift</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stuck values.</a:t>
            </a:r>
          </a:p>
        </p:txBody>
      </p:sp>
      <p:sp>
        <p:nvSpPr>
          <p:cNvPr id="17" name="">
            <a:extLst xmlns:a="http://schemas.openxmlformats.org/drawingml/2006/main">
              <a:ext uri="{FF2B5EF4-FFF2-40B4-BE49-F238E27FC236}">
                <a16:creationId xmlns:a16="http://schemas.microsoft.com/office/drawing/2014/main" id="{13D3F1B5-0C2E-4184-90E3-516AF026FE47}"/>
              </a:ext>
            </a:extLst>
          </p:cNvPr>
          <p:cNvSpPr>
            <a:spLocks xmlns:a="http://schemas.openxmlformats.org/drawingml/2006/main" noGrp="1"/>
          </p:cNvSpPr>
          <p:nvPr/>
        </p:nvSpPr>
        <p:spPr>
          <a:xfrm xmlns:a="http://schemas.openxmlformats.org/drawingml/2006/main">
            <a:off x="3114675" y="3752850"/>
            <a:ext cx="2381250" cy="1562100"/>
          </a:xfrm>
          <a:prstGeom xmlns:a="http://schemas.openxmlformats.org/drawingml/2006/main" prst="roundRect">
            <a:avLst>
              <a:gd name="adj" fmla="val 7317"/>
            </a:avLst>
          </a:prstGeom>
          <a:solidFill xmlns:a="http://schemas.openxmlformats.org/drawingml/2006/main">
            <a:srgbClr val="EDF8F5"/>
          </a:solidFill>
          <a:ln xmlns:a="http://schemas.openxmlformats.org/drawingml/2006/main" w="15240">
            <a:solidFill>
              <a:srgbClr val="168B83"/>
            </a:solidFill>
          </a:ln>
        </p:spPr>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55f6a146ecce4557">
            <a:extLst>
              <a:ext uri="{96DAC541-7B7A-43D3-8B79-37D633B846F1}">
                <asvg:svgBlip xmlns:asvg="http://schemas.microsoft.com/office/drawing/2016/SVG/main" r:embed="R83bd3e57f4e6473d"/>
              </a:ext>
            </a:extLst>
          </a:blip>
          <a:stretch xmlns:a="http://schemas.openxmlformats.org/drawingml/2006/main"/>
        </p:blipFill>
        <p:spPr>
          <a:xfrm xmlns:a="http://schemas.openxmlformats.org/drawingml/2006/main">
            <a:off x="3286125" y="3924300"/>
            <a:ext cx="285750" cy="2857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6D219AF3-A9DC-4C4D-91E0-1EE7C4436B16}"/>
              </a:ext>
            </a:extLst>
          </p:cNvPr>
          <p:cNvSpPr>
            <a:spLocks xmlns:a="http://schemas.openxmlformats.org/drawingml/2006/main" noGrp="1"/>
          </p:cNvSpPr>
          <p:nvPr/>
        </p:nvSpPr>
        <p:spPr>
          <a:xfrm xmlns:a="http://schemas.openxmlformats.org/drawingml/2006/main">
            <a:off x="3686175" y="3933825"/>
            <a:ext cx="163830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Virtual Buddy</a:t>
            </a:r>
          </a:p>
        </p:txBody>
      </p:sp>
      <p:sp>
        <p:nvSpPr>
          <p:cNvPr id="20" name="">
            <a:extLst xmlns:a="http://schemas.openxmlformats.org/drawingml/2006/main">
              <a:ext uri="{FF2B5EF4-FFF2-40B4-BE49-F238E27FC236}">
                <a16:creationId xmlns:a16="http://schemas.microsoft.com/office/drawing/2014/main" id="{E4E74312-ABF9-4CCD-9B5D-DD148771AC9A}"/>
              </a:ext>
            </a:extLst>
          </p:cNvPr>
          <p:cNvSpPr>
            <a:spLocks xmlns:a="http://schemas.openxmlformats.org/drawingml/2006/main" noGrp="1"/>
          </p:cNvSpPr>
          <p:nvPr/>
        </p:nvSpPr>
        <p:spPr>
          <a:xfrm xmlns:a="http://schemas.openxmlformats.org/drawingml/2006/main">
            <a:off x="3305175" y="4343400"/>
            <a:ext cx="2000250" cy="933450"/>
          </a:xfrm>
          <a:prstGeom xmlns:a="http://schemas.openxmlformats.org/drawingml/2006/main" prst="roundRect">
            <a:avLst>
              <a:gd name="adj" fmla="val 12245"/>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Check related readings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trusted neighbours.</a:t>
            </a:r>
          </a:p>
        </p:txBody>
      </p:sp>
      <p:sp>
        <p:nvSpPr>
          <p:cNvPr id="21" name="">
            <a:extLst xmlns:a="http://schemas.openxmlformats.org/drawingml/2006/main">
              <a:ext uri="{FF2B5EF4-FFF2-40B4-BE49-F238E27FC236}">
                <a16:creationId xmlns:a16="http://schemas.microsoft.com/office/drawing/2014/main" id="{E257E76F-1D58-4AFA-BB91-886E7784C58E}"/>
              </a:ext>
            </a:extLst>
          </p:cNvPr>
          <p:cNvSpPr>
            <a:spLocks xmlns:a="http://schemas.openxmlformats.org/drawingml/2006/main" noGrp="1"/>
          </p:cNvSpPr>
          <p:nvPr/>
        </p:nvSpPr>
        <p:spPr>
          <a:xfrm xmlns:a="http://schemas.openxmlformats.org/drawingml/2006/main">
            <a:off x="6057900" y="2657475"/>
            <a:ext cx="2324100" cy="1685925"/>
          </a:xfrm>
          <a:prstGeom xmlns:a="http://schemas.openxmlformats.org/drawingml/2006/main" prst="roundRect">
            <a:avLst>
              <a:gd name="adj" fmla="val 6780"/>
            </a:avLst>
          </a:prstGeom>
          <a:solidFill xmlns:a="http://schemas.openxmlformats.org/drawingml/2006/main">
            <a:srgbClr val="EDF8F5"/>
          </a:solidFill>
          <a:ln xmlns:a="http://schemas.openxmlformats.org/drawingml/2006/main" w="15240">
            <a:solidFill>
              <a:srgbClr val="168B83"/>
            </a:solidFill>
          </a:ln>
        </p:spPr>
      </p:sp>
      <p:pic>
        <p:nvPicPr>
          <p:cNvPr id="67" name=""/>
          <p:cNvPicPr>
            <a:picLocks xmlns:a="http://schemas.openxmlformats.org/drawingml/2006/main" noChangeAspect="1"/>
          </p:cNvPicPr>
          <p:nvPr/>
        </p:nvPicPr>
        <p:blipFill>
          <a:blip xmlns:r="http://schemas.openxmlformats.org/officeDocument/2006/relationships" xmlns:a="http://schemas.openxmlformats.org/drawingml/2006/main" r:embed="R17887d3bd1354239">
            <a:extLst>
              <a:ext uri="{96DAC541-7B7A-43D3-8B79-37D633B846F1}">
                <asvg:svgBlip xmlns:asvg="http://schemas.microsoft.com/office/drawing/2016/SVG/main" r:embed="R4852165124024cf4"/>
              </a:ext>
            </a:extLst>
          </a:blip>
          <a:stretch xmlns:a="http://schemas.openxmlformats.org/drawingml/2006/main"/>
        </p:blipFill>
        <p:spPr>
          <a:xfrm xmlns:a="http://schemas.openxmlformats.org/drawingml/2006/main">
            <a:off x="6229350" y="2828925"/>
            <a:ext cx="285750" cy="2857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1D4CC26A-C241-44A0-AD41-420DB7615462}"/>
              </a:ext>
            </a:extLst>
          </p:cNvPr>
          <p:cNvSpPr>
            <a:spLocks xmlns:a="http://schemas.openxmlformats.org/drawingml/2006/main" noGrp="1"/>
          </p:cNvSpPr>
          <p:nvPr/>
        </p:nvSpPr>
        <p:spPr>
          <a:xfrm xmlns:a="http://schemas.openxmlformats.org/drawingml/2006/main">
            <a:off x="6629400" y="2838450"/>
            <a:ext cx="158115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Combine clues</a:t>
            </a:r>
          </a:p>
        </p:txBody>
      </p:sp>
      <p:sp>
        <p:nvSpPr>
          <p:cNvPr id="24" name="">
            <a:extLst xmlns:a="http://schemas.openxmlformats.org/drawingml/2006/main">
              <a:ext uri="{FF2B5EF4-FFF2-40B4-BE49-F238E27FC236}">
                <a16:creationId xmlns:a16="http://schemas.microsoft.com/office/drawing/2014/main" id="{41904676-249E-42D3-9122-1D807A711FD8}"/>
              </a:ext>
            </a:extLst>
          </p:cNvPr>
          <p:cNvSpPr>
            <a:spLocks xmlns:a="http://schemas.openxmlformats.org/drawingml/2006/main" noGrp="1"/>
          </p:cNvSpPr>
          <p:nvPr/>
        </p:nvSpPr>
        <p:spPr>
          <a:xfrm xmlns:a="http://schemas.openxmlformats.org/drawingml/2006/main">
            <a:off x="6248400" y="3248025"/>
            <a:ext cx="1943100" cy="1057275"/>
          </a:xfrm>
          <a:prstGeom xmlns:a="http://schemas.openxmlformats.org/drawingml/2006/main" prst="roundRect">
            <a:avLst>
              <a:gd name="adj" fmla="val 10811"/>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Explain the likely cause</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missing evidence.</a:t>
            </a:r>
          </a:p>
        </p:txBody>
      </p:sp>
      <p:cxnSp>
        <p:nvCxnSpPr>
          <p:cNvPr id="70" name=""/>
          <p:cNvCxnSpPr>
            <a:stCxn xmlns:a="http://schemas.openxmlformats.org/drawingml/2006/main" id="9" idx="3"/>
            <a:endCxn xmlns:a="http://schemas.openxmlformats.org/drawingml/2006/main" id="13" idx="1"/>
          </p:cNvCxnSpPr>
          <p:nvPr/>
        </p:nvCxnSpPr>
        <p:spPr>
          <a:xfrm xmlns:a="http://schemas.openxmlformats.org/drawingml/2006/main" flipV="1">
            <a:off x="2590800" y="2495550"/>
            <a:ext cx="523875" cy="933450"/>
          </a:xfrm>
          <a:prstGeom xmlns:a="http://schemas.openxmlformats.org/drawingml/2006/main" prst="bentConnector3">
            <a:avLst>
              <a:gd name="adj1" fmla="val 50000"/>
            </a:avLst>
          </a:prstGeom>
          <a:ln xmlns:a="http://schemas.openxmlformats.org/drawingml/2006/main" w="20955">
            <a:solidFill>
              <a:srgbClr val="2868B2"/>
            </a:solidFill>
            <a:tailEnd type="triangle" w="sm" len="sm"/>
          </a:ln>
        </p:spPr>
      </p:cxnSp>
      <p:cxnSp>
        <p:nvCxnSpPr>
          <p:cNvPr id="71" name=""/>
          <p:cNvCxnSpPr>
            <a:stCxn xmlns:a="http://schemas.openxmlformats.org/drawingml/2006/main" id="9" idx="3"/>
            <a:endCxn xmlns:a="http://schemas.openxmlformats.org/drawingml/2006/main" id="17" idx="1"/>
          </p:cNvCxnSpPr>
          <p:nvPr/>
        </p:nvCxnSpPr>
        <p:spPr>
          <a:xfrm xmlns:a="http://schemas.openxmlformats.org/drawingml/2006/main">
            <a:off x="2590800" y="3429000"/>
            <a:ext cx="523875" cy="110490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72" name=""/>
          <p:cNvCxnSpPr>
            <a:stCxn xmlns:a="http://schemas.openxmlformats.org/drawingml/2006/main" id="13" idx="3"/>
            <a:endCxn xmlns:a="http://schemas.openxmlformats.org/drawingml/2006/main" id="21" idx="1"/>
          </p:cNvCxnSpPr>
          <p:nvPr/>
        </p:nvCxnSpPr>
        <p:spPr>
          <a:xfrm xmlns:a="http://schemas.openxmlformats.org/drawingml/2006/main">
            <a:off x="5495925" y="2495550"/>
            <a:ext cx="561975" cy="1004888"/>
          </a:xfrm>
          <a:prstGeom xmlns:a="http://schemas.openxmlformats.org/drawingml/2006/main" prst="bentConnector3">
            <a:avLst>
              <a:gd name="adj1" fmla="val 50000"/>
            </a:avLst>
          </a:prstGeom>
          <a:ln xmlns:a="http://schemas.openxmlformats.org/drawingml/2006/main" w="20955">
            <a:solidFill>
              <a:srgbClr val="2868B2"/>
            </a:solidFill>
            <a:tailEnd type="triangle" w="sm" len="sm"/>
          </a:ln>
        </p:spPr>
      </p:cxnSp>
      <p:cxnSp>
        <p:nvCxnSpPr>
          <p:cNvPr id="73" name=""/>
          <p:cNvCxnSpPr>
            <a:stCxn xmlns:a="http://schemas.openxmlformats.org/drawingml/2006/main" id="17" idx="3"/>
            <a:endCxn xmlns:a="http://schemas.openxmlformats.org/drawingml/2006/main" id="21" idx="1"/>
          </p:cNvCxnSpPr>
          <p:nvPr/>
        </p:nvCxnSpPr>
        <p:spPr>
          <a:xfrm xmlns:a="http://schemas.openxmlformats.org/drawingml/2006/main" flipV="1">
            <a:off x="5495925" y="3500438"/>
            <a:ext cx="561975" cy="1033463"/>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sp>
        <p:nvSpPr>
          <p:cNvPr id="29" name="">
            <a:extLst xmlns:a="http://schemas.openxmlformats.org/drawingml/2006/main">
              <a:ext uri="{FF2B5EF4-FFF2-40B4-BE49-F238E27FC236}">
                <a16:creationId xmlns:a16="http://schemas.microsoft.com/office/drawing/2014/main" id="{4AC1F62B-0825-42DC-8A7A-161EA36D56CE}"/>
              </a:ext>
            </a:extLst>
          </p:cNvPr>
          <p:cNvSpPr>
            <a:spLocks xmlns:a="http://schemas.openxmlformats.org/drawingml/2006/main" noGrp="1"/>
          </p:cNvSpPr>
          <p:nvPr/>
        </p:nvSpPr>
        <p:spPr>
          <a:xfrm xmlns:a="http://schemas.openxmlformats.org/drawingml/2006/main">
            <a:off x="8982075" y="1647825"/>
            <a:ext cx="2790825" cy="1219200"/>
          </a:xfrm>
          <a:prstGeom xmlns:a="http://schemas.openxmlformats.org/drawingml/2006/main" prst="roundRect">
            <a:avLst>
              <a:gd name="adj" fmla="val 9375"/>
            </a:avLst>
          </a:prstGeom>
          <a:solidFill xmlns:a="http://schemas.openxmlformats.org/drawingml/2006/main">
            <a:srgbClr val="EDF8F5"/>
          </a:solidFill>
          <a:ln xmlns:a="http://schemas.openxmlformats.org/drawingml/2006/main" w="15240">
            <a:solidFill>
              <a:srgbClr val="168B83"/>
            </a:solidFill>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4319957386714e1b">
            <a:extLst>
              <a:ext uri="{96DAC541-7B7A-43D3-8B79-37D633B846F1}">
                <asvg:svgBlip xmlns:asvg="http://schemas.microsoft.com/office/drawing/2016/SVG/main" r:embed="R55367af0cd2c42f2"/>
              </a:ext>
            </a:extLst>
          </a:blip>
          <a:stretch xmlns:a="http://schemas.openxmlformats.org/drawingml/2006/main"/>
        </p:blipFill>
        <p:spPr>
          <a:xfrm xmlns:a="http://schemas.openxmlformats.org/drawingml/2006/main">
            <a:off x="9153525" y="1819275"/>
            <a:ext cx="285750" cy="2857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7ECEDDDD-76A6-44EF-A395-9826A61D756E}"/>
              </a:ext>
            </a:extLst>
          </p:cNvPr>
          <p:cNvSpPr>
            <a:spLocks xmlns:a="http://schemas.openxmlformats.org/drawingml/2006/main" noGrp="1"/>
          </p:cNvSpPr>
          <p:nvPr/>
        </p:nvSpPr>
        <p:spPr>
          <a:xfrm xmlns:a="http://schemas.openxmlformats.org/drawingml/2006/main">
            <a:off x="9553575" y="1828800"/>
            <a:ext cx="20478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Weather supported</a:t>
            </a:r>
          </a:p>
        </p:txBody>
      </p:sp>
      <p:sp>
        <p:nvSpPr>
          <p:cNvPr id="32" name="">
            <a:extLst xmlns:a="http://schemas.openxmlformats.org/drawingml/2006/main">
              <a:ext uri="{FF2B5EF4-FFF2-40B4-BE49-F238E27FC236}">
                <a16:creationId xmlns:a16="http://schemas.microsoft.com/office/drawing/2014/main" id="{B2D4A73C-7D8D-4363-8EE4-D38646C215DD}"/>
              </a:ext>
            </a:extLst>
          </p:cNvPr>
          <p:cNvSpPr>
            <a:spLocks xmlns:a="http://schemas.openxmlformats.org/drawingml/2006/main" noGrp="1"/>
          </p:cNvSpPr>
          <p:nvPr/>
        </p:nvSpPr>
        <p:spPr>
          <a:xfrm xmlns:a="http://schemas.openxmlformats.org/drawingml/2006/main">
            <a:off x="9172575" y="2238375"/>
            <a:ext cx="2409825" cy="590550"/>
          </a:xfrm>
          <a:prstGeom xmlns:a="http://schemas.openxmlformats.org/drawingml/2006/main" prst="roundRect">
            <a:avLst>
              <a:gd name="adj" fmla="val 19355"/>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Keep the event visible.</a:t>
            </a:r>
          </a:p>
        </p:txBody>
      </p:sp>
      <p:sp>
        <p:nvSpPr>
          <p:cNvPr id="33" name="">
            <a:extLst xmlns:a="http://schemas.openxmlformats.org/drawingml/2006/main">
              <a:ext uri="{FF2B5EF4-FFF2-40B4-BE49-F238E27FC236}">
                <a16:creationId xmlns:a16="http://schemas.microsoft.com/office/drawing/2014/main" id="{E689B5EA-E3F7-4C5A-916E-4BF34F73BF51}"/>
              </a:ext>
            </a:extLst>
          </p:cNvPr>
          <p:cNvSpPr>
            <a:spLocks xmlns:a="http://schemas.openxmlformats.org/drawingml/2006/main" noGrp="1"/>
          </p:cNvSpPr>
          <p:nvPr/>
        </p:nvSpPr>
        <p:spPr>
          <a:xfrm xmlns:a="http://schemas.openxmlformats.org/drawingml/2006/main">
            <a:off x="8982075" y="3209925"/>
            <a:ext cx="2790825" cy="1219200"/>
          </a:xfrm>
          <a:prstGeom xmlns:a="http://schemas.openxmlformats.org/drawingml/2006/main" prst="roundRect">
            <a:avLst>
              <a:gd name="adj" fmla="val 9375"/>
            </a:avLst>
          </a:prstGeom>
          <a:solidFill xmlns:a="http://schemas.openxmlformats.org/drawingml/2006/main">
            <a:srgbClr val="EEF5FD"/>
          </a:solidFill>
          <a:ln xmlns:a="http://schemas.openxmlformats.org/drawingml/2006/main" w="15240">
            <a:solidFill>
              <a:srgbClr val="2868B2"/>
            </a:solidFill>
          </a:ln>
        </p:spPr>
      </p:sp>
      <p:pic>
        <p:nvPicPr>
          <p:cNvPr id="79" name=""/>
          <p:cNvPicPr>
            <a:picLocks xmlns:a="http://schemas.openxmlformats.org/drawingml/2006/main" noChangeAspect="1"/>
          </p:cNvPicPr>
          <p:nvPr/>
        </p:nvPicPr>
        <p:blipFill>
          <a:blip xmlns:r="http://schemas.openxmlformats.org/officeDocument/2006/relationships" xmlns:a="http://schemas.openxmlformats.org/drawingml/2006/main" r:embed="R3266573dc43f4ec0">
            <a:extLst>
              <a:ext uri="{96DAC541-7B7A-43D3-8B79-37D633B846F1}">
                <asvg:svgBlip xmlns:asvg="http://schemas.microsoft.com/office/drawing/2016/SVG/main" r:embed="R2b17d59f90904075"/>
              </a:ext>
            </a:extLst>
          </a:blip>
          <a:stretch xmlns:a="http://schemas.openxmlformats.org/drawingml/2006/main"/>
        </p:blipFill>
        <p:spPr>
          <a:xfrm xmlns:a="http://schemas.openxmlformats.org/drawingml/2006/main">
            <a:off x="9153525" y="3381375"/>
            <a:ext cx="285750" cy="285750"/>
          </a:xfrm>
          <a:prstGeom xmlns:a="http://schemas.openxmlformats.org/drawingml/2006/main" prst="rect">
            <a:avLst/>
          </a:prstGeom>
        </p:spPr>
      </p:pic>
      <p:sp>
        <p:nvSpPr>
          <p:cNvPr id="35" name="">
            <a:extLst xmlns:a="http://schemas.openxmlformats.org/drawingml/2006/main">
              <a:ext uri="{FF2B5EF4-FFF2-40B4-BE49-F238E27FC236}">
                <a16:creationId xmlns:a16="http://schemas.microsoft.com/office/drawing/2014/main" id="{BFA845A6-B070-4471-B2B8-6545625908C8}"/>
              </a:ext>
            </a:extLst>
          </p:cNvPr>
          <p:cNvSpPr>
            <a:spLocks xmlns:a="http://schemas.openxmlformats.org/drawingml/2006/main" noGrp="1"/>
          </p:cNvSpPr>
          <p:nvPr/>
        </p:nvSpPr>
        <p:spPr>
          <a:xfrm xmlns:a="http://schemas.openxmlformats.org/drawingml/2006/main">
            <a:off x="9553575" y="3390900"/>
            <a:ext cx="20478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Fault supported</a:t>
            </a:r>
          </a:p>
        </p:txBody>
      </p:sp>
      <p:sp>
        <p:nvSpPr>
          <p:cNvPr id="36" name="">
            <a:extLst xmlns:a="http://schemas.openxmlformats.org/drawingml/2006/main">
              <a:ext uri="{FF2B5EF4-FFF2-40B4-BE49-F238E27FC236}">
                <a16:creationId xmlns:a16="http://schemas.microsoft.com/office/drawing/2014/main" id="{64BA55A8-7F0B-47E1-AB06-801AF2D5396D}"/>
              </a:ext>
            </a:extLst>
          </p:cNvPr>
          <p:cNvSpPr>
            <a:spLocks xmlns:a="http://schemas.openxmlformats.org/drawingml/2006/main" noGrp="1"/>
          </p:cNvSpPr>
          <p:nvPr/>
        </p:nvSpPr>
        <p:spPr>
          <a:xfrm xmlns:a="http://schemas.openxmlformats.org/drawingml/2006/main">
            <a:off x="9172575" y="3800475"/>
            <a:ext cx="2409825" cy="590550"/>
          </a:xfrm>
          <a:prstGeom xmlns:a="http://schemas.openxmlformats.org/drawingml/2006/main" prst="roundRect">
            <a:avLst>
              <a:gd name="adj" fmla="val 19355"/>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Open a sensor or data incident.</a:t>
            </a:r>
          </a:p>
        </p:txBody>
      </p:sp>
      <p:sp>
        <p:nvSpPr>
          <p:cNvPr id="37" name="">
            <a:extLst xmlns:a="http://schemas.openxmlformats.org/drawingml/2006/main">
              <a:ext uri="{FF2B5EF4-FFF2-40B4-BE49-F238E27FC236}">
                <a16:creationId xmlns:a16="http://schemas.microsoft.com/office/drawing/2014/main" id="{1C875A30-C8DF-4F8F-9670-DAB5FA315354}"/>
              </a:ext>
            </a:extLst>
          </p:cNvPr>
          <p:cNvSpPr>
            <a:spLocks xmlns:a="http://schemas.openxmlformats.org/drawingml/2006/main" noGrp="1"/>
          </p:cNvSpPr>
          <p:nvPr/>
        </p:nvSpPr>
        <p:spPr>
          <a:xfrm xmlns:a="http://schemas.openxmlformats.org/drawingml/2006/main">
            <a:off x="8982075" y="4772025"/>
            <a:ext cx="2790825" cy="1219200"/>
          </a:xfrm>
          <a:prstGeom xmlns:a="http://schemas.openxmlformats.org/drawingml/2006/main" prst="roundRect">
            <a:avLst>
              <a:gd name="adj" fmla="val 9375"/>
            </a:avLst>
          </a:prstGeom>
          <a:solidFill xmlns:a="http://schemas.openxmlformats.org/drawingml/2006/main">
            <a:srgbClr val="FFF7E6"/>
          </a:solidFill>
          <a:ln xmlns:a="http://schemas.openxmlformats.org/drawingml/2006/main" w="15240">
            <a:solidFill>
              <a:srgbClr val="D69A24"/>
            </a:solidFill>
          </a:ln>
        </p:spPr>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e04d723b4f684384">
            <a:extLst>
              <a:ext uri="{96DAC541-7B7A-43D3-8B79-37D633B846F1}">
                <asvg:svgBlip xmlns:asvg="http://schemas.microsoft.com/office/drawing/2016/SVG/main" r:embed="R081570dc732f4b49"/>
              </a:ext>
            </a:extLst>
          </a:blip>
          <a:stretch xmlns:a="http://schemas.openxmlformats.org/drawingml/2006/main"/>
        </p:blipFill>
        <p:spPr>
          <a:xfrm xmlns:a="http://schemas.openxmlformats.org/drawingml/2006/main">
            <a:off x="9153525" y="4943475"/>
            <a:ext cx="285750" cy="28575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33187418-E4A8-4A29-84B7-B267984F7ADC}"/>
              </a:ext>
            </a:extLst>
          </p:cNvPr>
          <p:cNvSpPr>
            <a:spLocks xmlns:a="http://schemas.openxmlformats.org/drawingml/2006/main" noGrp="1"/>
          </p:cNvSpPr>
          <p:nvPr/>
        </p:nvSpPr>
        <p:spPr>
          <a:xfrm xmlns:a="http://schemas.openxmlformats.org/drawingml/2006/main">
            <a:off x="9553575" y="4953000"/>
            <a:ext cx="20478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Evidence uncertain</a:t>
            </a:r>
          </a:p>
        </p:txBody>
      </p:sp>
      <p:sp>
        <p:nvSpPr>
          <p:cNvPr id="40" name="">
            <a:extLst xmlns:a="http://schemas.openxmlformats.org/drawingml/2006/main">
              <a:ext uri="{FF2B5EF4-FFF2-40B4-BE49-F238E27FC236}">
                <a16:creationId xmlns:a16="http://schemas.microsoft.com/office/drawing/2014/main" id="{BCD2C513-3020-43C3-9CA4-B039D1DB53EA}"/>
              </a:ext>
            </a:extLst>
          </p:cNvPr>
          <p:cNvSpPr>
            <a:spLocks xmlns:a="http://schemas.openxmlformats.org/drawingml/2006/main" noGrp="1"/>
          </p:cNvSpPr>
          <p:nvPr/>
        </p:nvSpPr>
        <p:spPr>
          <a:xfrm xmlns:a="http://schemas.openxmlformats.org/drawingml/2006/main">
            <a:off x="9172575" y="5362575"/>
            <a:ext cx="2409825" cy="590550"/>
          </a:xfrm>
          <a:prstGeom xmlns:a="http://schemas.openxmlformats.org/drawingml/2006/main" prst="roundRect">
            <a:avLst>
              <a:gd name="adj" fmla="val 19355"/>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Ask an operator to review.</a:t>
            </a:r>
          </a:p>
        </p:txBody>
      </p:sp>
      <p:cxnSp>
        <p:nvCxnSpPr>
          <p:cNvPr id="86" name=""/>
          <p:cNvCxnSpPr>
            <a:stCxn xmlns:a="http://schemas.openxmlformats.org/drawingml/2006/main" id="21" idx="3"/>
            <a:endCxn xmlns:a="http://schemas.openxmlformats.org/drawingml/2006/main" id="29" idx="1"/>
          </p:cNvCxnSpPr>
          <p:nvPr/>
        </p:nvCxnSpPr>
        <p:spPr>
          <a:xfrm xmlns:a="http://schemas.openxmlformats.org/drawingml/2006/main" flipV="1">
            <a:off x="8382000" y="2257425"/>
            <a:ext cx="600075" cy="1243013"/>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87" name=""/>
          <p:cNvCxnSpPr>
            <a:stCxn xmlns:a="http://schemas.openxmlformats.org/drawingml/2006/main" id="21" idx="3"/>
            <a:endCxn xmlns:a="http://schemas.openxmlformats.org/drawingml/2006/main" id="33" idx="1"/>
          </p:cNvCxnSpPr>
          <p:nvPr/>
        </p:nvCxnSpPr>
        <p:spPr>
          <a:xfrm xmlns:a="http://schemas.openxmlformats.org/drawingml/2006/main">
            <a:off x="8382000" y="3500438"/>
            <a:ext cx="600075" cy="319088"/>
          </a:xfrm>
          <a:prstGeom xmlns:a="http://schemas.openxmlformats.org/drawingml/2006/main" prst="straightConnector1">
            <a:avLst/>
          </a:prstGeom>
          <a:ln xmlns:a="http://schemas.openxmlformats.org/drawingml/2006/main" w="20955">
            <a:solidFill>
              <a:srgbClr val="2868B2"/>
            </a:solidFill>
            <a:tailEnd type="triangle" w="sm" len="sm"/>
          </a:ln>
        </p:spPr>
      </p:cxnSp>
      <p:cxnSp>
        <p:nvCxnSpPr>
          <p:cNvPr id="88" name=""/>
          <p:cNvCxnSpPr>
            <a:stCxn xmlns:a="http://schemas.openxmlformats.org/drawingml/2006/main" id="21" idx="3"/>
            <a:endCxn xmlns:a="http://schemas.openxmlformats.org/drawingml/2006/main" id="37" idx="1"/>
          </p:cNvCxnSpPr>
          <p:nvPr/>
        </p:nvCxnSpPr>
        <p:spPr>
          <a:xfrm xmlns:a="http://schemas.openxmlformats.org/drawingml/2006/main">
            <a:off x="8382000" y="3500438"/>
            <a:ext cx="600075" cy="1881188"/>
          </a:xfrm>
          <a:prstGeom xmlns:a="http://schemas.openxmlformats.org/drawingml/2006/main" prst="bentConnector3">
            <a:avLst>
              <a:gd name="adj1" fmla="val 50000"/>
            </a:avLst>
          </a:prstGeom>
          <a:ln xmlns:a="http://schemas.openxmlformats.org/drawingml/2006/main" w="20955">
            <a:solidFill>
              <a:srgbClr val="D69A24"/>
            </a:solidFill>
            <a:tailEnd type="triangle" w="sm" len="sm"/>
          </a:ln>
        </p:spPr>
      </p:cxn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cfcda8e194104b5e">
            <a:extLst>
              <a:ext uri="{96DAC541-7B7A-43D3-8B79-37D633B846F1}">
                <asvg:svgBlip xmlns:asvg="http://schemas.microsoft.com/office/drawing/2016/SVG/main" r:embed="R7ba1465949374fa8"/>
              </a:ext>
            </a:extLst>
          </a:blip>
          <a:stretch xmlns:a="http://schemas.openxmlformats.org/drawingml/2006/main"/>
        </p:blipFill>
        <p:spPr>
          <a:xfrm xmlns:a="http://schemas.openxmlformats.org/drawingml/2006/main">
            <a:off x="419100" y="5791200"/>
            <a:ext cx="257175" cy="257175"/>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AD78515A-45B1-49B4-894B-8333CCED5C9A}"/>
              </a:ext>
            </a:extLst>
          </p:cNvPr>
          <p:cNvSpPr>
            <a:spLocks xmlns:a="http://schemas.openxmlformats.org/drawingml/2006/main" noGrp="1"/>
          </p:cNvSpPr>
          <p:nvPr/>
        </p:nvSpPr>
        <p:spPr>
          <a:xfrm xmlns:a="http://schemas.openxmlformats.org/drawingml/2006/main">
            <a:off x="809625" y="5791200"/>
            <a:ext cx="7810500" cy="428625"/>
          </a:xfrm>
          <a:prstGeom xmlns:a="http://schemas.openxmlformats.org/drawingml/2006/main" prst="roundRect">
            <a:avLst>
              <a:gd name="adj" fmla="val 2666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Original readings remain intact; approved correction proposals are stored separately.</a:t>
            </a:r>
          </a:p>
        </p:txBody>
      </p:sp>
    </p:spTree>
    <p:extLst>
      <p:ext uri="{BB962C8B-B14F-4D97-AF65-F5344CB8AC3E}">
        <p14:creationId xmlns:p14="http://schemas.microsoft.com/office/powerpoint/2010/main" val="10564987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2C195747-3FF5-4FE8-A70F-29FF9CF36B35}"/>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D15F6CCA-DF35-4EAF-BB32-2FB06875F49F}"/>
              </a:ext>
            </a:extLst>
          </p:cNvPr>
          <p:cNvSpPr>
            <a:spLocks xmlns:a="http://schemas.openxmlformats.org/drawingml/2006/main" noGrp="1"/>
          </p:cNvSpPr>
          <p:nvPr/>
        </p:nvSpPr>
        <p:spPr>
          <a:xfrm xmlns:a="http://schemas.openxmlformats.org/drawingml/2006/main">
            <a:off x="2381250" y="209550"/>
            <a:ext cx="6953250" cy="495300"/>
          </a:xfrm>
          <a:prstGeom xmlns:a="http://schemas.openxmlformats.org/drawingml/2006/main" prst="roundRect">
            <a:avLst>
              <a:gd name="adj" fmla="val 2307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TECHNICAL APPROACH</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80384d3b68294f7a"/>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26043F9-BA14-4E56-877D-50F301ED91B3}"/>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F7589A2F-46B1-4FC7-81D4-4463F6A496DD}"/>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oundRect">
            <a:avLst>
              <a:gd name="adj" fmla="val 28571"/>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Each observation passes through validation, parallel checks and an explained decision.</a:t>
            </a:r>
          </a:p>
        </p:txBody>
      </p:sp>
      <p:sp>
        <p:nvSpPr>
          <p:cNvPr id="6" name="">
            <a:extLst xmlns:a="http://schemas.openxmlformats.org/drawingml/2006/main">
              <a:ext uri="{FF2B5EF4-FFF2-40B4-BE49-F238E27FC236}">
                <a16:creationId xmlns:a16="http://schemas.microsoft.com/office/drawing/2014/main" id="{924E2BCA-815E-4CB1-ACBB-AEC8CAFBCF5F}"/>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oundRect">
            <a:avLst>
              <a:gd name="adj" fmla="val 31579"/>
            </a:avLst>
          </a:prstGeom>
          <a:solidFill xmlns:a="http://schemas.openxmlformats.org/drawingml/2006/main">
            <a:srgbClr val="2868B2"/>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705B199A-9528-4407-85F1-40B6674241DB}"/>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2CF000F6-3A2E-4C74-926D-5A0954D0C3A4}"/>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4211B51F-A7F6-465A-92F6-DFD031CC7789}"/>
              </a:ext>
            </a:extLst>
          </p:cNvPr>
          <p:cNvSpPr>
            <a:spLocks xmlns:a="http://schemas.openxmlformats.org/drawingml/2006/main" noGrp="1"/>
          </p:cNvSpPr>
          <p:nvPr/>
        </p:nvSpPr>
        <p:spPr>
          <a:xfrm xmlns:a="http://schemas.openxmlformats.org/drawingml/2006/main">
            <a:off x="419100" y="2724150"/>
            <a:ext cx="1885950" cy="1704975"/>
          </a:xfrm>
          <a:prstGeom xmlns:a="http://schemas.openxmlformats.org/drawingml/2006/main" prst="roundRect">
            <a:avLst>
              <a:gd name="adj" fmla="val 6704"/>
            </a:avLst>
          </a:prstGeom>
          <a:solidFill xmlns:a="http://schemas.openxmlformats.org/drawingml/2006/main">
            <a:srgbClr val="EEF5FD"/>
          </a:solidFill>
          <a:ln xmlns:a="http://schemas.openxmlformats.org/drawingml/2006/main" w="15240">
            <a:solidFill>
              <a:srgbClr val="2868B2"/>
            </a:solidFill>
          </a:ln>
        </p:spPr>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61df61ed82b14cd1">
            <a:extLst>
              <a:ext uri="{96DAC541-7B7A-43D3-8B79-37D633B846F1}">
                <asvg:svgBlip xmlns:asvg="http://schemas.microsoft.com/office/drawing/2016/SVG/main" r:embed="Rcb8f9fcbf3e34460"/>
              </a:ext>
            </a:extLst>
          </a:blip>
          <a:stretch xmlns:a="http://schemas.openxmlformats.org/drawingml/2006/main"/>
        </p:blipFill>
        <p:spPr>
          <a:xfrm xmlns:a="http://schemas.openxmlformats.org/drawingml/2006/main">
            <a:off x="590550" y="2895600"/>
            <a:ext cx="285750" cy="285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90C085FF-A97F-4B91-8239-687FC7FE31C2}"/>
              </a:ext>
            </a:extLst>
          </p:cNvPr>
          <p:cNvSpPr>
            <a:spLocks xmlns:a="http://schemas.openxmlformats.org/drawingml/2006/main" noGrp="1"/>
          </p:cNvSpPr>
          <p:nvPr/>
        </p:nvSpPr>
        <p:spPr>
          <a:xfrm xmlns:a="http://schemas.openxmlformats.org/drawingml/2006/main">
            <a:off x="990600" y="2905125"/>
            <a:ext cx="114300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Input</a:t>
            </a:r>
          </a:p>
        </p:txBody>
      </p:sp>
      <p:sp>
        <p:nvSpPr>
          <p:cNvPr id="12" name="">
            <a:extLst xmlns:a="http://schemas.openxmlformats.org/drawingml/2006/main">
              <a:ext uri="{FF2B5EF4-FFF2-40B4-BE49-F238E27FC236}">
                <a16:creationId xmlns:a16="http://schemas.microsoft.com/office/drawing/2014/main" id="{122F82B4-F956-4886-A249-EAA731FE21E1}"/>
              </a:ext>
            </a:extLst>
          </p:cNvPr>
          <p:cNvSpPr>
            <a:spLocks xmlns:a="http://schemas.openxmlformats.org/drawingml/2006/main" noGrp="1"/>
          </p:cNvSpPr>
          <p:nvPr/>
        </p:nvSpPr>
        <p:spPr>
          <a:xfrm xmlns:a="http://schemas.openxmlformats.org/drawingml/2006/main">
            <a:off x="609600" y="3314700"/>
            <a:ext cx="1504950" cy="1076325"/>
          </a:xfrm>
          <a:prstGeom xmlns:a="http://schemas.openxmlformats.org/drawingml/2006/main" prst="roundRect">
            <a:avLst>
              <a:gd name="adj" fmla="val 10619"/>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T / P / RH</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Station ID + time</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HTTP or CSV</a:t>
            </a:r>
          </a:p>
        </p:txBody>
      </p:sp>
      <p:sp>
        <p:nvSpPr>
          <p:cNvPr id="13" name="">
            <a:extLst xmlns:a="http://schemas.openxmlformats.org/drawingml/2006/main">
              <a:ext uri="{FF2B5EF4-FFF2-40B4-BE49-F238E27FC236}">
                <a16:creationId xmlns:a16="http://schemas.microsoft.com/office/drawing/2014/main" id="{7115B57A-6A08-4B0B-B25C-78A22A3C1855}"/>
              </a:ext>
            </a:extLst>
          </p:cNvPr>
          <p:cNvSpPr>
            <a:spLocks xmlns:a="http://schemas.openxmlformats.org/drawingml/2006/main" noGrp="1"/>
          </p:cNvSpPr>
          <p:nvPr/>
        </p:nvSpPr>
        <p:spPr>
          <a:xfrm xmlns:a="http://schemas.openxmlformats.org/drawingml/2006/main">
            <a:off x="2686050" y="2724150"/>
            <a:ext cx="1962150" cy="1704975"/>
          </a:xfrm>
          <a:prstGeom xmlns:a="http://schemas.openxmlformats.org/drawingml/2006/main" prst="roundRect">
            <a:avLst>
              <a:gd name="adj" fmla="val 6704"/>
            </a:avLst>
          </a:prstGeom>
          <a:solidFill xmlns:a="http://schemas.openxmlformats.org/drawingml/2006/main">
            <a:srgbClr val="EEF5FD"/>
          </a:solidFill>
          <a:ln xmlns:a="http://schemas.openxmlformats.org/drawingml/2006/main" w="15240">
            <a:solidFill>
              <a:srgbClr val="2868B2"/>
            </a:solidFill>
          </a:ln>
        </p:spPr>
      </p:sp>
      <p:pic>
        <p:nvPicPr>
          <p:cNvPr id="70" name=""/>
          <p:cNvPicPr>
            <a:picLocks xmlns:a="http://schemas.openxmlformats.org/drawingml/2006/main" noChangeAspect="1"/>
          </p:cNvPicPr>
          <p:nvPr/>
        </p:nvPicPr>
        <p:blipFill>
          <a:blip xmlns:r="http://schemas.openxmlformats.org/officeDocument/2006/relationships" xmlns:a="http://schemas.openxmlformats.org/drawingml/2006/main" r:embed="R49254d6c9fe54d60">
            <a:extLst>
              <a:ext uri="{96DAC541-7B7A-43D3-8B79-37D633B846F1}">
                <asvg:svgBlip xmlns:asvg="http://schemas.microsoft.com/office/drawing/2016/SVG/main" r:embed="R03b2c2f185ce4541"/>
              </a:ext>
            </a:extLst>
          </a:blip>
          <a:stretch xmlns:a="http://schemas.openxmlformats.org/drawingml/2006/main"/>
        </p:blipFill>
        <p:spPr>
          <a:xfrm xmlns:a="http://schemas.openxmlformats.org/drawingml/2006/main">
            <a:off x="2857500" y="2895600"/>
            <a:ext cx="285750" cy="285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60F3B17-DD9E-4E6B-A2F5-23C4B84062CD}"/>
              </a:ext>
            </a:extLst>
          </p:cNvPr>
          <p:cNvSpPr>
            <a:spLocks xmlns:a="http://schemas.openxmlformats.org/drawingml/2006/main" noGrp="1"/>
          </p:cNvSpPr>
          <p:nvPr/>
        </p:nvSpPr>
        <p:spPr>
          <a:xfrm xmlns:a="http://schemas.openxmlformats.org/drawingml/2006/main">
            <a:off x="3257550" y="2905125"/>
            <a:ext cx="121920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Validate</a:t>
            </a:r>
          </a:p>
        </p:txBody>
      </p:sp>
      <p:sp>
        <p:nvSpPr>
          <p:cNvPr id="16" name="">
            <a:extLst xmlns:a="http://schemas.openxmlformats.org/drawingml/2006/main">
              <a:ext uri="{FF2B5EF4-FFF2-40B4-BE49-F238E27FC236}">
                <a16:creationId xmlns:a16="http://schemas.microsoft.com/office/drawing/2014/main" id="{9BFE0AB8-E406-4186-BFB9-1F6FB2D82C1F}"/>
              </a:ext>
            </a:extLst>
          </p:cNvPr>
          <p:cNvSpPr>
            <a:spLocks xmlns:a="http://schemas.openxmlformats.org/drawingml/2006/main" noGrp="1"/>
          </p:cNvSpPr>
          <p:nvPr/>
        </p:nvSpPr>
        <p:spPr>
          <a:xfrm xmlns:a="http://schemas.openxmlformats.org/drawingml/2006/main">
            <a:off x="2876550" y="3314700"/>
            <a:ext cx="1581150" cy="1076325"/>
          </a:xfrm>
          <a:prstGeom xmlns:a="http://schemas.openxmlformats.org/drawingml/2006/main" prst="roundRect">
            <a:avLst>
              <a:gd name="adj" fmla="val 10619"/>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Time + schema</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Late / missing data</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Save originals</a:t>
            </a:r>
          </a:p>
        </p:txBody>
      </p:sp>
      <p:sp>
        <p:nvSpPr>
          <p:cNvPr id="17" name="">
            <a:extLst xmlns:a="http://schemas.openxmlformats.org/drawingml/2006/main">
              <a:ext uri="{FF2B5EF4-FFF2-40B4-BE49-F238E27FC236}">
                <a16:creationId xmlns:a16="http://schemas.microsoft.com/office/drawing/2014/main" id="{4D68935F-DBFA-478F-A8CC-2549586E37C4}"/>
              </a:ext>
            </a:extLst>
          </p:cNvPr>
          <p:cNvSpPr>
            <a:spLocks xmlns:a="http://schemas.openxmlformats.org/drawingml/2006/main" noGrp="1"/>
          </p:cNvSpPr>
          <p:nvPr/>
        </p:nvSpPr>
        <p:spPr>
          <a:xfrm xmlns:a="http://schemas.openxmlformats.org/drawingml/2006/main">
            <a:off x="5067300" y="1695450"/>
            <a:ext cx="2543175" cy="1543050"/>
          </a:xfrm>
          <a:prstGeom xmlns:a="http://schemas.openxmlformats.org/drawingml/2006/main" prst="roundRect">
            <a:avLst>
              <a:gd name="adj" fmla="val 7407"/>
            </a:avLst>
          </a:prstGeom>
          <a:solidFill xmlns:a="http://schemas.openxmlformats.org/drawingml/2006/main">
            <a:srgbClr val="EEF5FD"/>
          </a:solidFill>
          <a:ln xmlns:a="http://schemas.openxmlformats.org/drawingml/2006/main" w="15240">
            <a:solidFill>
              <a:srgbClr val="2868B2"/>
            </a:solidFill>
          </a:ln>
        </p:spPr>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0350c2416b084efd">
            <a:extLst>
              <a:ext uri="{96DAC541-7B7A-43D3-8B79-37D633B846F1}">
                <asvg:svgBlip xmlns:asvg="http://schemas.microsoft.com/office/drawing/2016/SVG/main" r:embed="R9c0ed6da0fa2433a"/>
              </a:ext>
            </a:extLst>
          </a:blip>
          <a:stretch xmlns:a="http://schemas.openxmlformats.org/drawingml/2006/main"/>
        </p:blipFill>
        <p:spPr>
          <a:xfrm xmlns:a="http://schemas.openxmlformats.org/drawingml/2006/main">
            <a:off x="5238750" y="1866900"/>
            <a:ext cx="285750" cy="28575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25548679-E83E-4F85-B747-3635C773EE2F}"/>
              </a:ext>
            </a:extLst>
          </p:cNvPr>
          <p:cNvSpPr>
            <a:spLocks xmlns:a="http://schemas.openxmlformats.org/drawingml/2006/main" noGrp="1"/>
          </p:cNvSpPr>
          <p:nvPr/>
        </p:nvSpPr>
        <p:spPr>
          <a:xfrm xmlns:a="http://schemas.openxmlformats.org/drawingml/2006/main">
            <a:off x="5638800" y="1876425"/>
            <a:ext cx="18002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History + ML</a:t>
            </a:r>
          </a:p>
        </p:txBody>
      </p:sp>
      <p:sp>
        <p:nvSpPr>
          <p:cNvPr id="20" name="">
            <a:extLst xmlns:a="http://schemas.openxmlformats.org/drawingml/2006/main">
              <a:ext uri="{FF2B5EF4-FFF2-40B4-BE49-F238E27FC236}">
                <a16:creationId xmlns:a16="http://schemas.microsoft.com/office/drawing/2014/main" id="{B83BCC57-4325-45C0-84DA-E4569451F4FD}"/>
              </a:ext>
            </a:extLst>
          </p:cNvPr>
          <p:cNvSpPr>
            <a:spLocks xmlns:a="http://schemas.openxmlformats.org/drawingml/2006/main" noGrp="1"/>
          </p:cNvSpPr>
          <p:nvPr/>
        </p:nvSpPr>
        <p:spPr>
          <a:xfrm xmlns:a="http://schemas.openxmlformats.org/drawingml/2006/main">
            <a:off x="5257800" y="2286000"/>
            <a:ext cx="2162175" cy="914400"/>
          </a:xfrm>
          <a:prstGeom xmlns:a="http://schemas.openxmlformats.org/drawingml/2006/main" prst="roundRect">
            <a:avLst>
              <a:gd name="adj" fmla="val 125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Past-only features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Spikes, drift, flatlines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Isolation Forest score</a:t>
            </a:r>
          </a:p>
        </p:txBody>
      </p:sp>
      <p:sp>
        <p:nvSpPr>
          <p:cNvPr id="21" name="">
            <a:extLst xmlns:a="http://schemas.openxmlformats.org/drawingml/2006/main">
              <a:ext uri="{FF2B5EF4-FFF2-40B4-BE49-F238E27FC236}">
                <a16:creationId xmlns:a16="http://schemas.microsoft.com/office/drawing/2014/main" id="{D67FF144-CD8A-40F6-AB99-6AE8C175F7C3}"/>
              </a:ext>
            </a:extLst>
          </p:cNvPr>
          <p:cNvSpPr>
            <a:spLocks xmlns:a="http://schemas.openxmlformats.org/drawingml/2006/main" noGrp="1"/>
          </p:cNvSpPr>
          <p:nvPr/>
        </p:nvSpPr>
        <p:spPr>
          <a:xfrm xmlns:a="http://schemas.openxmlformats.org/drawingml/2006/main">
            <a:off x="5067300" y="3819525"/>
            <a:ext cx="2543175" cy="1543050"/>
          </a:xfrm>
          <a:prstGeom xmlns:a="http://schemas.openxmlformats.org/drawingml/2006/main" prst="roundRect">
            <a:avLst>
              <a:gd name="adj" fmla="val 7407"/>
            </a:avLst>
          </a:prstGeom>
          <a:solidFill xmlns:a="http://schemas.openxmlformats.org/drawingml/2006/main">
            <a:srgbClr val="EDF8F5"/>
          </a:solidFill>
          <a:ln xmlns:a="http://schemas.openxmlformats.org/drawingml/2006/main" w="15240">
            <a:solidFill>
              <a:srgbClr val="168B83"/>
            </a:solidFill>
          </a:ln>
        </p:spPr>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79fb1bae14ed4dbb">
            <a:extLst>
              <a:ext uri="{96DAC541-7B7A-43D3-8B79-37D633B846F1}">
                <asvg:svgBlip xmlns:asvg="http://schemas.microsoft.com/office/drawing/2016/SVG/main" r:embed="R41f37392259d4ffb"/>
              </a:ext>
            </a:extLst>
          </a:blip>
          <a:stretch xmlns:a="http://schemas.openxmlformats.org/drawingml/2006/main"/>
        </p:blipFill>
        <p:spPr>
          <a:xfrm xmlns:a="http://schemas.openxmlformats.org/drawingml/2006/main">
            <a:off x="5238750" y="3990975"/>
            <a:ext cx="285750" cy="285750"/>
          </a:xfrm>
          <a:prstGeom xmlns:a="http://schemas.openxmlformats.org/drawingml/2006/main" prst="rect">
            <a:avLst/>
          </a:prstGeom>
        </p:spPr>
      </p:pic>
      <p:sp>
        <p:nvSpPr>
          <p:cNvPr id="23" name="">
            <a:extLst xmlns:a="http://schemas.openxmlformats.org/drawingml/2006/main">
              <a:ext uri="{FF2B5EF4-FFF2-40B4-BE49-F238E27FC236}">
                <a16:creationId xmlns:a16="http://schemas.microsoft.com/office/drawing/2014/main" id="{AC97C6B8-41A7-4E28-89EB-AB53AFB6EE94}"/>
              </a:ext>
            </a:extLst>
          </p:cNvPr>
          <p:cNvSpPr>
            <a:spLocks xmlns:a="http://schemas.openxmlformats.org/drawingml/2006/main" noGrp="1"/>
          </p:cNvSpPr>
          <p:nvPr/>
        </p:nvSpPr>
        <p:spPr>
          <a:xfrm xmlns:a="http://schemas.openxmlformats.org/drawingml/2006/main">
            <a:off x="5638800" y="4000500"/>
            <a:ext cx="18002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Physics + peers</a:t>
            </a:r>
          </a:p>
        </p:txBody>
      </p:sp>
      <p:sp>
        <p:nvSpPr>
          <p:cNvPr id="24" name="">
            <a:extLst xmlns:a="http://schemas.openxmlformats.org/drawingml/2006/main">
              <a:ext uri="{FF2B5EF4-FFF2-40B4-BE49-F238E27FC236}">
                <a16:creationId xmlns:a16="http://schemas.microsoft.com/office/drawing/2014/main" id="{565A5EF5-97F1-4C9C-9EFC-9D7D6C368779}"/>
              </a:ext>
            </a:extLst>
          </p:cNvPr>
          <p:cNvSpPr>
            <a:spLocks xmlns:a="http://schemas.openxmlformats.org/drawingml/2006/main" noGrp="1"/>
          </p:cNvSpPr>
          <p:nvPr/>
        </p:nvSpPr>
        <p:spPr>
          <a:xfrm xmlns:a="http://schemas.openxmlformats.org/drawingml/2006/main">
            <a:off x="5257800" y="4410075"/>
            <a:ext cx="2162175" cy="914400"/>
          </a:xfrm>
          <a:prstGeom xmlns:a="http://schemas.openxmlformats.org/drawingml/2006/main" prst="roundRect">
            <a:avLst>
              <a:gd name="adj" fmla="val 125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T/P/RH consistency</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Nearby trusted stations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Available context only</a:t>
            </a:r>
          </a:p>
        </p:txBody>
      </p:sp>
      <p:sp>
        <p:nvSpPr>
          <p:cNvPr id="25" name="">
            <a:extLst xmlns:a="http://schemas.openxmlformats.org/drawingml/2006/main">
              <a:ext uri="{FF2B5EF4-FFF2-40B4-BE49-F238E27FC236}">
                <a16:creationId xmlns:a16="http://schemas.microsoft.com/office/drawing/2014/main" id="{3F807E86-DF72-4C2D-AA50-28C7F1D11995}"/>
              </a:ext>
            </a:extLst>
          </p:cNvPr>
          <p:cNvSpPr>
            <a:spLocks xmlns:a="http://schemas.openxmlformats.org/drawingml/2006/main" noGrp="1"/>
          </p:cNvSpPr>
          <p:nvPr/>
        </p:nvSpPr>
        <p:spPr>
          <a:xfrm xmlns:a="http://schemas.openxmlformats.org/drawingml/2006/main">
            <a:off x="8105775" y="2686050"/>
            <a:ext cx="1704975" cy="1714500"/>
          </a:xfrm>
          <a:prstGeom xmlns:a="http://schemas.openxmlformats.org/drawingml/2006/main" prst="roundRect">
            <a:avLst>
              <a:gd name="adj" fmla="val 6704"/>
            </a:avLst>
          </a:prstGeom>
          <a:solidFill xmlns:a="http://schemas.openxmlformats.org/drawingml/2006/main">
            <a:srgbClr val="EDF8F5"/>
          </a:solidFill>
          <a:ln xmlns:a="http://schemas.openxmlformats.org/drawingml/2006/main" w="15240">
            <a:solidFill>
              <a:srgbClr val="168B83"/>
            </a:solidFill>
          </a:ln>
        </p:spPr>
      </p:sp>
      <p:pic>
        <p:nvPicPr>
          <p:cNvPr id="82" name=""/>
          <p:cNvPicPr>
            <a:picLocks xmlns:a="http://schemas.openxmlformats.org/drawingml/2006/main" noChangeAspect="1"/>
          </p:cNvPicPr>
          <p:nvPr/>
        </p:nvPicPr>
        <p:blipFill>
          <a:blip xmlns:r="http://schemas.openxmlformats.org/officeDocument/2006/relationships" xmlns:a="http://schemas.openxmlformats.org/drawingml/2006/main" r:embed="R9e62936f94314ddb">
            <a:extLst>
              <a:ext uri="{96DAC541-7B7A-43D3-8B79-37D633B846F1}">
                <asvg:svgBlip xmlns:asvg="http://schemas.microsoft.com/office/drawing/2016/SVG/main" r:embed="R0a479e4450834bc4"/>
              </a:ext>
            </a:extLst>
          </a:blip>
          <a:stretch xmlns:a="http://schemas.openxmlformats.org/drawingml/2006/main"/>
        </p:blipFill>
        <p:spPr>
          <a:xfrm xmlns:a="http://schemas.openxmlformats.org/drawingml/2006/main">
            <a:off x="8277225" y="2857500"/>
            <a:ext cx="285750" cy="2857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B1877CA5-BD82-40F4-8D6C-23D265ACCD63}"/>
              </a:ext>
            </a:extLst>
          </p:cNvPr>
          <p:cNvSpPr>
            <a:spLocks xmlns:a="http://schemas.openxmlformats.org/drawingml/2006/main" noGrp="1"/>
          </p:cNvSpPr>
          <p:nvPr/>
        </p:nvSpPr>
        <p:spPr>
          <a:xfrm xmlns:a="http://schemas.openxmlformats.org/drawingml/2006/main">
            <a:off x="8677275" y="2867025"/>
            <a:ext cx="9620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Fuse</a:t>
            </a:r>
          </a:p>
        </p:txBody>
      </p:sp>
      <p:sp>
        <p:nvSpPr>
          <p:cNvPr id="28" name="">
            <a:extLst xmlns:a="http://schemas.openxmlformats.org/drawingml/2006/main">
              <a:ext uri="{FF2B5EF4-FFF2-40B4-BE49-F238E27FC236}">
                <a16:creationId xmlns:a16="http://schemas.microsoft.com/office/drawing/2014/main" id="{88DD67EA-88BD-41B7-AD42-350F1C3902C7}"/>
              </a:ext>
            </a:extLst>
          </p:cNvPr>
          <p:cNvSpPr>
            <a:spLocks xmlns:a="http://schemas.openxmlformats.org/drawingml/2006/main" noGrp="1"/>
          </p:cNvSpPr>
          <p:nvPr/>
        </p:nvSpPr>
        <p:spPr>
          <a:xfrm xmlns:a="http://schemas.openxmlformats.org/drawingml/2006/main">
            <a:off x="8296275" y="3276600"/>
            <a:ext cx="1323975" cy="1085850"/>
          </a:xfrm>
          <a:prstGeom xmlns:a="http://schemas.openxmlformats.org/drawingml/2006/main" prst="roundRect">
            <a:avLst>
              <a:gd name="adj" fmla="val 1052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Weigh clues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Classify cause</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Give reasons</a:t>
            </a:r>
          </a:p>
        </p:txBody>
      </p:sp>
      <p:sp>
        <p:nvSpPr>
          <p:cNvPr id="29" name="">
            <a:extLst xmlns:a="http://schemas.openxmlformats.org/drawingml/2006/main">
              <a:ext uri="{FF2B5EF4-FFF2-40B4-BE49-F238E27FC236}">
                <a16:creationId xmlns:a16="http://schemas.microsoft.com/office/drawing/2014/main" id="{9A8A7671-164A-4551-A1A6-54F264C9903E}"/>
              </a:ext>
            </a:extLst>
          </p:cNvPr>
          <p:cNvSpPr>
            <a:spLocks xmlns:a="http://schemas.openxmlformats.org/drawingml/2006/main" noGrp="1"/>
          </p:cNvSpPr>
          <p:nvPr/>
        </p:nvSpPr>
        <p:spPr>
          <a:xfrm xmlns:a="http://schemas.openxmlformats.org/drawingml/2006/main">
            <a:off x="10210800" y="2686050"/>
            <a:ext cx="1562100" cy="1714500"/>
          </a:xfrm>
          <a:prstGeom xmlns:a="http://schemas.openxmlformats.org/drawingml/2006/main" prst="roundRect">
            <a:avLst>
              <a:gd name="adj" fmla="val 7317"/>
            </a:avLst>
          </a:prstGeom>
          <a:solidFill xmlns:a="http://schemas.openxmlformats.org/drawingml/2006/main">
            <a:srgbClr val="FFF7E6"/>
          </a:solidFill>
          <a:ln xmlns:a="http://schemas.openxmlformats.org/drawingml/2006/main" w="15240">
            <a:solidFill>
              <a:srgbClr val="D69A24"/>
            </a:solidFill>
          </a:ln>
        </p:spPr>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e770797ad83d4c37">
            <a:extLst>
              <a:ext uri="{96DAC541-7B7A-43D3-8B79-37D633B846F1}">
                <asvg:svgBlip xmlns:asvg="http://schemas.microsoft.com/office/drawing/2016/SVG/main" r:embed="Reddc0ccd9c1a4049"/>
              </a:ext>
            </a:extLst>
          </a:blip>
          <a:stretch xmlns:a="http://schemas.openxmlformats.org/drawingml/2006/main"/>
        </p:blipFill>
        <p:spPr>
          <a:xfrm xmlns:a="http://schemas.openxmlformats.org/drawingml/2006/main">
            <a:off x="10382250" y="2857500"/>
            <a:ext cx="285750" cy="2857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9835E19D-3505-40D8-BEF4-A084B83DF837}"/>
              </a:ext>
            </a:extLst>
          </p:cNvPr>
          <p:cNvSpPr>
            <a:spLocks xmlns:a="http://schemas.openxmlformats.org/drawingml/2006/main" noGrp="1"/>
          </p:cNvSpPr>
          <p:nvPr/>
        </p:nvSpPr>
        <p:spPr>
          <a:xfrm xmlns:a="http://schemas.openxmlformats.org/drawingml/2006/main">
            <a:off x="10782300" y="2867025"/>
            <a:ext cx="819150"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17324D"/>
                </a:solidFill>
                <a:latin typeface="Arial"/>
                <a:ea typeface="Arial"/>
                <a:cs typeface="Arial"/>
              </a:defRPr>
            </a:pPr>
            <a:r>
              <a:rPr sz="1500" b="1">
                <a:solidFill>
                  <a:srgbClr val="17324D"/>
                </a:solidFill>
                <a:latin typeface="Arial"/>
                <a:ea typeface="Arial"/>
                <a:cs typeface="Arial"/>
              </a:rPr>
              <a:t>Review</a:t>
            </a:r>
          </a:p>
        </p:txBody>
      </p:sp>
      <p:sp>
        <p:nvSpPr>
          <p:cNvPr id="32" name="">
            <a:extLst xmlns:a="http://schemas.openxmlformats.org/drawingml/2006/main">
              <a:ext uri="{FF2B5EF4-FFF2-40B4-BE49-F238E27FC236}">
                <a16:creationId xmlns:a16="http://schemas.microsoft.com/office/drawing/2014/main" id="{B245A28A-A7B9-41D2-98DF-2106298CE360}"/>
              </a:ext>
            </a:extLst>
          </p:cNvPr>
          <p:cNvSpPr>
            <a:spLocks xmlns:a="http://schemas.openxmlformats.org/drawingml/2006/main" noGrp="1"/>
          </p:cNvSpPr>
          <p:nvPr/>
        </p:nvSpPr>
        <p:spPr>
          <a:xfrm xmlns:a="http://schemas.openxmlformats.org/drawingml/2006/main">
            <a:off x="10401300" y="3276600"/>
            <a:ext cx="1181100" cy="1085850"/>
          </a:xfrm>
          <a:prstGeom xmlns:a="http://schemas.openxmlformats.org/drawingml/2006/main" prst="roundRect">
            <a:avLst>
              <a:gd name="adj" fmla="val 1052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History</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Incidents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Review actions</a:t>
            </a:r>
          </a:p>
        </p:txBody>
      </p:sp>
      <p:cxnSp>
        <p:nvCxnSpPr>
          <p:cNvPr id="89" name=""/>
          <p:cNvCxnSpPr>
            <a:stCxn xmlns:a="http://schemas.openxmlformats.org/drawingml/2006/main" id="9" idx="3"/>
            <a:endCxn xmlns:a="http://schemas.openxmlformats.org/drawingml/2006/main" id="13" idx="1"/>
          </p:cNvCxnSpPr>
          <p:nvPr/>
        </p:nvCxnSpPr>
        <p:spPr>
          <a:xfrm xmlns:a="http://schemas.openxmlformats.org/drawingml/2006/main">
            <a:off x="2305050" y="3576638"/>
            <a:ext cx="381000" cy="0"/>
          </a:xfrm>
          <a:prstGeom xmlns:a="http://schemas.openxmlformats.org/drawingml/2006/main" prst="straightConnector1">
            <a:avLst/>
          </a:prstGeom>
          <a:ln xmlns:a="http://schemas.openxmlformats.org/drawingml/2006/main" w="20955">
            <a:solidFill>
              <a:srgbClr val="2868B2"/>
            </a:solidFill>
            <a:tailEnd type="triangle" w="sm" len="sm"/>
          </a:ln>
        </p:spPr>
      </p:cxnSp>
      <p:cxnSp>
        <p:nvCxnSpPr>
          <p:cNvPr id="90" name=""/>
          <p:cNvCxnSpPr>
            <a:stCxn xmlns:a="http://schemas.openxmlformats.org/drawingml/2006/main" id="13" idx="3"/>
            <a:endCxn xmlns:a="http://schemas.openxmlformats.org/drawingml/2006/main" id="17" idx="1"/>
          </p:cNvCxnSpPr>
          <p:nvPr/>
        </p:nvCxnSpPr>
        <p:spPr>
          <a:xfrm xmlns:a="http://schemas.openxmlformats.org/drawingml/2006/main" flipV="1">
            <a:off x="4648200" y="2466975"/>
            <a:ext cx="419100" cy="1109663"/>
          </a:xfrm>
          <a:prstGeom xmlns:a="http://schemas.openxmlformats.org/drawingml/2006/main" prst="bentConnector3">
            <a:avLst>
              <a:gd name="adj1" fmla="val 50000"/>
            </a:avLst>
          </a:prstGeom>
          <a:ln xmlns:a="http://schemas.openxmlformats.org/drawingml/2006/main" w="20955">
            <a:solidFill>
              <a:srgbClr val="2868B2"/>
            </a:solidFill>
            <a:tailEnd type="triangle" w="sm" len="sm"/>
          </a:ln>
        </p:spPr>
      </p:cxnSp>
      <p:cxnSp>
        <p:nvCxnSpPr>
          <p:cNvPr id="91" name=""/>
          <p:cNvCxnSpPr>
            <a:stCxn xmlns:a="http://schemas.openxmlformats.org/drawingml/2006/main" id="13" idx="3"/>
            <a:endCxn xmlns:a="http://schemas.openxmlformats.org/drawingml/2006/main" id="21" idx="1"/>
          </p:cNvCxnSpPr>
          <p:nvPr/>
        </p:nvCxnSpPr>
        <p:spPr>
          <a:xfrm xmlns:a="http://schemas.openxmlformats.org/drawingml/2006/main">
            <a:off x="4648200" y="3576638"/>
            <a:ext cx="419100" cy="1014413"/>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92" name=""/>
          <p:cNvCxnSpPr>
            <a:stCxn xmlns:a="http://schemas.openxmlformats.org/drawingml/2006/main" id="17" idx="3"/>
            <a:endCxn xmlns:a="http://schemas.openxmlformats.org/drawingml/2006/main" id="25" idx="1"/>
          </p:cNvCxnSpPr>
          <p:nvPr/>
        </p:nvCxnSpPr>
        <p:spPr>
          <a:xfrm xmlns:a="http://schemas.openxmlformats.org/drawingml/2006/main">
            <a:off x="7610475" y="2466975"/>
            <a:ext cx="495300" cy="1076325"/>
          </a:xfrm>
          <a:prstGeom xmlns:a="http://schemas.openxmlformats.org/drawingml/2006/main" prst="bentConnector3">
            <a:avLst>
              <a:gd name="adj1" fmla="val 50000"/>
            </a:avLst>
          </a:prstGeom>
          <a:ln xmlns:a="http://schemas.openxmlformats.org/drawingml/2006/main" w="20955">
            <a:solidFill>
              <a:srgbClr val="2868B2"/>
            </a:solidFill>
            <a:tailEnd type="triangle" w="sm" len="sm"/>
          </a:ln>
        </p:spPr>
      </p:cxnSp>
      <p:cxnSp>
        <p:nvCxnSpPr>
          <p:cNvPr id="93" name=""/>
          <p:cNvCxnSpPr>
            <a:stCxn xmlns:a="http://schemas.openxmlformats.org/drawingml/2006/main" id="21" idx="3"/>
            <a:endCxn xmlns:a="http://schemas.openxmlformats.org/drawingml/2006/main" id="25" idx="1"/>
          </p:cNvCxnSpPr>
          <p:nvPr/>
        </p:nvCxnSpPr>
        <p:spPr>
          <a:xfrm xmlns:a="http://schemas.openxmlformats.org/drawingml/2006/main" flipV="1">
            <a:off x="7610475" y="3543300"/>
            <a:ext cx="495300" cy="1047750"/>
          </a:xfrm>
          <a:prstGeom xmlns:a="http://schemas.openxmlformats.org/drawingml/2006/main" prst="bentConnector3">
            <a:avLst>
              <a:gd name="adj1" fmla="val 50000"/>
            </a:avLst>
          </a:prstGeom>
          <a:ln xmlns:a="http://schemas.openxmlformats.org/drawingml/2006/main" w="20955">
            <a:solidFill>
              <a:srgbClr val="168B83"/>
            </a:solidFill>
            <a:tailEnd type="triangle" w="sm" len="sm"/>
          </a:ln>
        </p:spPr>
      </p:cxnSp>
      <p:cxnSp>
        <p:nvCxnSpPr>
          <p:cNvPr id="94" name=""/>
          <p:cNvCxnSpPr>
            <a:stCxn xmlns:a="http://schemas.openxmlformats.org/drawingml/2006/main" id="25" idx="3"/>
            <a:endCxn xmlns:a="http://schemas.openxmlformats.org/drawingml/2006/main" id="29" idx="1"/>
          </p:cNvCxnSpPr>
          <p:nvPr/>
        </p:nvCxnSpPr>
        <p:spPr>
          <a:xfrm xmlns:a="http://schemas.openxmlformats.org/drawingml/2006/main">
            <a:off x="9810750" y="3543300"/>
            <a:ext cx="400050" cy="0"/>
          </a:xfrm>
          <a:prstGeom xmlns:a="http://schemas.openxmlformats.org/drawingml/2006/main" prst="straightConnector1">
            <a:avLst/>
          </a:prstGeom>
          <a:ln xmlns:a="http://schemas.openxmlformats.org/drawingml/2006/main" w="20955">
            <a:solidFill>
              <a:srgbClr val="D69A24"/>
            </a:solidFill>
            <a:tailEnd type="triangle" w="sm" len="sm"/>
          </a:ln>
        </p:spPr>
      </p:cxnSp>
      <p:sp>
        <p:nvSpPr>
          <p:cNvPr id="39" name="">
            <a:extLst xmlns:a="http://schemas.openxmlformats.org/drawingml/2006/main">
              <a:ext uri="{FF2B5EF4-FFF2-40B4-BE49-F238E27FC236}">
                <a16:creationId xmlns:a16="http://schemas.microsoft.com/office/drawing/2014/main" id="{073CCF3F-5B35-497F-B920-9C8D4C78A4CB}"/>
              </a:ext>
            </a:extLst>
          </p:cNvPr>
          <p:cNvSpPr>
            <a:spLocks xmlns:a="http://schemas.openxmlformats.org/drawingml/2006/main" noGrp="1"/>
          </p:cNvSpPr>
          <p:nvPr/>
        </p:nvSpPr>
        <p:spPr>
          <a:xfrm xmlns:a="http://schemas.openxmlformats.org/drawingml/2006/main">
            <a:off x="8105775" y="4619625"/>
            <a:ext cx="35242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1">
                <a:solidFill>
                  <a:srgbClr val="2868B2"/>
                </a:solidFill>
                <a:latin typeface="Arial"/>
                <a:ea typeface="Arial"/>
                <a:cs typeface="Arial"/>
              </a:defRPr>
            </a:pPr>
            <a:r>
              <a:rPr sz="1275" b="1">
                <a:solidFill>
                  <a:srgbClr val="2868B2"/>
                </a:solidFill>
                <a:latin typeface="Arial"/>
                <a:ea typeface="Arial"/>
                <a:cs typeface="Arial"/>
              </a:rPr>
              <a:t>OUTPUTS</a:t>
            </a:r>
          </a:p>
        </p:txBody>
      </p:sp>
      <p:sp>
        <p:nvSpPr>
          <p:cNvPr id="40" name="">
            <a:extLst xmlns:a="http://schemas.openxmlformats.org/drawingml/2006/main">
              <a:ext uri="{FF2B5EF4-FFF2-40B4-BE49-F238E27FC236}">
                <a16:creationId xmlns:a16="http://schemas.microsoft.com/office/drawing/2014/main" id="{4B227AA4-AC99-4128-A10C-1344ADC91A40}"/>
              </a:ext>
            </a:extLst>
          </p:cNvPr>
          <p:cNvSpPr>
            <a:spLocks xmlns:a="http://schemas.openxmlformats.org/drawingml/2006/main" noGrp="1"/>
          </p:cNvSpPr>
          <p:nvPr/>
        </p:nvSpPr>
        <p:spPr>
          <a:xfrm xmlns:a="http://schemas.openxmlformats.org/drawingml/2006/main">
            <a:off x="8105775" y="4933950"/>
            <a:ext cx="3600450" cy="638175"/>
          </a:xfrm>
          <a:prstGeom xmlns:a="http://schemas.openxmlformats.org/drawingml/2006/main" prst="roundRect">
            <a:avLst>
              <a:gd name="adj" fmla="val 1791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52667B"/>
                </a:solidFill>
                <a:latin typeface="Arial"/>
                <a:ea typeface="Arial"/>
                <a:cs typeface="Arial"/>
              </a:defRPr>
            </a:pPr>
            <a:r>
              <a:rPr sz="1425" b="0">
                <a:solidFill>
                  <a:srgbClr val="52667B"/>
                </a:solidFill>
                <a:latin typeface="Arial"/>
                <a:ea typeface="Arial"/>
                <a:cs typeface="Arial"/>
              </a:rPr>
              <a:t>Healthy · Weather · Sensor fault</a:t>
            </a:r>
          </a:p>
          <a:p xmlns:a="http://schemas.openxmlformats.org/drawingml/2006/main">
            <a:pPr algn="l">
              <a:defRPr sz="1425" b="0">
                <a:solidFill>
                  <a:srgbClr val="52667B"/>
                </a:solidFill>
                <a:latin typeface="Arial"/>
                <a:ea typeface="Arial"/>
                <a:cs typeface="Arial"/>
              </a:defRPr>
            </a:pPr>
            <a:r>
              <a:rPr sz="1425" b="0">
                <a:solidFill>
                  <a:srgbClr val="52667B"/>
                </a:solidFill>
                <a:latin typeface="Arial"/>
                <a:ea typeface="Arial"/>
                <a:cs typeface="Arial"/>
              </a:rPr>
              <a:t>Data issue · Complex · Needs review</a:t>
            </a:r>
          </a:p>
        </p:txBody>
      </p:sp>
      <p:sp>
        <p:nvSpPr>
          <p:cNvPr id="41" name="">
            <a:extLst xmlns:a="http://schemas.openxmlformats.org/drawingml/2006/main">
              <a:ext uri="{FF2B5EF4-FFF2-40B4-BE49-F238E27FC236}">
                <a16:creationId xmlns:a16="http://schemas.microsoft.com/office/drawing/2014/main" id="{EBA388A1-182B-4677-A11F-CB1308FE8B35}"/>
              </a:ext>
            </a:extLst>
          </p:cNvPr>
          <p:cNvSpPr>
            <a:spLocks xmlns:a="http://schemas.openxmlformats.org/drawingml/2006/main" noGrp="1"/>
          </p:cNvSpPr>
          <p:nvPr/>
        </p:nvSpPr>
        <p:spPr>
          <a:xfrm xmlns:a="http://schemas.openxmlformats.org/drawingml/2006/main">
            <a:off x="419100" y="5581650"/>
            <a:ext cx="7191375" cy="495300"/>
          </a:xfrm>
          <a:prstGeom xmlns:a="http://schemas.openxmlformats.org/drawingml/2006/main" prst="roundRect">
            <a:avLst>
              <a:gd name="adj" fmla="val 23077"/>
            </a:avLst>
          </a:prstGeom>
          <a:solidFill xmlns:a="http://schemas.openxmlformats.org/drawingml/2006/main">
            <a:srgbClr val="EEF5FD"/>
          </a:solidFill>
          <a:ln xmlns:a="http://schemas.openxmlformats.org/drawingml/2006/main" w="15240">
            <a:solidFill>
              <a:srgbClr val="CDDBE8"/>
            </a:solidFill>
          </a:ln>
        </p:spPr>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2a0006e5ce84456a">
            <a:extLst>
              <a:ext uri="{96DAC541-7B7A-43D3-8B79-37D633B846F1}">
                <asvg:svgBlip xmlns:asvg="http://schemas.microsoft.com/office/drawing/2016/SVG/main" r:embed="Rf037955d0abc4292"/>
              </a:ext>
            </a:extLst>
          </a:blip>
          <a:stretch xmlns:a="http://schemas.openxmlformats.org/drawingml/2006/main"/>
        </p:blipFill>
        <p:spPr>
          <a:xfrm xmlns:a="http://schemas.openxmlformats.org/drawingml/2006/main">
            <a:off x="581025" y="5695950"/>
            <a:ext cx="266700" cy="26670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359F9FE5-5075-482B-85CC-BC47EAAD8F10}"/>
              </a:ext>
            </a:extLst>
          </p:cNvPr>
          <p:cNvSpPr>
            <a:spLocks xmlns:a="http://schemas.openxmlformats.org/drawingml/2006/main" noGrp="1"/>
          </p:cNvSpPr>
          <p:nvPr/>
        </p:nvSpPr>
        <p:spPr>
          <a:xfrm xmlns:a="http://schemas.openxmlformats.org/drawingml/2006/main">
            <a:off x="962025" y="5715000"/>
            <a:ext cx="6477000" cy="266700"/>
          </a:xfrm>
          <a:prstGeom xmlns:a="http://schemas.openxmlformats.org/drawingml/2006/main" prst="roundRect">
            <a:avLst>
              <a:gd name="adj" fmla="val 4285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SQLite: raw observations, decisions, review history and correction proposals</a:t>
            </a:r>
          </a:p>
        </p:txBody>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85dbc97de0414665">
            <a:extLst>
              <a:ext uri="{96DAC541-7B7A-43D3-8B79-37D633B846F1}">
                <asvg:svgBlip xmlns:asvg="http://schemas.microsoft.com/office/drawing/2016/SVG/main" r:embed="R0bb0887e724e4d68"/>
              </a:ext>
            </a:extLst>
          </a:blip>
          <a:stretch xmlns:a="http://schemas.openxmlformats.org/drawingml/2006/main"/>
        </p:blipFill>
        <p:spPr>
          <a:xfrm xmlns:a="http://schemas.openxmlformats.org/drawingml/2006/main">
            <a:off x="1619250" y="6153150"/>
            <a:ext cx="228600" cy="228600"/>
          </a:xfrm>
          <a:prstGeom xmlns:a="http://schemas.openxmlformats.org/drawingml/2006/main" prst="rect">
            <a:avLst/>
          </a:prstGeom>
        </p:spPr>
      </p:pic>
      <p:sp>
        <p:nvSpPr>
          <p:cNvPr id="45" name="">
            <a:extLst xmlns:a="http://schemas.openxmlformats.org/drawingml/2006/main">
              <a:ext uri="{FF2B5EF4-FFF2-40B4-BE49-F238E27FC236}">
                <a16:creationId xmlns:a16="http://schemas.microsoft.com/office/drawing/2014/main" id="{6FB58074-E625-4174-AC0D-9D9CCD19BA19}"/>
              </a:ext>
            </a:extLst>
          </p:cNvPr>
          <p:cNvSpPr>
            <a:spLocks xmlns:a="http://schemas.openxmlformats.org/drawingml/2006/main" noGrp="1"/>
          </p:cNvSpPr>
          <p:nvPr/>
        </p:nvSpPr>
        <p:spPr>
          <a:xfrm xmlns:a="http://schemas.openxmlformats.org/drawingml/2006/main">
            <a:off x="1924050" y="6191250"/>
            <a:ext cx="1209675"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52667B"/>
                </a:solidFill>
                <a:latin typeface="Arial"/>
                <a:ea typeface="Arial"/>
                <a:cs typeface="Arial"/>
              </a:defRPr>
            </a:pPr>
            <a:r>
              <a:rPr sz="1200" b="1">
                <a:solidFill>
                  <a:srgbClr val="52667B"/>
                </a:solidFill>
                <a:latin typeface="Arial"/>
                <a:ea typeface="Arial"/>
                <a:cs typeface="Arial"/>
              </a:rPr>
              <a:t>React</a:t>
            </a:r>
          </a:p>
        </p:txBody>
      </p:sp>
      <p:pic>
        <p:nvPicPr>
          <p:cNvPr id="102" name=""/>
          <p:cNvPicPr>
            <a:picLocks xmlns:a="http://schemas.openxmlformats.org/drawingml/2006/main" noChangeAspect="1"/>
          </p:cNvPicPr>
          <p:nvPr/>
        </p:nvPicPr>
        <p:blipFill>
          <a:blip xmlns:r="http://schemas.openxmlformats.org/officeDocument/2006/relationships" xmlns:a="http://schemas.openxmlformats.org/drawingml/2006/main" r:embed="R47d05bb5516047c7">
            <a:extLst>
              <a:ext uri="{96DAC541-7B7A-43D3-8B79-37D633B846F1}">
                <asvg:svgBlip xmlns:asvg="http://schemas.microsoft.com/office/drawing/2016/SVG/main" r:embed="Rd6594763af67477d"/>
              </a:ext>
            </a:extLst>
          </a:blip>
          <a:stretch xmlns:a="http://schemas.openxmlformats.org/drawingml/2006/main"/>
        </p:blipFill>
        <p:spPr>
          <a:xfrm xmlns:a="http://schemas.openxmlformats.org/drawingml/2006/main">
            <a:off x="3257550" y="6153150"/>
            <a:ext cx="228600" cy="228600"/>
          </a:xfrm>
          <a:prstGeom xmlns:a="http://schemas.openxmlformats.org/drawingml/2006/main" prst="rect">
            <a:avLst/>
          </a:prstGeom>
        </p:spPr>
      </p:pic>
      <p:sp>
        <p:nvSpPr>
          <p:cNvPr id="47" name="">
            <a:extLst xmlns:a="http://schemas.openxmlformats.org/drawingml/2006/main">
              <a:ext uri="{FF2B5EF4-FFF2-40B4-BE49-F238E27FC236}">
                <a16:creationId xmlns:a16="http://schemas.microsoft.com/office/drawing/2014/main" id="{7FD5B74B-68C8-447A-9D7A-235857392C2F}"/>
              </a:ext>
            </a:extLst>
          </p:cNvPr>
          <p:cNvSpPr>
            <a:spLocks xmlns:a="http://schemas.openxmlformats.org/drawingml/2006/main" noGrp="1"/>
          </p:cNvSpPr>
          <p:nvPr/>
        </p:nvSpPr>
        <p:spPr>
          <a:xfrm xmlns:a="http://schemas.openxmlformats.org/drawingml/2006/main">
            <a:off x="3562350" y="6191250"/>
            <a:ext cx="1209675"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52667B"/>
                </a:solidFill>
                <a:latin typeface="Arial"/>
                <a:ea typeface="Arial"/>
                <a:cs typeface="Arial"/>
              </a:defRPr>
            </a:pPr>
            <a:r>
              <a:rPr sz="1200" b="1">
                <a:solidFill>
                  <a:srgbClr val="52667B"/>
                </a:solidFill>
                <a:latin typeface="Arial"/>
                <a:ea typeface="Arial"/>
                <a:cs typeface="Arial"/>
              </a:rPr>
              <a:t>Three.js</a:t>
            </a:r>
          </a:p>
        </p:txBody>
      </p:sp>
      <p:pic>
        <p:nvPicPr>
          <p:cNvPr id="104" name=""/>
          <p:cNvPicPr>
            <a:picLocks xmlns:a="http://schemas.openxmlformats.org/drawingml/2006/main" noChangeAspect="1"/>
          </p:cNvPicPr>
          <p:nvPr/>
        </p:nvPicPr>
        <p:blipFill>
          <a:blip xmlns:r="http://schemas.openxmlformats.org/officeDocument/2006/relationships" xmlns:a="http://schemas.openxmlformats.org/drawingml/2006/main" r:embed="R4d45580e183d4e1d">
            <a:extLst>
              <a:ext uri="{96DAC541-7B7A-43D3-8B79-37D633B846F1}">
                <asvg:svgBlip xmlns:asvg="http://schemas.microsoft.com/office/drawing/2016/SVG/main" r:embed="R3ad59aa38bb141fc"/>
              </a:ext>
            </a:extLst>
          </a:blip>
          <a:stretch xmlns:a="http://schemas.openxmlformats.org/drawingml/2006/main"/>
        </p:blipFill>
        <p:spPr>
          <a:xfrm xmlns:a="http://schemas.openxmlformats.org/drawingml/2006/main">
            <a:off x="4895850" y="6153150"/>
            <a:ext cx="228600" cy="228600"/>
          </a:xfrm>
          <a:prstGeom xmlns:a="http://schemas.openxmlformats.org/drawingml/2006/main" prst="rect">
            <a:avLst/>
          </a:prstGeom>
        </p:spPr>
      </p:pic>
      <p:sp>
        <p:nvSpPr>
          <p:cNvPr id="49" name="">
            <a:extLst xmlns:a="http://schemas.openxmlformats.org/drawingml/2006/main">
              <a:ext uri="{FF2B5EF4-FFF2-40B4-BE49-F238E27FC236}">
                <a16:creationId xmlns:a16="http://schemas.microsoft.com/office/drawing/2014/main" id="{BC7CB3A7-92B8-4908-A293-C2496F6C6ECC}"/>
              </a:ext>
            </a:extLst>
          </p:cNvPr>
          <p:cNvSpPr>
            <a:spLocks xmlns:a="http://schemas.openxmlformats.org/drawingml/2006/main" noGrp="1"/>
          </p:cNvSpPr>
          <p:nvPr/>
        </p:nvSpPr>
        <p:spPr>
          <a:xfrm xmlns:a="http://schemas.openxmlformats.org/drawingml/2006/main">
            <a:off x="5200650" y="6191250"/>
            <a:ext cx="1209675"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52667B"/>
                </a:solidFill>
                <a:latin typeface="Arial"/>
                <a:ea typeface="Arial"/>
                <a:cs typeface="Arial"/>
              </a:defRPr>
            </a:pPr>
            <a:r>
              <a:rPr sz="1200" b="1">
                <a:solidFill>
                  <a:srgbClr val="52667B"/>
                </a:solidFill>
                <a:latin typeface="Arial"/>
                <a:ea typeface="Arial"/>
                <a:cs typeface="Arial"/>
              </a:rPr>
              <a:t>FastAPI</a:t>
            </a:r>
          </a:p>
        </p:txBody>
      </p:sp>
      <p:pic>
        <p:nvPicPr>
          <p:cNvPr id="106" name=""/>
          <p:cNvPicPr>
            <a:picLocks xmlns:a="http://schemas.openxmlformats.org/drawingml/2006/main" noChangeAspect="1"/>
          </p:cNvPicPr>
          <p:nvPr/>
        </p:nvPicPr>
        <p:blipFill>
          <a:blip xmlns:r="http://schemas.openxmlformats.org/officeDocument/2006/relationships" xmlns:a="http://schemas.openxmlformats.org/drawingml/2006/main" r:embed="R4beb973456a347fa">
            <a:extLst>
              <a:ext uri="{96DAC541-7B7A-43D3-8B79-37D633B846F1}">
                <asvg:svgBlip xmlns:asvg="http://schemas.microsoft.com/office/drawing/2016/SVG/main" r:embed="Rc3edaaddf00c44a1"/>
              </a:ext>
            </a:extLst>
          </a:blip>
          <a:stretch xmlns:a="http://schemas.openxmlformats.org/drawingml/2006/main"/>
        </p:blipFill>
        <p:spPr>
          <a:xfrm xmlns:a="http://schemas.openxmlformats.org/drawingml/2006/main">
            <a:off x="6534150" y="6153150"/>
            <a:ext cx="228600" cy="22860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D0BE4657-7C56-4C9B-9429-6034952DE619}"/>
              </a:ext>
            </a:extLst>
          </p:cNvPr>
          <p:cNvSpPr>
            <a:spLocks xmlns:a="http://schemas.openxmlformats.org/drawingml/2006/main" noGrp="1"/>
          </p:cNvSpPr>
          <p:nvPr/>
        </p:nvSpPr>
        <p:spPr>
          <a:xfrm xmlns:a="http://schemas.openxmlformats.org/drawingml/2006/main">
            <a:off x="6838950" y="6191250"/>
            <a:ext cx="1209675"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52667B"/>
                </a:solidFill>
                <a:latin typeface="Arial"/>
                <a:ea typeface="Arial"/>
                <a:cs typeface="Arial"/>
              </a:defRPr>
            </a:pPr>
            <a:r>
              <a:rPr sz="1200" b="1">
                <a:solidFill>
                  <a:srgbClr val="52667B"/>
                </a:solidFill>
                <a:latin typeface="Arial"/>
                <a:ea typeface="Arial"/>
                <a:cs typeface="Arial"/>
              </a:rPr>
              <a:t>Python</a:t>
            </a:r>
          </a:p>
        </p:txBody>
      </p:sp>
      <p:pic>
        <p:nvPicPr>
          <p:cNvPr id="108" name=""/>
          <p:cNvPicPr>
            <a:picLocks xmlns:a="http://schemas.openxmlformats.org/drawingml/2006/main" noChangeAspect="1"/>
          </p:cNvPicPr>
          <p:nvPr/>
        </p:nvPicPr>
        <p:blipFill>
          <a:blip xmlns:r="http://schemas.openxmlformats.org/officeDocument/2006/relationships" xmlns:a="http://schemas.openxmlformats.org/drawingml/2006/main" r:embed="Rbf8b3f6140204d7f">
            <a:extLst>
              <a:ext uri="{96DAC541-7B7A-43D3-8B79-37D633B846F1}">
                <asvg:svgBlip xmlns:asvg="http://schemas.microsoft.com/office/drawing/2016/SVG/main" r:embed="Rdc821fe34bc047dd"/>
              </a:ext>
            </a:extLst>
          </a:blip>
          <a:stretch xmlns:a="http://schemas.openxmlformats.org/drawingml/2006/main"/>
        </p:blipFill>
        <p:spPr>
          <a:xfrm xmlns:a="http://schemas.openxmlformats.org/drawingml/2006/main">
            <a:off x="8172450" y="6153150"/>
            <a:ext cx="228600" cy="22860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63CFF963-1D9A-4282-A795-A1E40B41D9C5}"/>
              </a:ext>
            </a:extLst>
          </p:cNvPr>
          <p:cNvSpPr>
            <a:spLocks xmlns:a="http://schemas.openxmlformats.org/drawingml/2006/main" noGrp="1"/>
          </p:cNvSpPr>
          <p:nvPr/>
        </p:nvSpPr>
        <p:spPr>
          <a:xfrm xmlns:a="http://schemas.openxmlformats.org/drawingml/2006/main">
            <a:off x="8477250" y="6191250"/>
            <a:ext cx="1209675"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52667B"/>
                </a:solidFill>
                <a:latin typeface="Arial"/>
                <a:ea typeface="Arial"/>
                <a:cs typeface="Arial"/>
              </a:defRPr>
            </a:pPr>
            <a:r>
              <a:rPr sz="1200" b="1">
                <a:solidFill>
                  <a:srgbClr val="52667B"/>
                </a:solidFill>
                <a:latin typeface="Arial"/>
                <a:ea typeface="Arial"/>
                <a:cs typeface="Arial"/>
              </a:rPr>
              <a:t>SQLite</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863a480367204092">
            <a:extLst>
              <a:ext uri="{96DAC541-7B7A-43D3-8B79-37D633B846F1}">
                <asvg:svgBlip xmlns:asvg="http://schemas.microsoft.com/office/drawing/2016/SVG/main" r:embed="R1936b7c1f5654bc0"/>
              </a:ext>
            </a:extLst>
          </a:blip>
          <a:stretch xmlns:a="http://schemas.openxmlformats.org/drawingml/2006/main"/>
        </p:blipFill>
        <p:spPr>
          <a:xfrm xmlns:a="http://schemas.openxmlformats.org/drawingml/2006/main">
            <a:off x="9810750" y="6153150"/>
            <a:ext cx="228600" cy="228600"/>
          </a:xfrm>
          <a:prstGeom xmlns:a="http://schemas.openxmlformats.org/drawingml/2006/main" prst="rect">
            <a:avLst/>
          </a:prstGeom>
        </p:spPr>
      </p:pic>
      <p:sp>
        <p:nvSpPr>
          <p:cNvPr id="55" name="">
            <a:extLst xmlns:a="http://schemas.openxmlformats.org/drawingml/2006/main">
              <a:ext uri="{FF2B5EF4-FFF2-40B4-BE49-F238E27FC236}">
                <a16:creationId xmlns:a16="http://schemas.microsoft.com/office/drawing/2014/main" id="{D998F392-23C1-4669-9D07-D4EA8E0873EB}"/>
              </a:ext>
            </a:extLst>
          </p:cNvPr>
          <p:cNvSpPr>
            <a:spLocks xmlns:a="http://schemas.openxmlformats.org/drawingml/2006/main" noGrp="1"/>
          </p:cNvSpPr>
          <p:nvPr/>
        </p:nvSpPr>
        <p:spPr>
          <a:xfrm xmlns:a="http://schemas.openxmlformats.org/drawingml/2006/main">
            <a:off x="10115550" y="6191250"/>
            <a:ext cx="1209675"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52667B"/>
                </a:solidFill>
                <a:latin typeface="Arial"/>
                <a:ea typeface="Arial"/>
                <a:cs typeface="Arial"/>
              </a:defRPr>
            </a:pPr>
            <a:r>
              <a:rPr sz="1200" b="1">
                <a:solidFill>
                  <a:srgbClr val="52667B"/>
                </a:solidFill>
                <a:latin typeface="Arial"/>
                <a:ea typeface="Arial"/>
                <a:cs typeface="Arial"/>
              </a:rPr>
              <a:t>scikit-learn</a:t>
            </a:r>
          </a:p>
        </p:txBody>
      </p:sp>
      <p:sp>
        <p:nvSpPr>
          <p:cNvPr id="56" name="">
            <a:extLst xmlns:a="http://schemas.openxmlformats.org/drawingml/2006/main">
              <a:ext uri="{FF2B5EF4-FFF2-40B4-BE49-F238E27FC236}">
                <a16:creationId xmlns:a16="http://schemas.microsoft.com/office/drawing/2014/main" id="{7D707D2A-CA90-44CB-BD3D-13AF095C5670}"/>
              </a:ext>
            </a:extLst>
          </p:cNvPr>
          <p:cNvSpPr>
            <a:spLocks xmlns:a="http://schemas.openxmlformats.org/drawingml/2006/main" noGrp="1"/>
          </p:cNvSpPr>
          <p:nvPr/>
        </p:nvSpPr>
        <p:spPr>
          <a:xfrm xmlns:a="http://schemas.openxmlformats.org/drawingml/2006/main">
            <a:off x="419100" y="6191250"/>
            <a:ext cx="857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1">
                <a:solidFill>
                  <a:srgbClr val="2868B2"/>
                </a:solidFill>
                <a:latin typeface="Arial"/>
                <a:ea typeface="Arial"/>
                <a:cs typeface="Arial"/>
              </a:defRPr>
            </a:pPr>
            <a:r>
              <a:rPr sz="1200" b="1">
                <a:solidFill>
                  <a:srgbClr val="2868B2"/>
                </a:solidFill>
                <a:latin typeface="Arial"/>
                <a:ea typeface="Arial"/>
                <a:cs typeface="Arial"/>
              </a:rPr>
              <a:t>STACK</a:t>
            </a:r>
          </a:p>
        </p:txBody>
      </p:sp>
    </p:spTree>
    <p:extLst>
      <p:ext uri="{BB962C8B-B14F-4D97-AF65-F5344CB8AC3E}">
        <p14:creationId xmlns:p14="http://schemas.microsoft.com/office/powerpoint/2010/main" val="18959105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6D4E6A42-2642-40D0-9D30-D26A1EB03097}"/>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04B17523-B14B-48BF-8AE0-ADDA5D19B644}"/>
              </a:ext>
            </a:extLst>
          </p:cNvPr>
          <p:cNvSpPr>
            <a:spLocks xmlns:a="http://schemas.openxmlformats.org/drawingml/2006/main" noGrp="1"/>
          </p:cNvSpPr>
          <p:nvPr/>
        </p:nvSpPr>
        <p:spPr>
          <a:xfrm xmlns:a="http://schemas.openxmlformats.org/drawingml/2006/main">
            <a:off x="2381250" y="209550"/>
            <a:ext cx="6953250" cy="495300"/>
          </a:xfrm>
          <a:prstGeom xmlns:a="http://schemas.openxmlformats.org/drawingml/2006/main" prst="roundRect">
            <a:avLst>
              <a:gd name="adj" fmla="val 2307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FEASIBILITY &amp; VIABILITY</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7ec7a023eb0d42fa"/>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1B89412-3C14-4AEF-91BC-DFD742FF7203}"/>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5CCF22DC-17BF-456F-8C56-260C1390617D}"/>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oundRect">
            <a:avLst>
              <a:gd name="adj" fmla="val 28571"/>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A working software prototype with a defined path to field validation.</a:t>
            </a:r>
          </a:p>
        </p:txBody>
      </p:sp>
      <p:sp>
        <p:nvSpPr>
          <p:cNvPr id="6" name="">
            <a:extLst xmlns:a="http://schemas.openxmlformats.org/drawingml/2006/main">
              <a:ext uri="{FF2B5EF4-FFF2-40B4-BE49-F238E27FC236}">
                <a16:creationId xmlns:a16="http://schemas.microsoft.com/office/drawing/2014/main" id="{A41B96BE-6006-4CA0-A3B2-7DC2AFC02A34}"/>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oundRect">
            <a:avLst>
              <a:gd name="adj" fmla="val 31579"/>
            </a:avLst>
          </a:prstGeom>
          <a:solidFill xmlns:a="http://schemas.openxmlformats.org/drawingml/2006/main">
            <a:srgbClr val="2868B2"/>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E8B86537-0FC9-4ABE-BD64-8870BA61C764}"/>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A8F5801C-5613-4FB4-A659-0A15FDCC3C2F}"/>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04</a:t>
            </a:r>
          </a:p>
        </p:txBody>
      </p:sp>
      <p:sp>
        <p:nvSpPr>
          <p:cNvPr id="9" name="">
            <a:extLst xmlns:a="http://schemas.openxmlformats.org/drawingml/2006/main">
              <a:ext uri="{FF2B5EF4-FFF2-40B4-BE49-F238E27FC236}">
                <a16:creationId xmlns:a16="http://schemas.microsoft.com/office/drawing/2014/main" id="{8272CB65-5F48-4030-859D-5D2C8AE580DD}"/>
              </a:ext>
            </a:extLst>
          </p:cNvPr>
          <p:cNvSpPr>
            <a:spLocks xmlns:a="http://schemas.openxmlformats.org/drawingml/2006/main" noGrp="1"/>
          </p:cNvSpPr>
          <p:nvPr/>
        </p:nvSpPr>
        <p:spPr>
          <a:xfrm xmlns:a="http://schemas.openxmlformats.org/drawingml/2006/main">
            <a:off x="419100" y="1628775"/>
            <a:ext cx="5210175" cy="1238250"/>
          </a:xfrm>
          <a:prstGeom xmlns:a="http://schemas.openxmlformats.org/drawingml/2006/main" prst="roundRect">
            <a:avLst>
              <a:gd name="adj" fmla="val 9231"/>
            </a:avLst>
          </a:prstGeom>
          <a:solidFill xmlns:a="http://schemas.openxmlformats.org/drawingml/2006/main">
            <a:srgbClr val="EEF5FD"/>
          </a:solidFill>
          <a:ln xmlns:a="http://schemas.openxmlformats.org/drawingml/2006/main" w="15240">
            <a:solidFill>
              <a:srgbClr val="2868B2"/>
            </a:solidFill>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6d1a273a3ab2484b">
            <a:extLst>
              <a:ext uri="{96DAC541-7B7A-43D3-8B79-37D633B846F1}">
                <asvg:svgBlip xmlns:asvg="http://schemas.microsoft.com/office/drawing/2016/SVG/main" r:embed="R59dc0a3acd0749f1"/>
              </a:ext>
            </a:extLst>
          </a:blip>
          <a:stretch xmlns:a="http://schemas.openxmlformats.org/drawingml/2006/main"/>
        </p:blipFill>
        <p:spPr>
          <a:xfrm xmlns:a="http://schemas.openxmlformats.org/drawingml/2006/main">
            <a:off x="590550" y="1800225"/>
            <a:ext cx="285750" cy="285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DEE2D72-8F69-4D2E-A22F-C609B43A4D4F}"/>
              </a:ext>
            </a:extLst>
          </p:cNvPr>
          <p:cNvSpPr>
            <a:spLocks xmlns:a="http://schemas.openxmlformats.org/drawingml/2006/main" noGrp="1"/>
          </p:cNvSpPr>
          <p:nvPr/>
        </p:nvSpPr>
        <p:spPr>
          <a:xfrm xmlns:a="http://schemas.openxmlformats.org/drawingml/2006/main">
            <a:off x="990600" y="1809750"/>
            <a:ext cx="44672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Technical feasibility</a:t>
            </a:r>
          </a:p>
        </p:txBody>
      </p:sp>
      <p:sp>
        <p:nvSpPr>
          <p:cNvPr id="12" name="">
            <a:extLst xmlns:a="http://schemas.openxmlformats.org/drawingml/2006/main">
              <a:ext uri="{FF2B5EF4-FFF2-40B4-BE49-F238E27FC236}">
                <a16:creationId xmlns:a16="http://schemas.microsoft.com/office/drawing/2014/main" id="{12DC444D-EF02-4441-9A69-FEFCF31CA203}"/>
              </a:ext>
            </a:extLst>
          </p:cNvPr>
          <p:cNvSpPr>
            <a:spLocks xmlns:a="http://schemas.openxmlformats.org/drawingml/2006/main" noGrp="1"/>
          </p:cNvSpPr>
          <p:nvPr/>
        </p:nvSpPr>
        <p:spPr>
          <a:xfrm xmlns:a="http://schemas.openxmlformats.org/drawingml/2006/main">
            <a:off x="609600" y="2219325"/>
            <a:ext cx="4829175" cy="609600"/>
          </a:xfrm>
          <a:prstGeom xmlns:a="http://schemas.openxmlformats.org/drawingml/2006/main" prst="roundRect">
            <a:avLst>
              <a:gd name="adj" fmla="val 1875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Integrated map, reports and anomaly checks;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500 simulated stations with historical observations.</a:t>
            </a:r>
          </a:p>
        </p:txBody>
      </p:sp>
      <p:sp>
        <p:nvSpPr>
          <p:cNvPr id="13" name="">
            <a:extLst xmlns:a="http://schemas.openxmlformats.org/drawingml/2006/main">
              <a:ext uri="{FF2B5EF4-FFF2-40B4-BE49-F238E27FC236}">
                <a16:creationId xmlns:a16="http://schemas.microsoft.com/office/drawing/2014/main" id="{9D64BF41-A58E-4927-B70B-5DACEE50EFFE}"/>
              </a:ext>
            </a:extLst>
          </p:cNvPr>
          <p:cNvSpPr>
            <a:spLocks xmlns:a="http://schemas.openxmlformats.org/drawingml/2006/main" noGrp="1"/>
          </p:cNvSpPr>
          <p:nvPr/>
        </p:nvSpPr>
        <p:spPr>
          <a:xfrm xmlns:a="http://schemas.openxmlformats.org/drawingml/2006/main">
            <a:off x="419100" y="3057525"/>
            <a:ext cx="5210175" cy="1238250"/>
          </a:xfrm>
          <a:prstGeom xmlns:a="http://schemas.openxmlformats.org/drawingml/2006/main" prst="roundRect">
            <a:avLst>
              <a:gd name="adj" fmla="val 9231"/>
            </a:avLst>
          </a:prstGeom>
          <a:solidFill xmlns:a="http://schemas.openxmlformats.org/drawingml/2006/main">
            <a:srgbClr val="EDF8F5"/>
          </a:solidFill>
          <a:ln xmlns:a="http://schemas.openxmlformats.org/drawingml/2006/main" w="15240">
            <a:solidFill>
              <a:srgbClr val="168B83"/>
            </a:solidFill>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c3acae5a2d5e4919">
            <a:extLst>
              <a:ext uri="{96DAC541-7B7A-43D3-8B79-37D633B846F1}">
                <asvg:svgBlip xmlns:asvg="http://schemas.microsoft.com/office/drawing/2016/SVG/main" r:embed="Rc5d5f8e92a694f62"/>
              </a:ext>
            </a:extLst>
          </a:blip>
          <a:stretch xmlns:a="http://schemas.openxmlformats.org/drawingml/2006/main"/>
        </p:blipFill>
        <p:spPr>
          <a:xfrm xmlns:a="http://schemas.openxmlformats.org/drawingml/2006/main">
            <a:off x="590550" y="3228975"/>
            <a:ext cx="285750" cy="285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A410032-79B2-4363-BCED-1D1884B6DAE8}"/>
              </a:ext>
            </a:extLst>
          </p:cNvPr>
          <p:cNvSpPr>
            <a:spLocks xmlns:a="http://schemas.openxmlformats.org/drawingml/2006/main" noGrp="1"/>
          </p:cNvSpPr>
          <p:nvPr/>
        </p:nvSpPr>
        <p:spPr>
          <a:xfrm xmlns:a="http://schemas.openxmlformats.org/drawingml/2006/main">
            <a:off x="990600" y="3238500"/>
            <a:ext cx="446722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Operational viability</a:t>
            </a:r>
          </a:p>
        </p:txBody>
      </p:sp>
      <p:sp>
        <p:nvSpPr>
          <p:cNvPr id="16" name="">
            <a:extLst xmlns:a="http://schemas.openxmlformats.org/drawingml/2006/main">
              <a:ext uri="{FF2B5EF4-FFF2-40B4-BE49-F238E27FC236}">
                <a16:creationId xmlns:a16="http://schemas.microsoft.com/office/drawing/2014/main" id="{0DAB9213-9F29-4F04-A39F-A2E787B83F46}"/>
              </a:ext>
            </a:extLst>
          </p:cNvPr>
          <p:cNvSpPr>
            <a:spLocks xmlns:a="http://schemas.openxmlformats.org/drawingml/2006/main" noGrp="1"/>
          </p:cNvSpPr>
          <p:nvPr/>
        </p:nvSpPr>
        <p:spPr>
          <a:xfrm xmlns:a="http://schemas.openxmlformats.org/drawingml/2006/main">
            <a:off x="609600" y="3648075"/>
            <a:ext cx="4829175" cy="609600"/>
          </a:xfrm>
          <a:prstGeom xmlns:a="http://schemas.openxmlformats.org/drawingml/2006/main" prst="roundRect">
            <a:avLst>
              <a:gd name="adj" fmla="val 1875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Open-source stack and existing T/P/RH inputs.</a:t>
            </a:r>
          </a:p>
          <a:p xmlns:a="http://schemas.openxmlformats.org/drawingml/2006/main">
            <a:pPr algn="l">
              <a:defRPr sz="1500" b="0">
                <a:solidFill>
                  <a:srgbClr val="52667B"/>
                </a:solidFill>
                <a:latin typeface="Arial"/>
                <a:ea typeface="Arial"/>
                <a:cs typeface="Arial"/>
              </a:defRPr>
            </a:pPr>
            <a:r>
              <a:rPr sz="1500" b="0">
                <a:solidFill>
                  <a:srgbClr val="52667B"/>
                </a:solidFill>
                <a:latin typeface="Arial"/>
                <a:ea typeface="Arial"/>
                <a:cs typeface="Arial"/>
              </a:rPr>
              <a:t>Deployment and support costs need pilot measurement.</a:t>
            </a:r>
          </a:p>
        </p:txBody>
      </p:sp>
      <p:cxnSp>
        <p:nvCxnSpPr>
          <p:cNvPr id="58" name=""/>
          <p:cNvCxnSpPr>
            <a:stCxn xmlns:a="http://schemas.openxmlformats.org/drawingml/2006/main" id="9" idx="2"/>
            <a:endCxn xmlns:a="http://schemas.openxmlformats.org/drawingml/2006/main" id="13" idx="0"/>
          </p:cNvCxnSpPr>
          <p:nvPr/>
        </p:nvCxnSpPr>
        <p:spPr>
          <a:xfrm xmlns:a="http://schemas.openxmlformats.org/drawingml/2006/main">
            <a:off x="3024188" y="2867025"/>
            <a:ext cx="0" cy="19050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18" name="">
            <a:extLst xmlns:a="http://schemas.openxmlformats.org/drawingml/2006/main">
              <a:ext uri="{FF2B5EF4-FFF2-40B4-BE49-F238E27FC236}">
                <a16:creationId xmlns:a16="http://schemas.microsoft.com/office/drawing/2014/main" id="{431328DA-94DF-4A34-8923-B5BAD9E72BA0}"/>
              </a:ext>
            </a:extLst>
          </p:cNvPr>
          <p:cNvSpPr>
            <a:spLocks xmlns:a="http://schemas.openxmlformats.org/drawingml/2006/main" noGrp="1"/>
          </p:cNvSpPr>
          <p:nvPr/>
        </p:nvSpPr>
        <p:spPr>
          <a:xfrm xmlns:a="http://schemas.openxmlformats.org/drawingml/2006/main">
            <a:off x="419100" y="4505325"/>
            <a:ext cx="5334000" cy="304800"/>
          </a:xfrm>
          <a:prstGeom xmlns:a="http://schemas.openxmlformats.org/drawingml/2006/main" prst="roundRect">
            <a:avLst>
              <a:gd name="adj" fmla="val 375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1">
                <a:solidFill>
                  <a:srgbClr val="2868B2"/>
                </a:solidFill>
                <a:latin typeface="Arial"/>
                <a:ea typeface="Arial"/>
                <a:cs typeface="Arial"/>
              </a:defRPr>
            </a:pPr>
            <a:r>
              <a:rPr sz="1500" b="1">
                <a:solidFill>
                  <a:srgbClr val="2868B2"/>
                </a:solidFill>
                <a:latin typeface="Arial"/>
                <a:ea typeface="Arial"/>
                <a:cs typeface="Arial"/>
              </a:rPr>
              <a:t>FAULT RECALL (%) · PAIRED SYNTHETIC TEST</a:t>
            </a:r>
          </a:p>
        </p:txBody>
      </p:sp>
      <p:graphicFrame>
        <p:nvGraphicFramePr>
          <p:cNvPr id="60" name="Chart"/>
          <p:cNvGraphicFramePr/>
          <p:nvPr/>
        </p:nvGraphicFramePr>
        <p:xfrm>
          <a:off xmlns:a="http://schemas.openxmlformats.org/drawingml/2006/main" x="419100" y="4857750"/>
          <a:ext xmlns:a="http://schemas.openxmlformats.org/drawingml/2006/main" cx="5143500" cy="1104900"/>
        </p:xfrm>
        <a:graphic xmlns:a="http://schemas.openxmlformats.org/drawingml/2006/main">
          <a:graphicData uri="http://schemas.openxmlformats.org/drawingml/2006/chart">
            <c:chart xmlns:r="http://schemas.openxmlformats.org/officeDocument/2006/relationships" xmlns:c="http://schemas.openxmlformats.org/drawingml/2006/chart" r:id="R8112e5f3a65d4d2f"/>
          </a:graphicData>
        </a:graphic>
      </p:graphicFrame>
      <p:sp>
        <p:nvSpPr>
          <p:cNvPr id="20" name="">
            <a:extLst xmlns:a="http://schemas.openxmlformats.org/drawingml/2006/main">
              <a:ext uri="{FF2B5EF4-FFF2-40B4-BE49-F238E27FC236}">
                <a16:creationId xmlns:a16="http://schemas.microsoft.com/office/drawing/2014/main" id="{88744286-4D9A-480F-BCF4-3E02C2F18586}"/>
              </a:ext>
            </a:extLst>
          </p:cNvPr>
          <p:cNvSpPr>
            <a:spLocks xmlns:a="http://schemas.openxmlformats.org/drawingml/2006/main" noGrp="1"/>
          </p:cNvSpPr>
          <p:nvPr/>
        </p:nvSpPr>
        <p:spPr>
          <a:xfrm xmlns:a="http://schemas.openxmlformats.org/drawingml/2006/main">
            <a:off x="419100" y="6067425"/>
            <a:ext cx="5762625"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2667B"/>
                </a:solidFill>
                <a:latin typeface="Arial"/>
                <a:ea typeface="Arial"/>
                <a:cs typeface="Arial"/>
              </a:defRPr>
            </a:pPr>
            <a:r>
              <a:rPr sz="1200" b="0">
                <a:solidFill>
                  <a:srgbClr val="52667B"/>
                </a:solidFill>
                <a:latin typeface="Arial"/>
                <a:ea typeface="Arial"/>
                <a:cs typeface="Arial"/>
              </a:rPr>
              <a:t>4,032 observations · 24 unseen station identities · 7 scenarios</a:t>
            </a:r>
          </a:p>
        </p:txBody>
      </p:sp>
      <p:sp>
        <p:nvSpPr>
          <p:cNvPr id="21" name="">
            <a:extLst xmlns:a="http://schemas.openxmlformats.org/drawingml/2006/main">
              <a:ext uri="{FF2B5EF4-FFF2-40B4-BE49-F238E27FC236}">
                <a16:creationId xmlns:a16="http://schemas.microsoft.com/office/drawing/2014/main" id="{45DBE28C-4D4E-4B79-A96F-75C5CEDC7755}"/>
              </a:ext>
            </a:extLst>
          </p:cNvPr>
          <p:cNvSpPr>
            <a:spLocks xmlns:a="http://schemas.openxmlformats.org/drawingml/2006/main" noGrp="1"/>
          </p:cNvSpPr>
          <p:nvPr/>
        </p:nvSpPr>
        <p:spPr>
          <a:xfrm xmlns:a="http://schemas.openxmlformats.org/drawingml/2006/main">
            <a:off x="6286500" y="1590675"/>
            <a:ext cx="2333625"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CHALLENGE</a:t>
            </a:r>
          </a:p>
        </p:txBody>
      </p:sp>
      <p:sp>
        <p:nvSpPr>
          <p:cNvPr id="22" name="">
            <a:extLst xmlns:a="http://schemas.openxmlformats.org/drawingml/2006/main">
              <a:ext uri="{FF2B5EF4-FFF2-40B4-BE49-F238E27FC236}">
                <a16:creationId xmlns:a16="http://schemas.microsoft.com/office/drawing/2014/main" id="{2E1CB578-6E24-419A-879C-2DF3E8E64A2F}"/>
              </a:ext>
            </a:extLst>
          </p:cNvPr>
          <p:cNvSpPr>
            <a:spLocks xmlns:a="http://schemas.openxmlformats.org/drawingml/2006/main" noGrp="1"/>
          </p:cNvSpPr>
          <p:nvPr/>
        </p:nvSpPr>
        <p:spPr>
          <a:xfrm xmlns:a="http://schemas.openxmlformats.org/drawingml/2006/main">
            <a:off x="9286875" y="1590675"/>
            <a:ext cx="2428875"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68B83"/>
                </a:solidFill>
                <a:latin typeface="Arial"/>
                <a:ea typeface="Arial"/>
                <a:cs typeface="Arial"/>
              </a:defRPr>
            </a:pPr>
            <a:r>
              <a:rPr sz="1350" b="1">
                <a:solidFill>
                  <a:srgbClr val="168B83"/>
                </a:solidFill>
                <a:latin typeface="Arial"/>
                <a:ea typeface="Arial"/>
                <a:cs typeface="Arial"/>
              </a:rPr>
              <a:t>RESPONSE</a:t>
            </a:r>
          </a:p>
        </p:txBody>
      </p:sp>
      <p:sp>
        <p:nvSpPr>
          <p:cNvPr id="23" name="">
            <a:extLst xmlns:a="http://schemas.openxmlformats.org/drawingml/2006/main">
              <a:ext uri="{FF2B5EF4-FFF2-40B4-BE49-F238E27FC236}">
                <a16:creationId xmlns:a16="http://schemas.microsoft.com/office/drawing/2014/main" id="{47A30BBD-716C-4AD9-A9E3-EFCC67C2F2A6}"/>
              </a:ext>
            </a:extLst>
          </p:cNvPr>
          <p:cNvSpPr>
            <a:spLocks xmlns:a="http://schemas.openxmlformats.org/drawingml/2006/main" noGrp="1"/>
          </p:cNvSpPr>
          <p:nvPr/>
        </p:nvSpPr>
        <p:spPr>
          <a:xfrm xmlns:a="http://schemas.openxmlformats.org/drawingml/2006/main">
            <a:off x="6286500" y="2085975"/>
            <a:ext cx="2333625" cy="1057275"/>
          </a:xfrm>
          <a:prstGeom xmlns:a="http://schemas.openxmlformats.org/drawingml/2006/main" prst="roundRect">
            <a:avLst>
              <a:gd name="adj" fmla="val 10811"/>
            </a:avLst>
          </a:prstGeom>
          <a:solidFill xmlns:a="http://schemas.openxmlformats.org/drawingml/2006/main">
            <a:srgbClr val="FFF7E6"/>
          </a:solidFill>
          <a:ln xmlns:a="http://schemas.openxmlformats.org/drawingml/2006/main" w="15240">
            <a:solidFill>
              <a:srgbClr val="D69A24"/>
            </a:solidFill>
          </a:ln>
        </p:spPr>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743d3f09e0994a3f">
            <a:extLst>
              <a:ext uri="{96DAC541-7B7A-43D3-8B79-37D633B846F1}">
                <asvg:svgBlip xmlns:asvg="http://schemas.microsoft.com/office/drawing/2016/SVG/main" r:embed="Ree65ab0e839a4e45"/>
              </a:ext>
            </a:extLst>
          </a:blip>
          <a:stretch xmlns:a="http://schemas.openxmlformats.org/drawingml/2006/main"/>
        </p:blipFill>
        <p:spPr>
          <a:xfrm xmlns:a="http://schemas.openxmlformats.org/drawingml/2006/main">
            <a:off x="6457950" y="2257425"/>
            <a:ext cx="285750" cy="2857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0ABF3A55-2D5C-405C-ADD3-DF063DB534B0}"/>
              </a:ext>
            </a:extLst>
          </p:cNvPr>
          <p:cNvSpPr>
            <a:spLocks xmlns:a="http://schemas.openxmlformats.org/drawingml/2006/main" noGrp="1"/>
          </p:cNvSpPr>
          <p:nvPr/>
        </p:nvSpPr>
        <p:spPr>
          <a:xfrm xmlns:a="http://schemas.openxmlformats.org/drawingml/2006/main">
            <a:off x="6858000" y="2266950"/>
            <a:ext cx="15906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Limited real data</a:t>
            </a:r>
          </a:p>
        </p:txBody>
      </p:sp>
      <p:sp>
        <p:nvSpPr>
          <p:cNvPr id="26" name="">
            <a:extLst xmlns:a="http://schemas.openxmlformats.org/drawingml/2006/main">
              <a:ext uri="{FF2B5EF4-FFF2-40B4-BE49-F238E27FC236}">
                <a16:creationId xmlns:a16="http://schemas.microsoft.com/office/drawing/2014/main" id="{5CC40CD8-FC8F-466D-849A-559217D95E9B}"/>
              </a:ext>
            </a:extLst>
          </p:cNvPr>
          <p:cNvSpPr>
            <a:spLocks xmlns:a="http://schemas.openxmlformats.org/drawingml/2006/main" noGrp="1"/>
          </p:cNvSpPr>
          <p:nvPr/>
        </p:nvSpPr>
        <p:spPr>
          <a:xfrm xmlns:a="http://schemas.openxmlformats.org/drawingml/2006/main">
            <a:off x="9201150" y="2085975"/>
            <a:ext cx="2571750" cy="1057275"/>
          </a:xfrm>
          <a:prstGeom xmlns:a="http://schemas.openxmlformats.org/drawingml/2006/main" prst="roundRect">
            <a:avLst>
              <a:gd name="adj" fmla="val 10811"/>
            </a:avLst>
          </a:prstGeom>
          <a:solidFill xmlns:a="http://schemas.openxmlformats.org/drawingml/2006/main">
            <a:srgbClr val="EDF8F5"/>
          </a:solidFill>
          <a:ln xmlns:a="http://schemas.openxmlformats.org/drawingml/2006/main" w="15240">
            <a:solidFill>
              <a:srgbClr val="168B83"/>
            </a:solidFill>
          </a:ln>
        </p:spPr>
      </p:sp>
      <p:sp>
        <p:nvSpPr>
          <p:cNvPr id="27" name="">
            <a:extLst xmlns:a="http://schemas.openxmlformats.org/drawingml/2006/main">
              <a:ext uri="{FF2B5EF4-FFF2-40B4-BE49-F238E27FC236}">
                <a16:creationId xmlns:a16="http://schemas.microsoft.com/office/drawing/2014/main" id="{143BDA6C-E58C-47BA-AF52-A57267C989AB}"/>
              </a:ext>
            </a:extLst>
          </p:cNvPr>
          <p:cNvSpPr>
            <a:spLocks xmlns:a="http://schemas.openxmlformats.org/drawingml/2006/main" noGrp="1"/>
          </p:cNvSpPr>
          <p:nvPr/>
        </p:nvSpPr>
        <p:spPr>
          <a:xfrm xmlns:a="http://schemas.openxmlformats.org/drawingml/2006/main">
            <a:off x="9372600" y="2371725"/>
            <a:ext cx="2228850" cy="685800"/>
          </a:xfrm>
          <a:prstGeom xmlns:a="http://schemas.openxmlformats.org/drawingml/2006/main" prst="roundRect">
            <a:avLst>
              <a:gd name="adj" fmla="val 1666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Connect real AWS data.</a:t>
            </a:r>
          </a:p>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Label events with experts.</a:t>
            </a:r>
          </a:p>
        </p:txBody>
      </p:sp>
      <p:cxnSp>
        <p:nvCxnSpPr>
          <p:cNvPr id="69" name=""/>
          <p:cNvCxnSpPr>
            <a:stCxn xmlns:a="http://schemas.openxmlformats.org/drawingml/2006/main" id="23" idx="3"/>
            <a:endCxn xmlns:a="http://schemas.openxmlformats.org/drawingml/2006/main" id="26" idx="1"/>
          </p:cNvCxnSpPr>
          <p:nvPr/>
        </p:nvCxnSpPr>
        <p:spPr>
          <a:xfrm xmlns:a="http://schemas.openxmlformats.org/drawingml/2006/main">
            <a:off x="8620125" y="2614613"/>
            <a:ext cx="581025"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9" name="">
            <a:extLst xmlns:a="http://schemas.openxmlformats.org/drawingml/2006/main">
              <a:ext uri="{FF2B5EF4-FFF2-40B4-BE49-F238E27FC236}">
                <a16:creationId xmlns:a16="http://schemas.microsoft.com/office/drawing/2014/main" id="{410A0087-4204-4AE1-B8F6-D33B96BA6ADC}"/>
              </a:ext>
            </a:extLst>
          </p:cNvPr>
          <p:cNvSpPr>
            <a:spLocks xmlns:a="http://schemas.openxmlformats.org/drawingml/2006/main" noGrp="1"/>
          </p:cNvSpPr>
          <p:nvPr/>
        </p:nvSpPr>
        <p:spPr>
          <a:xfrm xmlns:a="http://schemas.openxmlformats.org/drawingml/2006/main">
            <a:off x="6286500" y="3448050"/>
            <a:ext cx="2333625" cy="1057275"/>
          </a:xfrm>
          <a:prstGeom xmlns:a="http://schemas.openxmlformats.org/drawingml/2006/main" prst="roundRect">
            <a:avLst>
              <a:gd name="adj" fmla="val 10811"/>
            </a:avLst>
          </a:prstGeom>
          <a:solidFill xmlns:a="http://schemas.openxmlformats.org/drawingml/2006/main">
            <a:srgbClr val="FFF7E6"/>
          </a:solidFill>
          <a:ln xmlns:a="http://schemas.openxmlformats.org/drawingml/2006/main" w="15240">
            <a:solidFill>
              <a:srgbClr val="D69A24"/>
            </a:solidFill>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541166861ba545ec">
            <a:extLst>
              <a:ext uri="{96DAC541-7B7A-43D3-8B79-37D633B846F1}">
                <asvg:svgBlip xmlns:asvg="http://schemas.microsoft.com/office/drawing/2016/SVG/main" r:embed="R6f48cf13056541de"/>
              </a:ext>
            </a:extLst>
          </a:blip>
          <a:stretch xmlns:a="http://schemas.openxmlformats.org/drawingml/2006/main"/>
        </p:blipFill>
        <p:spPr>
          <a:xfrm xmlns:a="http://schemas.openxmlformats.org/drawingml/2006/main">
            <a:off x="6457950" y="3619500"/>
            <a:ext cx="285750" cy="285750"/>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2A79E0F1-6A76-462F-80B5-5FFBE0185053}"/>
              </a:ext>
            </a:extLst>
          </p:cNvPr>
          <p:cNvSpPr>
            <a:spLocks xmlns:a="http://schemas.openxmlformats.org/drawingml/2006/main" noGrp="1"/>
          </p:cNvSpPr>
          <p:nvPr/>
        </p:nvSpPr>
        <p:spPr>
          <a:xfrm xmlns:a="http://schemas.openxmlformats.org/drawingml/2006/main">
            <a:off x="6858000" y="3629025"/>
            <a:ext cx="15906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Weather recall: 9.72%</a:t>
            </a:r>
          </a:p>
        </p:txBody>
      </p:sp>
      <p:sp>
        <p:nvSpPr>
          <p:cNvPr id="32" name="">
            <a:extLst xmlns:a="http://schemas.openxmlformats.org/drawingml/2006/main">
              <a:ext uri="{FF2B5EF4-FFF2-40B4-BE49-F238E27FC236}">
                <a16:creationId xmlns:a16="http://schemas.microsoft.com/office/drawing/2014/main" id="{8E4518F9-D252-47BA-BE14-ACD7CF5AD3F5}"/>
              </a:ext>
            </a:extLst>
          </p:cNvPr>
          <p:cNvSpPr>
            <a:spLocks xmlns:a="http://schemas.openxmlformats.org/drawingml/2006/main" noGrp="1"/>
          </p:cNvSpPr>
          <p:nvPr/>
        </p:nvSpPr>
        <p:spPr>
          <a:xfrm xmlns:a="http://schemas.openxmlformats.org/drawingml/2006/main">
            <a:off x="9201150" y="3448050"/>
            <a:ext cx="2571750" cy="1057275"/>
          </a:xfrm>
          <a:prstGeom xmlns:a="http://schemas.openxmlformats.org/drawingml/2006/main" prst="roundRect">
            <a:avLst>
              <a:gd name="adj" fmla="val 10811"/>
            </a:avLst>
          </a:prstGeom>
          <a:solidFill xmlns:a="http://schemas.openxmlformats.org/drawingml/2006/main">
            <a:srgbClr val="EDF8F5"/>
          </a:solidFill>
          <a:ln xmlns:a="http://schemas.openxmlformats.org/drawingml/2006/main" w="15240">
            <a:solidFill>
              <a:srgbClr val="168B83"/>
            </a:solidFill>
          </a:ln>
        </p:spPr>
      </p:sp>
      <p:sp>
        <p:nvSpPr>
          <p:cNvPr id="33" name="">
            <a:extLst xmlns:a="http://schemas.openxmlformats.org/drawingml/2006/main">
              <a:ext uri="{FF2B5EF4-FFF2-40B4-BE49-F238E27FC236}">
                <a16:creationId xmlns:a16="http://schemas.microsoft.com/office/drawing/2014/main" id="{DC472528-167E-458D-92A3-7D54F98B7E34}"/>
              </a:ext>
            </a:extLst>
          </p:cNvPr>
          <p:cNvSpPr>
            <a:spLocks xmlns:a="http://schemas.openxmlformats.org/drawingml/2006/main" noGrp="1"/>
          </p:cNvSpPr>
          <p:nvPr/>
        </p:nvSpPr>
        <p:spPr>
          <a:xfrm xmlns:a="http://schemas.openxmlformats.org/drawingml/2006/main">
            <a:off x="9372600" y="3733800"/>
            <a:ext cx="2228850" cy="685800"/>
          </a:xfrm>
          <a:prstGeom xmlns:a="http://schemas.openxmlformats.org/drawingml/2006/main" prst="roundRect">
            <a:avLst>
              <a:gd name="adj" fmla="val 1666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Expand weather cases.</a:t>
            </a:r>
          </a:p>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Keep human review.</a:t>
            </a:r>
          </a:p>
        </p:txBody>
      </p:sp>
      <p:cxnSp>
        <p:nvCxnSpPr>
          <p:cNvPr id="75" name=""/>
          <p:cNvCxnSpPr>
            <a:stCxn xmlns:a="http://schemas.openxmlformats.org/drawingml/2006/main" id="29" idx="3"/>
            <a:endCxn xmlns:a="http://schemas.openxmlformats.org/drawingml/2006/main" id="32" idx="1"/>
          </p:cNvCxnSpPr>
          <p:nvPr/>
        </p:nvCxnSpPr>
        <p:spPr>
          <a:xfrm xmlns:a="http://schemas.openxmlformats.org/drawingml/2006/main">
            <a:off x="8620125" y="3976688"/>
            <a:ext cx="581025"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35" name="">
            <a:extLst xmlns:a="http://schemas.openxmlformats.org/drawingml/2006/main">
              <a:ext uri="{FF2B5EF4-FFF2-40B4-BE49-F238E27FC236}">
                <a16:creationId xmlns:a16="http://schemas.microsoft.com/office/drawing/2014/main" id="{96FF3E56-DBA5-41B9-B700-EDC37ACF2743}"/>
              </a:ext>
            </a:extLst>
          </p:cNvPr>
          <p:cNvSpPr>
            <a:spLocks xmlns:a="http://schemas.openxmlformats.org/drawingml/2006/main" noGrp="1"/>
          </p:cNvSpPr>
          <p:nvPr/>
        </p:nvSpPr>
        <p:spPr>
          <a:xfrm xmlns:a="http://schemas.openxmlformats.org/drawingml/2006/main">
            <a:off x="6286500" y="4810125"/>
            <a:ext cx="2333625" cy="1057275"/>
          </a:xfrm>
          <a:prstGeom xmlns:a="http://schemas.openxmlformats.org/drawingml/2006/main" prst="roundRect">
            <a:avLst>
              <a:gd name="adj" fmla="val 10811"/>
            </a:avLst>
          </a:prstGeom>
          <a:solidFill xmlns:a="http://schemas.openxmlformats.org/drawingml/2006/main">
            <a:srgbClr val="FFF7E6"/>
          </a:solidFill>
          <a:ln xmlns:a="http://schemas.openxmlformats.org/drawingml/2006/main" w="15240">
            <a:solidFill>
              <a:srgbClr val="D69A24"/>
            </a:solidFill>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fb610686d9334cfb">
            <a:extLst>
              <a:ext uri="{96DAC541-7B7A-43D3-8B79-37D633B846F1}">
                <asvg:svgBlip xmlns:asvg="http://schemas.microsoft.com/office/drawing/2016/SVG/main" r:embed="R26fb7e9230504a22"/>
              </a:ext>
            </a:extLst>
          </a:blip>
          <a:stretch xmlns:a="http://schemas.openxmlformats.org/drawingml/2006/main"/>
        </p:blipFill>
        <p:spPr>
          <a:xfrm xmlns:a="http://schemas.openxmlformats.org/drawingml/2006/main">
            <a:off x="6457950" y="4981575"/>
            <a:ext cx="285750" cy="285750"/>
          </a:xfrm>
          <a:prstGeom xmlns:a="http://schemas.openxmlformats.org/drawingml/2006/main" prst="rect">
            <a:avLst/>
          </a:prstGeom>
        </p:spPr>
      </p:pic>
      <p:sp>
        <p:nvSpPr>
          <p:cNvPr id="37" name="">
            <a:extLst xmlns:a="http://schemas.openxmlformats.org/drawingml/2006/main">
              <a:ext uri="{FF2B5EF4-FFF2-40B4-BE49-F238E27FC236}">
                <a16:creationId xmlns:a16="http://schemas.microsoft.com/office/drawing/2014/main" id="{13C86BC3-11CA-4703-8B31-300AE52D6A78}"/>
              </a:ext>
            </a:extLst>
          </p:cNvPr>
          <p:cNvSpPr>
            <a:spLocks xmlns:a="http://schemas.openxmlformats.org/drawingml/2006/main" noGrp="1"/>
          </p:cNvSpPr>
          <p:nvPr/>
        </p:nvSpPr>
        <p:spPr>
          <a:xfrm xmlns:a="http://schemas.openxmlformats.org/drawingml/2006/main">
            <a:off x="6858000" y="4991100"/>
            <a:ext cx="15906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Untested field performance</a:t>
            </a:r>
          </a:p>
        </p:txBody>
      </p:sp>
      <p:sp>
        <p:nvSpPr>
          <p:cNvPr id="38" name="">
            <a:extLst xmlns:a="http://schemas.openxmlformats.org/drawingml/2006/main">
              <a:ext uri="{FF2B5EF4-FFF2-40B4-BE49-F238E27FC236}">
                <a16:creationId xmlns:a16="http://schemas.microsoft.com/office/drawing/2014/main" id="{4AE99BF0-903C-437A-B928-AAA4251752D5}"/>
              </a:ext>
            </a:extLst>
          </p:cNvPr>
          <p:cNvSpPr>
            <a:spLocks xmlns:a="http://schemas.openxmlformats.org/drawingml/2006/main" noGrp="1"/>
          </p:cNvSpPr>
          <p:nvPr/>
        </p:nvSpPr>
        <p:spPr>
          <a:xfrm xmlns:a="http://schemas.openxmlformats.org/drawingml/2006/main">
            <a:off x="9201150" y="4810125"/>
            <a:ext cx="2571750" cy="1057275"/>
          </a:xfrm>
          <a:prstGeom xmlns:a="http://schemas.openxmlformats.org/drawingml/2006/main" prst="roundRect">
            <a:avLst>
              <a:gd name="adj" fmla="val 10811"/>
            </a:avLst>
          </a:prstGeom>
          <a:solidFill xmlns:a="http://schemas.openxmlformats.org/drawingml/2006/main">
            <a:srgbClr val="EDF8F5"/>
          </a:solidFill>
          <a:ln xmlns:a="http://schemas.openxmlformats.org/drawingml/2006/main" w="15240">
            <a:solidFill>
              <a:srgbClr val="168B83"/>
            </a:solidFill>
          </a:ln>
        </p:spPr>
      </p:sp>
      <p:sp>
        <p:nvSpPr>
          <p:cNvPr id="39" name="">
            <a:extLst xmlns:a="http://schemas.openxmlformats.org/drawingml/2006/main">
              <a:ext uri="{FF2B5EF4-FFF2-40B4-BE49-F238E27FC236}">
                <a16:creationId xmlns:a16="http://schemas.microsoft.com/office/drawing/2014/main" id="{DBAF2376-7C42-4E35-BBF2-4C7F0D0352A9}"/>
              </a:ext>
            </a:extLst>
          </p:cNvPr>
          <p:cNvSpPr>
            <a:spLocks xmlns:a="http://schemas.openxmlformats.org/drawingml/2006/main" noGrp="1"/>
          </p:cNvSpPr>
          <p:nvPr/>
        </p:nvSpPr>
        <p:spPr>
          <a:xfrm xmlns:a="http://schemas.openxmlformats.org/drawingml/2006/main">
            <a:off x="9372600" y="5095875"/>
            <a:ext cx="2228850" cy="685800"/>
          </a:xfrm>
          <a:prstGeom xmlns:a="http://schemas.openxmlformats.org/drawingml/2006/main" prst="roundRect">
            <a:avLst>
              <a:gd name="adj" fmla="val 1666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Test new seasons/sites.</a:t>
            </a:r>
          </a:p>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Measure errors and cost.</a:t>
            </a:r>
          </a:p>
        </p:txBody>
      </p:sp>
      <p:cxnSp>
        <p:nvCxnSpPr>
          <p:cNvPr id="81" name=""/>
          <p:cNvCxnSpPr>
            <a:stCxn xmlns:a="http://schemas.openxmlformats.org/drawingml/2006/main" id="35" idx="3"/>
            <a:endCxn xmlns:a="http://schemas.openxmlformats.org/drawingml/2006/main" id="38" idx="1"/>
          </p:cNvCxnSpPr>
          <p:nvPr/>
        </p:nvCxnSpPr>
        <p:spPr>
          <a:xfrm xmlns:a="http://schemas.openxmlformats.org/drawingml/2006/main">
            <a:off x="8620125" y="5338763"/>
            <a:ext cx="581025"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1" name="">
            <a:extLst xmlns:a="http://schemas.openxmlformats.org/drawingml/2006/main">
              <a:ext uri="{FF2B5EF4-FFF2-40B4-BE49-F238E27FC236}">
                <a16:creationId xmlns:a16="http://schemas.microsoft.com/office/drawing/2014/main" id="{2F5A3AE8-2A40-488F-AA02-7897CB734BBF}"/>
              </a:ext>
            </a:extLst>
          </p:cNvPr>
          <p:cNvSpPr>
            <a:spLocks xmlns:a="http://schemas.openxmlformats.org/drawingml/2006/main" noGrp="1"/>
          </p:cNvSpPr>
          <p:nvPr/>
        </p:nvSpPr>
        <p:spPr>
          <a:xfrm xmlns:a="http://schemas.openxmlformats.org/drawingml/2006/main">
            <a:off x="6286500" y="6162675"/>
            <a:ext cx="5476875"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2667B"/>
                </a:solidFill>
                <a:latin typeface="Arial"/>
                <a:ea typeface="Arial"/>
                <a:cs typeface="Arial"/>
              </a:defRPr>
            </a:pPr>
            <a:r>
              <a:rPr sz="1200" b="0">
                <a:solidFill>
                  <a:srgbClr val="52667B"/>
                </a:solidFill>
                <a:latin typeface="Arial"/>
                <a:ea typeface="Arial"/>
                <a:cs typeface="Arial"/>
              </a:rPr>
              <a:t>The benchmark uses simulated data. Field accuracy remains unproven.</a:t>
            </a:r>
          </a:p>
        </p:txBody>
      </p:sp>
    </p:spTree>
    <p:extLst>
      <p:ext uri="{BB962C8B-B14F-4D97-AF65-F5344CB8AC3E}">
        <p14:creationId xmlns:p14="http://schemas.microsoft.com/office/powerpoint/2010/main" val="51379139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83834879-88E4-4E36-9F74-DF31E927099B}"/>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8494F993-47E1-447F-9450-A59FB03F56AF}"/>
              </a:ext>
            </a:extLst>
          </p:cNvPr>
          <p:cNvSpPr>
            <a:spLocks xmlns:a="http://schemas.openxmlformats.org/drawingml/2006/main" noGrp="1"/>
          </p:cNvSpPr>
          <p:nvPr/>
        </p:nvSpPr>
        <p:spPr>
          <a:xfrm xmlns:a="http://schemas.openxmlformats.org/drawingml/2006/main">
            <a:off x="2381250" y="209550"/>
            <a:ext cx="6953250" cy="495300"/>
          </a:xfrm>
          <a:prstGeom xmlns:a="http://schemas.openxmlformats.org/drawingml/2006/main" prst="roundRect">
            <a:avLst>
              <a:gd name="adj" fmla="val 2307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IMPACT &amp; BENEFITS</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49c3085a39e34b11"/>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C044B3-F547-42F6-9EB0-E4C444DE07EE}"/>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B7690049-CD51-49C3-BB57-D8B208EDE68E}"/>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oundRect">
            <a:avLst>
              <a:gd name="adj" fmla="val 28571"/>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The operator can follow an alert through to a recorded action.</a:t>
            </a:r>
          </a:p>
        </p:txBody>
      </p:sp>
      <p:sp>
        <p:nvSpPr>
          <p:cNvPr id="6" name="">
            <a:extLst xmlns:a="http://schemas.openxmlformats.org/drawingml/2006/main">
              <a:ext uri="{FF2B5EF4-FFF2-40B4-BE49-F238E27FC236}">
                <a16:creationId xmlns:a16="http://schemas.microsoft.com/office/drawing/2014/main" id="{BE7D8F14-763B-4BF5-8FD2-00C917114F94}"/>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oundRect">
            <a:avLst>
              <a:gd name="adj" fmla="val 31579"/>
            </a:avLst>
          </a:prstGeom>
          <a:solidFill xmlns:a="http://schemas.openxmlformats.org/drawingml/2006/main">
            <a:srgbClr val="2868B2"/>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4DFAD741-BF63-45F4-B1B3-9B2AE42DAFF6}"/>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85CAE253-3F57-48BF-A4E8-972507D4F190}"/>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05</a:t>
            </a:r>
          </a:p>
        </p:txBody>
      </p:sp>
      <p:sp>
        <p:nvSpPr>
          <p:cNvPr id="9" name="">
            <a:extLst xmlns:a="http://schemas.openxmlformats.org/drawingml/2006/main">
              <a:ext uri="{FF2B5EF4-FFF2-40B4-BE49-F238E27FC236}">
                <a16:creationId xmlns:a16="http://schemas.microsoft.com/office/drawing/2014/main" id="{0AB0BF87-A2CD-4F02-BABB-A246086EC02A}"/>
              </a:ext>
            </a:extLst>
          </p:cNvPr>
          <p:cNvSpPr>
            <a:spLocks xmlns:a="http://schemas.openxmlformats.org/drawingml/2006/main" noGrp="1"/>
          </p:cNvSpPr>
          <p:nvPr/>
        </p:nvSpPr>
        <p:spPr>
          <a:xfrm xmlns:a="http://schemas.openxmlformats.org/drawingml/2006/main">
            <a:off x="419100" y="1733550"/>
            <a:ext cx="2638425" cy="1762125"/>
          </a:xfrm>
          <a:prstGeom xmlns:a="http://schemas.openxmlformats.org/drawingml/2006/main" prst="roundRect">
            <a:avLst>
              <a:gd name="adj" fmla="val 6486"/>
            </a:avLst>
          </a:prstGeom>
          <a:solidFill xmlns:a="http://schemas.openxmlformats.org/drawingml/2006/main">
            <a:srgbClr val="EEF5FD"/>
          </a:solidFill>
          <a:ln xmlns:a="http://schemas.openxmlformats.org/drawingml/2006/main" w="15240">
            <a:solidFill>
              <a:srgbClr val="2868B2"/>
            </a:solidFill>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8dc765e6291846d9">
            <a:extLst>
              <a:ext uri="{96DAC541-7B7A-43D3-8B79-37D633B846F1}">
                <asvg:svgBlip xmlns:asvg="http://schemas.microsoft.com/office/drawing/2016/SVG/main" r:embed="R542972ff976e4dbc"/>
              </a:ext>
            </a:extLst>
          </a:blip>
          <a:stretch xmlns:a="http://schemas.openxmlformats.org/drawingml/2006/main"/>
        </p:blipFill>
        <p:spPr>
          <a:xfrm xmlns:a="http://schemas.openxmlformats.org/drawingml/2006/main">
            <a:off x="590550" y="1905000"/>
            <a:ext cx="285750" cy="285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2F4E70D1-07D6-453C-9B8D-BB76E35FC33F}"/>
              </a:ext>
            </a:extLst>
          </p:cNvPr>
          <p:cNvSpPr>
            <a:spLocks xmlns:a="http://schemas.openxmlformats.org/drawingml/2006/main" noGrp="1"/>
          </p:cNvSpPr>
          <p:nvPr/>
        </p:nvSpPr>
        <p:spPr>
          <a:xfrm xmlns:a="http://schemas.openxmlformats.org/drawingml/2006/main">
            <a:off x="990600" y="1914525"/>
            <a:ext cx="18954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Locate</a:t>
            </a:r>
          </a:p>
        </p:txBody>
      </p:sp>
      <p:sp>
        <p:nvSpPr>
          <p:cNvPr id="12" name="">
            <a:extLst xmlns:a="http://schemas.openxmlformats.org/drawingml/2006/main">
              <a:ext uri="{FF2B5EF4-FFF2-40B4-BE49-F238E27FC236}">
                <a16:creationId xmlns:a16="http://schemas.microsoft.com/office/drawing/2014/main" id="{1B8751C0-EEEB-4252-87D2-F067E20D271B}"/>
              </a:ext>
            </a:extLst>
          </p:cNvPr>
          <p:cNvSpPr>
            <a:spLocks xmlns:a="http://schemas.openxmlformats.org/drawingml/2006/main" noGrp="1"/>
          </p:cNvSpPr>
          <p:nvPr/>
        </p:nvSpPr>
        <p:spPr>
          <a:xfrm xmlns:a="http://schemas.openxmlformats.org/drawingml/2006/main">
            <a:off x="609600" y="2324100"/>
            <a:ext cx="2257425" cy="1133475"/>
          </a:xfrm>
          <a:prstGeom xmlns:a="http://schemas.openxmlformats.org/drawingml/2006/main" prst="roundRect">
            <a:avLst>
              <a:gd name="adj" fmla="val 1008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Select a flagged station</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on the India map.</a:t>
            </a:r>
          </a:p>
        </p:txBody>
      </p:sp>
      <p:sp>
        <p:nvSpPr>
          <p:cNvPr id="13" name="">
            <a:extLst xmlns:a="http://schemas.openxmlformats.org/drawingml/2006/main">
              <a:ext uri="{FF2B5EF4-FFF2-40B4-BE49-F238E27FC236}">
                <a16:creationId xmlns:a16="http://schemas.microsoft.com/office/drawing/2014/main" id="{CE7FC34B-9B4D-40F1-930F-9025FC1328A2}"/>
              </a:ext>
            </a:extLst>
          </p:cNvPr>
          <p:cNvSpPr>
            <a:spLocks xmlns:a="http://schemas.openxmlformats.org/drawingml/2006/main" noGrp="1"/>
          </p:cNvSpPr>
          <p:nvPr/>
        </p:nvSpPr>
        <p:spPr>
          <a:xfrm xmlns:a="http://schemas.openxmlformats.org/drawingml/2006/main">
            <a:off x="3324225" y="1733550"/>
            <a:ext cx="2638425" cy="1762125"/>
          </a:xfrm>
          <a:prstGeom xmlns:a="http://schemas.openxmlformats.org/drawingml/2006/main" prst="roundRect">
            <a:avLst>
              <a:gd name="adj" fmla="val 6486"/>
            </a:avLst>
          </a:prstGeom>
          <a:solidFill xmlns:a="http://schemas.openxmlformats.org/drawingml/2006/main">
            <a:srgbClr val="EEF5FD"/>
          </a:solidFill>
          <a:ln xmlns:a="http://schemas.openxmlformats.org/drawingml/2006/main" w="15240">
            <a:solidFill>
              <a:srgbClr val="2868B2"/>
            </a:solidFill>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6ccbf8ced4d24053">
            <a:extLst>
              <a:ext uri="{96DAC541-7B7A-43D3-8B79-37D633B846F1}">
                <asvg:svgBlip xmlns:asvg="http://schemas.microsoft.com/office/drawing/2016/SVG/main" r:embed="Ra06c00d74d7d48a6"/>
              </a:ext>
            </a:extLst>
          </a:blip>
          <a:stretch xmlns:a="http://schemas.openxmlformats.org/drawingml/2006/main"/>
        </p:blipFill>
        <p:spPr>
          <a:xfrm xmlns:a="http://schemas.openxmlformats.org/drawingml/2006/main">
            <a:off x="3495675" y="1905000"/>
            <a:ext cx="285750" cy="285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91C8BD2E-621E-4DB5-AD4D-EB5106AA4486}"/>
              </a:ext>
            </a:extLst>
          </p:cNvPr>
          <p:cNvSpPr>
            <a:spLocks xmlns:a="http://schemas.openxmlformats.org/drawingml/2006/main" noGrp="1"/>
          </p:cNvSpPr>
          <p:nvPr/>
        </p:nvSpPr>
        <p:spPr>
          <a:xfrm xmlns:a="http://schemas.openxmlformats.org/drawingml/2006/main">
            <a:off x="3895725" y="1914525"/>
            <a:ext cx="18954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Understand</a:t>
            </a:r>
          </a:p>
        </p:txBody>
      </p:sp>
      <p:sp>
        <p:nvSpPr>
          <p:cNvPr id="16" name="">
            <a:extLst xmlns:a="http://schemas.openxmlformats.org/drawingml/2006/main">
              <a:ext uri="{FF2B5EF4-FFF2-40B4-BE49-F238E27FC236}">
                <a16:creationId xmlns:a16="http://schemas.microsoft.com/office/drawing/2014/main" id="{364C656E-3A30-439B-9D8F-90FB4FBC2FEC}"/>
              </a:ext>
            </a:extLst>
          </p:cNvPr>
          <p:cNvSpPr>
            <a:spLocks xmlns:a="http://schemas.openxmlformats.org/drawingml/2006/main" noGrp="1"/>
          </p:cNvSpPr>
          <p:nvPr/>
        </p:nvSpPr>
        <p:spPr>
          <a:xfrm xmlns:a="http://schemas.openxmlformats.org/drawingml/2006/main">
            <a:off x="3514725" y="2324100"/>
            <a:ext cx="2257425" cy="1133475"/>
          </a:xfrm>
          <a:prstGeom xmlns:a="http://schemas.openxmlformats.org/drawingml/2006/main" prst="roundRect">
            <a:avLst>
              <a:gd name="adj" fmla="val 1008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Read its history, peer</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comparison and explanation.</a:t>
            </a:r>
          </a:p>
        </p:txBody>
      </p:sp>
      <p:cxnSp>
        <p:nvCxnSpPr>
          <p:cNvPr id="56" name=""/>
          <p:cNvCxnSpPr>
            <a:stCxn xmlns:a="http://schemas.openxmlformats.org/drawingml/2006/main" id="9" idx="3"/>
            <a:endCxn xmlns:a="http://schemas.openxmlformats.org/drawingml/2006/main" id="13" idx="1"/>
          </p:cNvCxnSpPr>
          <p:nvPr/>
        </p:nvCxnSpPr>
        <p:spPr>
          <a:xfrm xmlns:a="http://schemas.openxmlformats.org/drawingml/2006/main">
            <a:off x="3057525" y="2614613"/>
            <a:ext cx="266700" cy="0"/>
          </a:xfrm>
          <a:prstGeom xmlns:a="http://schemas.openxmlformats.org/drawingml/2006/main" prst="straightConnector1">
            <a:avLst/>
          </a:prstGeom>
          <a:ln xmlns:a="http://schemas.openxmlformats.org/drawingml/2006/main" w="20955">
            <a:solidFill>
              <a:srgbClr val="2868B2"/>
            </a:solidFill>
            <a:tailEnd type="triangle" w="sm" len="sm"/>
          </a:ln>
        </p:spPr>
      </p:cxnSp>
      <p:sp>
        <p:nvSpPr>
          <p:cNvPr id="18" name="">
            <a:extLst xmlns:a="http://schemas.openxmlformats.org/drawingml/2006/main">
              <a:ext uri="{FF2B5EF4-FFF2-40B4-BE49-F238E27FC236}">
                <a16:creationId xmlns:a16="http://schemas.microsoft.com/office/drawing/2014/main" id="{1B544F4A-8B78-42E8-9916-EB78FB11EA56}"/>
              </a:ext>
            </a:extLst>
          </p:cNvPr>
          <p:cNvSpPr>
            <a:spLocks xmlns:a="http://schemas.openxmlformats.org/drawingml/2006/main" noGrp="1"/>
          </p:cNvSpPr>
          <p:nvPr/>
        </p:nvSpPr>
        <p:spPr>
          <a:xfrm xmlns:a="http://schemas.openxmlformats.org/drawingml/2006/main">
            <a:off x="6229350" y="1733550"/>
            <a:ext cx="2638425" cy="1762125"/>
          </a:xfrm>
          <a:prstGeom xmlns:a="http://schemas.openxmlformats.org/drawingml/2006/main" prst="roundRect">
            <a:avLst>
              <a:gd name="adj" fmla="val 6486"/>
            </a:avLst>
          </a:prstGeom>
          <a:solidFill xmlns:a="http://schemas.openxmlformats.org/drawingml/2006/main">
            <a:srgbClr val="EDF8F5"/>
          </a:solidFill>
          <a:ln xmlns:a="http://schemas.openxmlformats.org/drawingml/2006/main" w="15240">
            <a:solidFill>
              <a:srgbClr val="168B83"/>
            </a:solidFill>
          </a:ln>
        </p:spPr>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c95360c2efeb4bb4">
            <a:extLst>
              <a:ext uri="{96DAC541-7B7A-43D3-8B79-37D633B846F1}">
                <asvg:svgBlip xmlns:asvg="http://schemas.microsoft.com/office/drawing/2016/SVG/main" r:embed="Rafee0b662d4a44f8"/>
              </a:ext>
            </a:extLst>
          </a:blip>
          <a:stretch xmlns:a="http://schemas.openxmlformats.org/drawingml/2006/main"/>
        </p:blipFill>
        <p:spPr>
          <a:xfrm xmlns:a="http://schemas.openxmlformats.org/drawingml/2006/main">
            <a:off x="6400800" y="1905000"/>
            <a:ext cx="285750" cy="28575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9C5241DB-8746-4C66-8922-19D6AE340741}"/>
              </a:ext>
            </a:extLst>
          </p:cNvPr>
          <p:cNvSpPr>
            <a:spLocks xmlns:a="http://schemas.openxmlformats.org/drawingml/2006/main" noGrp="1"/>
          </p:cNvSpPr>
          <p:nvPr/>
        </p:nvSpPr>
        <p:spPr>
          <a:xfrm xmlns:a="http://schemas.openxmlformats.org/drawingml/2006/main">
            <a:off x="6800850" y="1914525"/>
            <a:ext cx="18954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Decide</a:t>
            </a:r>
          </a:p>
        </p:txBody>
      </p:sp>
      <p:sp>
        <p:nvSpPr>
          <p:cNvPr id="21" name="">
            <a:extLst xmlns:a="http://schemas.openxmlformats.org/drawingml/2006/main">
              <a:ext uri="{FF2B5EF4-FFF2-40B4-BE49-F238E27FC236}">
                <a16:creationId xmlns:a16="http://schemas.microsoft.com/office/drawing/2014/main" id="{D1DDD043-4D50-42A2-9EFF-F7603B0A633D}"/>
              </a:ext>
            </a:extLst>
          </p:cNvPr>
          <p:cNvSpPr>
            <a:spLocks xmlns:a="http://schemas.openxmlformats.org/drawingml/2006/main" noGrp="1"/>
          </p:cNvSpPr>
          <p:nvPr/>
        </p:nvSpPr>
        <p:spPr>
          <a:xfrm xmlns:a="http://schemas.openxmlformats.org/drawingml/2006/main">
            <a:off x="6419850" y="2324100"/>
            <a:ext cx="2257425" cy="1133475"/>
          </a:xfrm>
          <a:prstGeom xmlns:a="http://schemas.openxmlformats.org/drawingml/2006/main" prst="roundRect">
            <a:avLst>
              <a:gd name="adj" fmla="val 1008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Review the incident or</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propose a correction.</a:t>
            </a:r>
          </a:p>
        </p:txBody>
      </p:sp>
      <p:cxnSp>
        <p:nvCxnSpPr>
          <p:cNvPr id="61" name=""/>
          <p:cNvCxnSpPr>
            <a:stCxn xmlns:a="http://schemas.openxmlformats.org/drawingml/2006/main" id="13" idx="3"/>
            <a:endCxn xmlns:a="http://schemas.openxmlformats.org/drawingml/2006/main" id="18" idx="1"/>
          </p:cNvCxnSpPr>
          <p:nvPr/>
        </p:nvCxnSpPr>
        <p:spPr>
          <a:xfrm xmlns:a="http://schemas.openxmlformats.org/drawingml/2006/main">
            <a:off x="5962650" y="2614613"/>
            <a:ext cx="26670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3" name="">
            <a:extLst xmlns:a="http://schemas.openxmlformats.org/drawingml/2006/main">
              <a:ext uri="{FF2B5EF4-FFF2-40B4-BE49-F238E27FC236}">
                <a16:creationId xmlns:a16="http://schemas.microsoft.com/office/drawing/2014/main" id="{ACD37CC4-8788-4D7F-9678-A2059C7300CC}"/>
              </a:ext>
            </a:extLst>
          </p:cNvPr>
          <p:cNvSpPr>
            <a:spLocks xmlns:a="http://schemas.openxmlformats.org/drawingml/2006/main" noGrp="1"/>
          </p:cNvSpPr>
          <p:nvPr/>
        </p:nvSpPr>
        <p:spPr>
          <a:xfrm xmlns:a="http://schemas.openxmlformats.org/drawingml/2006/main">
            <a:off x="9134475" y="1733550"/>
            <a:ext cx="2638425" cy="1762125"/>
          </a:xfrm>
          <a:prstGeom xmlns:a="http://schemas.openxmlformats.org/drawingml/2006/main" prst="roundRect">
            <a:avLst>
              <a:gd name="adj" fmla="val 6486"/>
            </a:avLst>
          </a:prstGeom>
          <a:solidFill xmlns:a="http://schemas.openxmlformats.org/drawingml/2006/main">
            <a:srgbClr val="EDF8F5"/>
          </a:solidFill>
          <a:ln xmlns:a="http://schemas.openxmlformats.org/drawingml/2006/main" w="15240">
            <a:solidFill>
              <a:srgbClr val="168B83"/>
            </a:solidFill>
          </a:ln>
        </p:spPr>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da9be297205647b1">
            <a:extLst>
              <a:ext uri="{96DAC541-7B7A-43D3-8B79-37D633B846F1}">
                <asvg:svgBlip xmlns:asvg="http://schemas.microsoft.com/office/drawing/2016/SVG/main" r:embed="R1ae51f85695c48f8"/>
              </a:ext>
            </a:extLst>
          </a:blip>
          <a:stretch xmlns:a="http://schemas.openxmlformats.org/drawingml/2006/main"/>
        </p:blipFill>
        <p:spPr>
          <a:xfrm xmlns:a="http://schemas.openxmlformats.org/drawingml/2006/main">
            <a:off x="9305925" y="1905000"/>
            <a:ext cx="285750" cy="285750"/>
          </a:xfrm>
          <a:prstGeom xmlns:a="http://schemas.openxmlformats.org/drawingml/2006/main" prst="rect">
            <a:avLst/>
          </a:prstGeom>
        </p:spPr>
      </p:pic>
      <p:sp>
        <p:nvSpPr>
          <p:cNvPr id="25" name="">
            <a:extLst xmlns:a="http://schemas.openxmlformats.org/drawingml/2006/main">
              <a:ext uri="{FF2B5EF4-FFF2-40B4-BE49-F238E27FC236}">
                <a16:creationId xmlns:a16="http://schemas.microsoft.com/office/drawing/2014/main" id="{C16913E8-6262-41CB-8146-25F3E76241C9}"/>
              </a:ext>
            </a:extLst>
          </p:cNvPr>
          <p:cNvSpPr>
            <a:spLocks xmlns:a="http://schemas.openxmlformats.org/drawingml/2006/main" noGrp="1"/>
          </p:cNvSpPr>
          <p:nvPr/>
        </p:nvSpPr>
        <p:spPr>
          <a:xfrm xmlns:a="http://schemas.openxmlformats.org/drawingml/2006/main">
            <a:off x="9705975" y="1914525"/>
            <a:ext cx="1895475" cy="457200"/>
          </a:xfrm>
          <a:prstGeom xmlns:a="http://schemas.openxmlformats.org/drawingml/2006/main" prst="roundRect">
            <a:avLst>
              <a:gd name="adj" fmla="val 25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Trace</a:t>
            </a:r>
          </a:p>
        </p:txBody>
      </p:sp>
      <p:sp>
        <p:nvSpPr>
          <p:cNvPr id="26" name="">
            <a:extLst xmlns:a="http://schemas.openxmlformats.org/drawingml/2006/main">
              <a:ext uri="{FF2B5EF4-FFF2-40B4-BE49-F238E27FC236}">
                <a16:creationId xmlns:a16="http://schemas.microsoft.com/office/drawing/2014/main" id="{9D1516EE-E3D6-4E76-87D8-AD51F0AB981C}"/>
              </a:ext>
            </a:extLst>
          </p:cNvPr>
          <p:cNvSpPr>
            <a:spLocks xmlns:a="http://schemas.openxmlformats.org/drawingml/2006/main" noGrp="1"/>
          </p:cNvSpPr>
          <p:nvPr/>
        </p:nvSpPr>
        <p:spPr>
          <a:xfrm xmlns:a="http://schemas.openxmlformats.org/drawingml/2006/main">
            <a:off x="9324975" y="2324100"/>
            <a:ext cx="2257425" cy="1133475"/>
          </a:xfrm>
          <a:prstGeom xmlns:a="http://schemas.openxmlformats.org/drawingml/2006/main" prst="roundRect">
            <a:avLst>
              <a:gd name="adj" fmla="val 1008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Retain original readings</a:t>
            </a:r>
          </a:p>
          <a:p xmlns:a="http://schemas.openxmlformats.org/drawingml/2006/main">
            <a:pPr algn="l">
              <a:defRPr sz="1350" b="0">
                <a:solidFill>
                  <a:srgbClr val="52667B"/>
                </a:solidFill>
                <a:latin typeface="Arial"/>
                <a:ea typeface="Arial"/>
                <a:cs typeface="Arial"/>
              </a:defRPr>
            </a:pPr>
            <a:r>
              <a:rPr sz="1350" b="0">
                <a:solidFill>
                  <a:srgbClr val="52667B"/>
                </a:solidFill>
                <a:latin typeface="Arial"/>
                <a:ea typeface="Arial"/>
                <a:cs typeface="Arial"/>
              </a:rPr>
              <a:t>and the decision history.</a:t>
            </a:r>
          </a:p>
        </p:txBody>
      </p:sp>
      <p:cxnSp>
        <p:nvCxnSpPr>
          <p:cNvPr id="66" name=""/>
          <p:cNvCxnSpPr>
            <a:stCxn xmlns:a="http://schemas.openxmlformats.org/drawingml/2006/main" id="18" idx="3"/>
            <a:endCxn xmlns:a="http://schemas.openxmlformats.org/drawingml/2006/main" id="23" idx="1"/>
          </p:cNvCxnSpPr>
          <p:nvPr/>
        </p:nvCxnSpPr>
        <p:spPr>
          <a:xfrm xmlns:a="http://schemas.openxmlformats.org/drawingml/2006/main">
            <a:off x="8867775" y="2614613"/>
            <a:ext cx="26670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8" name="">
            <a:extLst xmlns:a="http://schemas.openxmlformats.org/drawingml/2006/main">
              <a:ext uri="{FF2B5EF4-FFF2-40B4-BE49-F238E27FC236}">
                <a16:creationId xmlns:a16="http://schemas.microsoft.com/office/drawing/2014/main" id="{1ECC986A-17B4-419A-BD19-516CC12ADE81}"/>
              </a:ext>
            </a:extLst>
          </p:cNvPr>
          <p:cNvSpPr>
            <a:spLocks xmlns:a="http://schemas.openxmlformats.org/drawingml/2006/main" noGrp="1"/>
          </p:cNvSpPr>
          <p:nvPr/>
        </p:nvSpPr>
        <p:spPr>
          <a:xfrm xmlns:a="http://schemas.openxmlformats.org/drawingml/2006/main">
            <a:off x="419100" y="4019550"/>
            <a:ext cx="11049000" cy="342900"/>
          </a:xfrm>
          <a:prstGeom xmlns:a="http://schemas.openxmlformats.org/drawingml/2006/main" prst="roundRect">
            <a:avLst>
              <a:gd name="adj" fmla="val 33333"/>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2868B2"/>
                </a:solidFill>
                <a:latin typeface="Arial"/>
                <a:ea typeface="Arial"/>
                <a:cs typeface="Arial"/>
              </a:defRPr>
            </a:pPr>
            <a:r>
              <a:rPr sz="1650" b="1">
                <a:solidFill>
                  <a:srgbClr val="2868B2"/>
                </a:solidFill>
                <a:latin typeface="Arial"/>
                <a:ea typeface="Arial"/>
                <a:cs typeface="Arial"/>
              </a:rPr>
              <a:t>EXPECTED BENEFITS</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36c6e964e93d4bd2">
            <a:extLst>
              <a:ext uri="{96DAC541-7B7A-43D3-8B79-37D633B846F1}">
                <asvg:svgBlip xmlns:asvg="http://schemas.microsoft.com/office/drawing/2016/SVG/main" r:embed="Rb4081374c4a7472f"/>
              </a:ext>
            </a:extLst>
          </a:blip>
          <a:stretch xmlns:a="http://schemas.openxmlformats.org/drawingml/2006/main"/>
        </p:blipFill>
        <p:spPr>
          <a:xfrm xmlns:a="http://schemas.openxmlformats.org/drawingml/2006/main">
            <a:off x="419100" y="4552950"/>
            <a:ext cx="333375" cy="333375"/>
          </a:xfrm>
          <a:prstGeom xmlns:a="http://schemas.openxmlformats.org/drawingml/2006/main" prst="rect">
            <a:avLst/>
          </a:prstGeom>
        </p:spPr>
      </p:pic>
      <p:sp>
        <p:nvSpPr>
          <p:cNvPr id="30" name="">
            <a:extLst xmlns:a="http://schemas.openxmlformats.org/drawingml/2006/main">
              <a:ext uri="{FF2B5EF4-FFF2-40B4-BE49-F238E27FC236}">
                <a16:creationId xmlns:a16="http://schemas.microsoft.com/office/drawing/2014/main" id="{B336C85F-CBE7-4DA7-8A97-16BDD923DC2D}"/>
              </a:ext>
            </a:extLst>
          </p:cNvPr>
          <p:cNvSpPr>
            <a:spLocks xmlns:a="http://schemas.openxmlformats.org/drawingml/2006/main" noGrp="1"/>
          </p:cNvSpPr>
          <p:nvPr/>
        </p:nvSpPr>
        <p:spPr>
          <a:xfrm xmlns:a="http://schemas.openxmlformats.org/drawingml/2006/main">
            <a:off x="885825" y="4543425"/>
            <a:ext cx="3143250" cy="333375"/>
          </a:xfrm>
          <a:prstGeom xmlns:a="http://schemas.openxmlformats.org/drawingml/2006/main" prst="roundRect">
            <a:avLst>
              <a:gd name="adj" fmla="val 3428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Station operators</a:t>
            </a:r>
          </a:p>
        </p:txBody>
      </p:sp>
      <p:sp>
        <p:nvSpPr>
          <p:cNvPr id="31" name="">
            <a:extLst xmlns:a="http://schemas.openxmlformats.org/drawingml/2006/main">
              <a:ext uri="{FF2B5EF4-FFF2-40B4-BE49-F238E27FC236}">
                <a16:creationId xmlns:a16="http://schemas.microsoft.com/office/drawing/2014/main" id="{30A6339C-20CF-47CA-8E1E-AF55036C51EB}"/>
              </a:ext>
            </a:extLst>
          </p:cNvPr>
          <p:cNvSpPr>
            <a:spLocks xmlns:a="http://schemas.openxmlformats.org/drawingml/2006/main" noGrp="1"/>
          </p:cNvSpPr>
          <p:nvPr/>
        </p:nvSpPr>
        <p:spPr>
          <a:xfrm xmlns:a="http://schemas.openxmlformats.org/drawingml/2006/main">
            <a:off x="419100" y="5029200"/>
            <a:ext cx="3619500" cy="666750"/>
          </a:xfrm>
          <a:prstGeom xmlns:a="http://schemas.openxmlformats.org/drawingml/2006/main" prst="roundRect">
            <a:avLst>
              <a:gd name="adj" fmla="val 17143"/>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67B"/>
                </a:solidFill>
                <a:latin typeface="Arial"/>
                <a:ea typeface="Arial"/>
                <a:cs typeface="Arial"/>
              </a:defRPr>
            </a:pPr>
            <a:r>
              <a:rPr sz="1575" b="0">
                <a:solidFill>
                  <a:srgbClr val="52667B"/>
                </a:solidFill>
                <a:latin typeface="Arial"/>
                <a:ea typeface="Arial"/>
                <a:cs typeface="Arial"/>
              </a:rPr>
              <a:t>Less searching across screens;</a:t>
            </a:r>
          </a:p>
          <a:p xmlns:a="http://schemas.openxmlformats.org/drawingml/2006/main">
            <a:pPr algn="l">
              <a:defRPr sz="1575" b="0">
                <a:solidFill>
                  <a:srgbClr val="52667B"/>
                </a:solidFill>
                <a:latin typeface="Arial"/>
                <a:ea typeface="Arial"/>
                <a:cs typeface="Arial"/>
              </a:defRPr>
            </a:pPr>
            <a:r>
              <a:rPr sz="1575" b="0">
                <a:solidFill>
                  <a:srgbClr val="52667B"/>
                </a:solidFill>
                <a:latin typeface="Arial"/>
                <a:ea typeface="Arial"/>
                <a:cs typeface="Arial"/>
              </a:rPr>
              <a:t>more focused sensor investigations.</a:t>
            </a:r>
          </a:p>
        </p:txBody>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c7680327e8e842e8">
            <a:extLst>
              <a:ext uri="{96DAC541-7B7A-43D3-8B79-37D633B846F1}">
                <asvg:svgBlip xmlns:asvg="http://schemas.microsoft.com/office/drawing/2016/SVG/main" r:embed="R9e8ed35a74e24c93"/>
              </a:ext>
            </a:extLst>
          </a:blip>
          <a:stretch xmlns:a="http://schemas.openxmlformats.org/drawingml/2006/main"/>
        </p:blipFill>
        <p:spPr>
          <a:xfrm xmlns:a="http://schemas.openxmlformats.org/drawingml/2006/main">
            <a:off x="4276725" y="4552950"/>
            <a:ext cx="333375" cy="333375"/>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BBA19184-24EB-495C-9CA8-8C165AEBA43A}"/>
              </a:ext>
            </a:extLst>
          </p:cNvPr>
          <p:cNvSpPr>
            <a:spLocks xmlns:a="http://schemas.openxmlformats.org/drawingml/2006/main" noGrp="1"/>
          </p:cNvSpPr>
          <p:nvPr/>
        </p:nvSpPr>
        <p:spPr>
          <a:xfrm xmlns:a="http://schemas.openxmlformats.org/drawingml/2006/main">
            <a:off x="4743450" y="4543425"/>
            <a:ext cx="3143250" cy="333375"/>
          </a:xfrm>
          <a:prstGeom xmlns:a="http://schemas.openxmlformats.org/drawingml/2006/main" prst="roundRect">
            <a:avLst>
              <a:gd name="adj" fmla="val 3428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Weather-data teams</a:t>
            </a:r>
          </a:p>
        </p:txBody>
      </p:sp>
      <p:sp>
        <p:nvSpPr>
          <p:cNvPr id="34" name="">
            <a:extLst xmlns:a="http://schemas.openxmlformats.org/drawingml/2006/main">
              <a:ext uri="{FF2B5EF4-FFF2-40B4-BE49-F238E27FC236}">
                <a16:creationId xmlns:a16="http://schemas.microsoft.com/office/drawing/2014/main" id="{40FEB18E-FBEF-45CD-9A44-C1168ED8E0E3}"/>
              </a:ext>
            </a:extLst>
          </p:cNvPr>
          <p:cNvSpPr>
            <a:spLocks xmlns:a="http://schemas.openxmlformats.org/drawingml/2006/main" noGrp="1"/>
          </p:cNvSpPr>
          <p:nvPr/>
        </p:nvSpPr>
        <p:spPr>
          <a:xfrm xmlns:a="http://schemas.openxmlformats.org/drawingml/2006/main">
            <a:off x="4276725" y="5029200"/>
            <a:ext cx="3619500" cy="666750"/>
          </a:xfrm>
          <a:prstGeom xmlns:a="http://schemas.openxmlformats.org/drawingml/2006/main" prst="roundRect">
            <a:avLst>
              <a:gd name="adj" fmla="val 17143"/>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67B"/>
                </a:solidFill>
                <a:latin typeface="Arial"/>
                <a:ea typeface="Arial"/>
                <a:cs typeface="Arial"/>
              </a:defRPr>
            </a:pPr>
            <a:r>
              <a:rPr sz="1575" b="0">
                <a:solidFill>
                  <a:srgbClr val="52667B"/>
                </a:solidFill>
                <a:latin typeface="Arial"/>
                <a:ea typeface="Arial"/>
                <a:cs typeface="Arial"/>
              </a:rPr>
              <a:t>Consistent evidence and quality flags</a:t>
            </a:r>
          </a:p>
          <a:p xmlns:a="http://schemas.openxmlformats.org/drawingml/2006/main">
            <a:pPr algn="l">
              <a:defRPr sz="1575" b="0">
                <a:solidFill>
                  <a:srgbClr val="52667B"/>
                </a:solidFill>
                <a:latin typeface="Arial"/>
                <a:ea typeface="Arial"/>
                <a:cs typeface="Arial"/>
              </a:defRPr>
            </a:pPr>
            <a:r>
              <a:rPr sz="1575" b="0">
                <a:solidFill>
                  <a:srgbClr val="52667B"/>
                </a:solidFill>
                <a:latin typeface="Arial"/>
                <a:ea typeface="Arial"/>
                <a:cs typeface="Arial"/>
              </a:rPr>
              <a:t>for reviewing suspect observations.</a:t>
            </a:r>
          </a:p>
        </p:txBody>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9658c014f3e64646">
            <a:extLst>
              <a:ext uri="{96DAC541-7B7A-43D3-8B79-37D633B846F1}">
                <asvg:svgBlip xmlns:asvg="http://schemas.microsoft.com/office/drawing/2016/SVG/main" r:embed="Raaa5402b57d04a8e"/>
              </a:ext>
            </a:extLst>
          </a:blip>
          <a:stretch xmlns:a="http://schemas.openxmlformats.org/drawingml/2006/main"/>
        </p:blipFill>
        <p:spPr>
          <a:xfrm xmlns:a="http://schemas.openxmlformats.org/drawingml/2006/main">
            <a:off x="8134350" y="4552950"/>
            <a:ext cx="333375" cy="333375"/>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E61B4178-DCCC-45A3-BABA-59FD3D98917C}"/>
              </a:ext>
            </a:extLst>
          </p:cNvPr>
          <p:cNvSpPr>
            <a:spLocks xmlns:a="http://schemas.openxmlformats.org/drawingml/2006/main" noGrp="1"/>
          </p:cNvSpPr>
          <p:nvPr/>
        </p:nvSpPr>
        <p:spPr>
          <a:xfrm xmlns:a="http://schemas.openxmlformats.org/drawingml/2006/main">
            <a:off x="8601075" y="4543425"/>
            <a:ext cx="3143250" cy="333375"/>
          </a:xfrm>
          <a:prstGeom xmlns:a="http://schemas.openxmlformats.org/drawingml/2006/main" prst="roundRect">
            <a:avLst>
              <a:gd name="adj" fmla="val 34286"/>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1">
                <a:solidFill>
                  <a:srgbClr val="17324D"/>
                </a:solidFill>
                <a:latin typeface="Arial"/>
                <a:ea typeface="Arial"/>
                <a:cs typeface="Arial"/>
              </a:defRPr>
            </a:pPr>
            <a:r>
              <a:rPr sz="1725" b="1">
                <a:solidFill>
                  <a:srgbClr val="17324D"/>
                </a:solidFill>
                <a:latin typeface="Arial"/>
                <a:ea typeface="Arial"/>
                <a:cs typeface="Arial"/>
              </a:rPr>
              <a:t>Regional teams</a:t>
            </a:r>
          </a:p>
        </p:txBody>
      </p:sp>
      <p:sp>
        <p:nvSpPr>
          <p:cNvPr id="37" name="">
            <a:extLst xmlns:a="http://schemas.openxmlformats.org/drawingml/2006/main">
              <a:ext uri="{FF2B5EF4-FFF2-40B4-BE49-F238E27FC236}">
                <a16:creationId xmlns:a16="http://schemas.microsoft.com/office/drawing/2014/main" id="{A3A0CD47-1EA2-4F9C-A7FB-64AD02CE0B5C}"/>
              </a:ext>
            </a:extLst>
          </p:cNvPr>
          <p:cNvSpPr>
            <a:spLocks xmlns:a="http://schemas.openxmlformats.org/drawingml/2006/main" noGrp="1"/>
          </p:cNvSpPr>
          <p:nvPr/>
        </p:nvSpPr>
        <p:spPr>
          <a:xfrm xmlns:a="http://schemas.openxmlformats.org/drawingml/2006/main">
            <a:off x="8134350" y="5029200"/>
            <a:ext cx="3619500" cy="666750"/>
          </a:xfrm>
          <a:prstGeom xmlns:a="http://schemas.openxmlformats.org/drawingml/2006/main" prst="roundRect">
            <a:avLst>
              <a:gd name="adj" fmla="val 17143"/>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52667B"/>
                </a:solidFill>
                <a:latin typeface="Arial"/>
                <a:ea typeface="Arial"/>
                <a:cs typeface="Arial"/>
              </a:defRPr>
            </a:pPr>
            <a:r>
              <a:rPr sz="1575" b="0">
                <a:solidFill>
                  <a:srgbClr val="52667B"/>
                </a:solidFill>
                <a:latin typeface="Arial"/>
                <a:ea typeface="Arial"/>
                <a:cs typeface="Arial"/>
              </a:rPr>
              <a:t>Station health and incident counts</a:t>
            </a:r>
          </a:p>
          <a:p xmlns:a="http://schemas.openxmlformats.org/drawingml/2006/main">
            <a:pPr algn="l">
              <a:defRPr sz="1575" b="0">
                <a:solidFill>
                  <a:srgbClr val="52667B"/>
                </a:solidFill>
                <a:latin typeface="Arial"/>
                <a:ea typeface="Arial"/>
                <a:cs typeface="Arial"/>
              </a:defRPr>
            </a:pPr>
            <a:r>
              <a:rPr sz="1575" b="0">
                <a:solidFill>
                  <a:srgbClr val="52667B"/>
                </a:solidFill>
                <a:latin typeface="Arial"/>
                <a:ea typeface="Arial"/>
                <a:cs typeface="Arial"/>
              </a:rPr>
              <a:t>to identify recurring local issues.</a:t>
            </a:r>
          </a:p>
        </p:txBody>
      </p:sp>
      <p:sp>
        <p:nvSpPr>
          <p:cNvPr id="38" name="">
            <a:extLst xmlns:a="http://schemas.openxmlformats.org/drawingml/2006/main">
              <a:ext uri="{FF2B5EF4-FFF2-40B4-BE49-F238E27FC236}">
                <a16:creationId xmlns:a16="http://schemas.microsoft.com/office/drawing/2014/main" id="{AF5B720D-AFCD-4315-BDB0-748DD235037A}"/>
              </a:ext>
            </a:extLst>
          </p:cNvPr>
          <p:cNvSpPr>
            <a:spLocks xmlns:a="http://schemas.openxmlformats.org/drawingml/2006/main" noGrp="1"/>
          </p:cNvSpPr>
          <p:nvPr/>
        </p:nvSpPr>
        <p:spPr>
          <a:xfrm xmlns:a="http://schemas.openxmlformats.org/drawingml/2006/main">
            <a:off x="419100" y="5934075"/>
            <a:ext cx="11353800" cy="361950"/>
          </a:xfrm>
          <a:prstGeom xmlns:a="http://schemas.openxmlformats.org/drawingml/2006/main" prst="roundRect">
            <a:avLst>
              <a:gd name="adj" fmla="val 31579"/>
            </a:avLst>
          </a:prstGeom>
          <a:solidFill xmlns:a="http://schemas.openxmlformats.org/drawingml/2006/main">
            <a:srgbClr val="FFF7E6"/>
          </a:solidFill>
          <a:ln xmlns:a="http://schemas.openxmlformats.org/drawingml/2006/main" w="15240">
            <a:noFill/>
          </a:ln>
        </p:spPr>
      </p:sp>
      <p:sp>
        <p:nvSpPr>
          <p:cNvPr id="39" name="">
            <a:extLst xmlns:a="http://schemas.openxmlformats.org/drawingml/2006/main">
              <a:ext uri="{FF2B5EF4-FFF2-40B4-BE49-F238E27FC236}">
                <a16:creationId xmlns:a16="http://schemas.microsoft.com/office/drawing/2014/main" id="{5BBC6232-F612-47CA-90BD-D8CEC426B19C}"/>
              </a:ext>
            </a:extLst>
          </p:cNvPr>
          <p:cNvSpPr>
            <a:spLocks xmlns:a="http://schemas.openxmlformats.org/drawingml/2006/main" noGrp="1"/>
          </p:cNvSpPr>
          <p:nvPr/>
        </p:nvSpPr>
        <p:spPr>
          <a:xfrm xmlns:a="http://schemas.openxmlformats.org/drawingml/2006/main">
            <a:off x="581025" y="6019800"/>
            <a:ext cx="11049000"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7324D"/>
                </a:solidFill>
                <a:latin typeface="Arial"/>
                <a:ea typeface="Arial"/>
                <a:cs typeface="Arial"/>
              </a:defRPr>
            </a:pPr>
            <a:r>
              <a:rPr sz="1350" b="0">
                <a:solidFill>
                  <a:srgbClr val="17324D"/>
                </a:solidFill>
                <a:latin typeface="Arial"/>
                <a:ea typeface="Arial"/>
                <a:cs typeface="Arial"/>
              </a:rPr>
              <a:t>Pilot measures: operator review time, missed faults, false alerts and maintenance follow-through.</a:t>
            </a:r>
          </a:p>
        </p:txBody>
      </p:sp>
    </p:spTree>
    <p:extLst>
      <p:ext uri="{BB962C8B-B14F-4D97-AF65-F5344CB8AC3E}">
        <p14:creationId xmlns:p14="http://schemas.microsoft.com/office/powerpoint/2010/main" val="19911601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95C54572-5E64-42F8-97FD-38B369E6E136}"/>
              </a:ext>
            </a:extLst>
          </p:cNvPr>
          <p:cNvSpPr>
            <a:spLocks xmlns:a="http://schemas.openxmlformats.org/drawingml/2006/main" noGrp="1"/>
          </p:cNvSpPr>
          <p:nvPr/>
        </p:nvSpPr>
        <p:spPr>
          <a:xfrm xmlns:a="http://schemas.openxmlformats.org/drawingml/2006/main">
            <a:off x="419100" y="257175"/>
            <a:ext cx="1809750" cy="257175"/>
          </a:xfrm>
          <a:prstGeom xmlns:a="http://schemas.openxmlformats.org/drawingml/2006/main" prst="roundRect">
            <a:avLst>
              <a:gd name="adj" fmla="val 4444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OFF BY ONE</a:t>
            </a:r>
          </a:p>
        </p:txBody>
      </p:sp>
      <p:sp>
        <p:nvSpPr>
          <p:cNvPr id="2" name="">
            <a:extLst xmlns:a="http://schemas.openxmlformats.org/drawingml/2006/main">
              <a:ext uri="{FF2B5EF4-FFF2-40B4-BE49-F238E27FC236}">
                <a16:creationId xmlns:a16="http://schemas.microsoft.com/office/drawing/2014/main" id="{06590606-0025-4AF5-BE69-1FC86CD40D2F}"/>
              </a:ext>
            </a:extLst>
          </p:cNvPr>
          <p:cNvSpPr>
            <a:spLocks xmlns:a="http://schemas.openxmlformats.org/drawingml/2006/main" noGrp="1"/>
          </p:cNvSpPr>
          <p:nvPr/>
        </p:nvSpPr>
        <p:spPr>
          <a:xfrm xmlns:a="http://schemas.openxmlformats.org/drawingml/2006/main">
            <a:off x="2381250" y="209550"/>
            <a:ext cx="6953250" cy="495300"/>
          </a:xfrm>
          <a:prstGeom xmlns:a="http://schemas.openxmlformats.org/drawingml/2006/main" prst="roundRect">
            <a:avLst>
              <a:gd name="adj" fmla="val 23077"/>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17324D"/>
                </a:solidFill>
                <a:latin typeface="Arial"/>
                <a:ea typeface="Arial"/>
                <a:cs typeface="Arial"/>
              </a:defRPr>
            </a:pPr>
            <a:r>
              <a:rPr sz="2550" b="1">
                <a:solidFill>
                  <a:srgbClr val="17324D"/>
                </a:solidFill>
                <a:latin typeface="Arial"/>
                <a:ea typeface="Arial"/>
                <a:cs typeface="Arial"/>
              </a:rPr>
              <a:t>RESEARCH &amp; REFERENCES</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18cc0fd151f04a21"/>
          <a:stretch xmlns:a="http://schemas.openxmlformats.org/drawingml/2006/main"/>
        </p:blipFill>
        <p:spPr>
          <a:xfrm xmlns:a="http://schemas.openxmlformats.org/drawingml/2006/main">
            <a:off x="10334625" y="148332"/>
            <a:ext cx="1428750" cy="67488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493263A-6BE4-4F89-9B71-09C160C77225}"/>
              </a:ext>
            </a:extLst>
          </p:cNvPr>
          <p:cNvSpPr>
            <a:spLocks xmlns:a="http://schemas.openxmlformats.org/drawingml/2006/main" noGrp="1"/>
          </p:cNvSpPr>
          <p:nvPr/>
        </p:nvSpPr>
        <p:spPr>
          <a:xfrm xmlns:a="http://schemas.openxmlformats.org/drawingml/2006/main">
            <a:off x="419100" y="895350"/>
            <a:ext cx="11353800" cy="19050"/>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sp>
        <p:nvSpPr>
          <p:cNvPr id="5" name="">
            <a:extLst xmlns:a="http://schemas.openxmlformats.org/drawingml/2006/main">
              <a:ext uri="{FF2B5EF4-FFF2-40B4-BE49-F238E27FC236}">
                <a16:creationId xmlns:a16="http://schemas.microsoft.com/office/drawing/2014/main" id="{DD95B89B-D768-4231-99FB-E1D8B3042426}"/>
              </a:ext>
            </a:extLst>
          </p:cNvPr>
          <p:cNvSpPr>
            <a:spLocks xmlns:a="http://schemas.openxmlformats.org/drawingml/2006/main" noGrp="1"/>
          </p:cNvSpPr>
          <p:nvPr/>
        </p:nvSpPr>
        <p:spPr>
          <a:xfrm xmlns:a="http://schemas.openxmlformats.org/drawingml/2006/main">
            <a:off x="419100" y="1066800"/>
            <a:ext cx="11287125" cy="400050"/>
          </a:xfrm>
          <a:prstGeom xmlns:a="http://schemas.openxmlformats.org/drawingml/2006/main" prst="roundRect">
            <a:avLst>
              <a:gd name="adj" fmla="val 28571"/>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52667B"/>
                </a:solidFill>
                <a:latin typeface="Arial"/>
                <a:ea typeface="Arial"/>
                <a:cs typeface="Arial"/>
              </a:defRPr>
            </a:pPr>
            <a:r>
              <a:rPr sz="1650" b="0">
                <a:solidFill>
                  <a:srgbClr val="52667B"/>
                </a:solidFill>
                <a:latin typeface="Arial"/>
                <a:ea typeface="Arial"/>
                <a:cs typeface="Arial"/>
              </a:rPr>
              <a:t>Each source informed a specific part of the project.</a:t>
            </a:r>
          </a:p>
        </p:txBody>
      </p:sp>
      <p:sp>
        <p:nvSpPr>
          <p:cNvPr id="6" name="">
            <a:extLst xmlns:a="http://schemas.openxmlformats.org/drawingml/2006/main">
              <a:ext uri="{FF2B5EF4-FFF2-40B4-BE49-F238E27FC236}">
                <a16:creationId xmlns:a16="http://schemas.microsoft.com/office/drawing/2014/main" id="{296CD3D0-4906-4ECE-8530-16589BBC8A0C}"/>
              </a:ext>
            </a:extLst>
          </p:cNvPr>
          <p:cNvSpPr>
            <a:spLocks xmlns:a="http://schemas.openxmlformats.org/drawingml/2006/main" noGrp="1"/>
          </p:cNvSpPr>
          <p:nvPr/>
        </p:nvSpPr>
        <p:spPr>
          <a:xfrm xmlns:a="http://schemas.openxmlformats.org/drawingml/2006/main">
            <a:off x="0" y="6496050"/>
            <a:ext cx="12192000" cy="361950"/>
          </a:xfrm>
          <a:prstGeom xmlns:a="http://schemas.openxmlformats.org/drawingml/2006/main" prst="roundRect">
            <a:avLst>
              <a:gd name="adj" fmla="val 31579"/>
            </a:avLst>
          </a:prstGeom>
          <a:solidFill xmlns:a="http://schemas.openxmlformats.org/drawingml/2006/main">
            <a:srgbClr val="2868B2"/>
          </a:solidFill>
          <a:ln xmlns:a="http://schemas.openxmlformats.org/drawingml/2006/main" w="15240">
            <a:noFill/>
          </a:ln>
        </p:spPr>
      </p:sp>
      <p:sp>
        <p:nvSpPr>
          <p:cNvPr id="7" name="">
            <a:extLst xmlns:a="http://schemas.openxmlformats.org/drawingml/2006/main">
              <a:ext uri="{FF2B5EF4-FFF2-40B4-BE49-F238E27FC236}">
                <a16:creationId xmlns:a16="http://schemas.microsoft.com/office/drawing/2014/main" id="{2D82E1EA-5B0E-4003-9529-2B03D63F573F}"/>
              </a:ext>
            </a:extLst>
          </p:cNvPr>
          <p:cNvSpPr>
            <a:spLocks xmlns:a="http://schemas.openxmlformats.org/drawingml/2006/main" noGrp="1"/>
          </p:cNvSpPr>
          <p:nvPr/>
        </p:nvSpPr>
        <p:spPr>
          <a:xfrm xmlns:a="http://schemas.openxmlformats.org/drawingml/2006/main">
            <a:off x="419100" y="6600825"/>
            <a:ext cx="6667500" cy="1905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SKYGUARD  /  SIH26073</a:t>
            </a:r>
          </a:p>
        </p:txBody>
      </p:sp>
      <p:sp>
        <p:nvSpPr>
          <p:cNvPr id="8" name="">
            <a:extLst xmlns:a="http://schemas.openxmlformats.org/drawingml/2006/main">
              <a:ext uri="{FF2B5EF4-FFF2-40B4-BE49-F238E27FC236}">
                <a16:creationId xmlns:a16="http://schemas.microsoft.com/office/drawing/2014/main" id="{AF85CF2D-099A-448C-8701-BFF49BE30428}"/>
              </a:ext>
            </a:extLst>
          </p:cNvPr>
          <p:cNvSpPr>
            <a:spLocks xmlns:a="http://schemas.openxmlformats.org/drawingml/2006/main" noGrp="1"/>
          </p:cNvSpPr>
          <p:nvPr/>
        </p:nvSpPr>
        <p:spPr>
          <a:xfrm xmlns:a="http://schemas.openxmlformats.org/drawingml/2006/main">
            <a:off x="11287125" y="6572250"/>
            <a:ext cx="476250" cy="228600"/>
          </a:xfrm>
          <a:prstGeom xmlns:a="http://schemas.openxmlformats.org/drawingml/2006/main" prst="roundRect">
            <a:avLst>
              <a:gd name="adj" fmla="val 5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1">
                <a:solidFill>
                  <a:srgbClr val="FFFFFF"/>
                </a:solidFill>
                <a:latin typeface="Arial"/>
                <a:ea typeface="Arial"/>
                <a:cs typeface="Arial"/>
              </a:defRPr>
            </a:pPr>
            <a:r>
              <a:rPr sz="1350" b="1">
                <a:solidFill>
                  <a:srgbClr val="FFFFFF"/>
                </a:solidFill>
                <a:latin typeface="Arial"/>
                <a:ea typeface="Arial"/>
                <a:cs typeface="Arial"/>
              </a:rPr>
              <a:t>06</a:t>
            </a:r>
          </a:p>
        </p:txBody>
      </p:sp>
      <p:sp>
        <p:nvSpPr>
          <p:cNvPr id="9" name="">
            <a:extLst xmlns:a="http://schemas.openxmlformats.org/drawingml/2006/main">
              <a:ext uri="{FF2B5EF4-FFF2-40B4-BE49-F238E27FC236}">
                <a16:creationId xmlns:a16="http://schemas.microsoft.com/office/drawing/2014/main" id="{803360EF-A4E4-4041-85B0-FDA7A98E2981}"/>
              </a:ext>
            </a:extLst>
          </p:cNvPr>
          <p:cNvSpPr>
            <a:spLocks xmlns:a="http://schemas.openxmlformats.org/drawingml/2006/main" noGrp="1"/>
          </p:cNvSpPr>
          <p:nvPr/>
        </p:nvSpPr>
        <p:spPr>
          <a:xfrm xmlns:a="http://schemas.openxmlformats.org/drawingml/2006/main">
            <a:off x="933450" y="1638300"/>
            <a:ext cx="419100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2868B2"/>
                </a:solidFill>
                <a:latin typeface="Arial"/>
                <a:ea typeface="Arial"/>
                <a:cs typeface="Arial"/>
              </a:defRPr>
            </a:pPr>
            <a:r>
              <a:rPr sz="1350" b="1">
                <a:solidFill>
                  <a:srgbClr val="2868B2"/>
                </a:solidFill>
                <a:latin typeface="Arial"/>
                <a:ea typeface="Arial"/>
                <a:cs typeface="Arial"/>
              </a:rPr>
              <a:t>SOURCE</a:t>
            </a:r>
          </a:p>
        </p:txBody>
      </p:sp>
      <p:sp>
        <p:nvSpPr>
          <p:cNvPr id="10" name="">
            <a:extLst xmlns:a="http://schemas.openxmlformats.org/drawingml/2006/main">
              <a:ext uri="{FF2B5EF4-FFF2-40B4-BE49-F238E27FC236}">
                <a16:creationId xmlns:a16="http://schemas.microsoft.com/office/drawing/2014/main" id="{F00056E1-058E-4509-B7E4-038DA72582BB}"/>
              </a:ext>
            </a:extLst>
          </p:cNvPr>
          <p:cNvSpPr>
            <a:spLocks xmlns:a="http://schemas.openxmlformats.org/drawingml/2006/main" noGrp="1"/>
          </p:cNvSpPr>
          <p:nvPr/>
        </p:nvSpPr>
        <p:spPr>
          <a:xfrm xmlns:a="http://schemas.openxmlformats.org/drawingml/2006/main">
            <a:off x="6257925" y="1638300"/>
            <a:ext cx="533400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1">
                <a:solidFill>
                  <a:srgbClr val="168B83"/>
                </a:solidFill>
                <a:latin typeface="Arial"/>
                <a:ea typeface="Arial"/>
                <a:cs typeface="Arial"/>
              </a:defRPr>
            </a:pPr>
            <a:r>
              <a:rPr sz="1350" b="1">
                <a:solidFill>
                  <a:srgbClr val="168B83"/>
                </a:solidFill>
                <a:latin typeface="Arial"/>
                <a:ea typeface="Arial"/>
                <a:cs typeface="Arial"/>
              </a:rPr>
              <a:t>HOW IT INFORMED SKYGUARD</a:t>
            </a:r>
          </a:p>
        </p:txBody>
      </p:sp>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c972edc5fd624508">
            <a:extLst>
              <a:ext uri="{96DAC541-7B7A-43D3-8B79-37D633B846F1}">
                <asvg:svgBlip xmlns:asvg="http://schemas.microsoft.com/office/drawing/2016/SVG/main" r:embed="R460b0753c87b4abb"/>
              </a:ext>
            </a:extLst>
          </a:blip>
          <a:stretch xmlns:a="http://schemas.openxmlformats.org/drawingml/2006/main"/>
        </p:blipFill>
        <p:spPr>
          <a:xfrm xmlns:a="http://schemas.openxmlformats.org/drawingml/2006/main">
            <a:off x="466725" y="2095500"/>
            <a:ext cx="295275" cy="29527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846C82C-6AB8-4669-8DD7-95E77F828B2C}"/>
              </a:ext>
            </a:extLst>
          </p:cNvPr>
          <p:cNvSpPr>
            <a:spLocks xmlns:a="http://schemas.openxmlformats.org/drawingml/2006/main" noGrp="1"/>
          </p:cNvSpPr>
          <p:nvPr/>
        </p:nvSpPr>
        <p:spPr>
          <a:xfrm xmlns:a="http://schemas.openxmlformats.org/drawingml/2006/main">
            <a:off x="942975" y="2047875"/>
            <a:ext cx="455295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SIH26073 problem statement</a:t>
            </a:r>
          </a:p>
        </p:txBody>
      </p:sp>
      <p:sp>
        <p:nvSpPr>
          <p:cNvPr id="13" name="">
            <a:extLst xmlns:a="http://schemas.openxmlformats.org/drawingml/2006/main">
              <a:ext uri="{FF2B5EF4-FFF2-40B4-BE49-F238E27FC236}">
                <a16:creationId xmlns:a16="http://schemas.microsoft.com/office/drawing/2014/main" id="{10B38F00-E686-45A4-A5B3-A40B700BC402}"/>
              </a:ext>
            </a:extLst>
          </p:cNvPr>
          <p:cNvSpPr>
            <a:spLocks xmlns:a="http://schemas.openxmlformats.org/drawingml/2006/main" noGrp="1"/>
          </p:cNvSpPr>
          <p:nvPr/>
        </p:nvSpPr>
        <p:spPr>
          <a:xfrm xmlns:a="http://schemas.openxmlformats.org/drawingml/2006/main">
            <a:off x="942975" y="2333625"/>
            <a:ext cx="4552950"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AWS anomaly-detection need and scope</a:t>
            </a:r>
          </a:p>
        </p:txBody>
      </p:sp>
      <p:sp>
        <p:nvSpPr>
          <p:cNvPr id="14" name="">
            <a:extLst xmlns:a="http://schemas.openxmlformats.org/drawingml/2006/main">
              <a:ext uri="{FF2B5EF4-FFF2-40B4-BE49-F238E27FC236}">
                <a16:creationId xmlns:a16="http://schemas.microsoft.com/office/drawing/2014/main" id="{51308F66-04D5-4B21-8B24-8A1BFF3CD54C}"/>
              </a:ext>
            </a:extLst>
          </p:cNvPr>
          <p:cNvSpPr>
            <a:spLocks xmlns:a="http://schemas.openxmlformats.org/drawingml/2006/main" noGrp="1"/>
          </p:cNvSpPr>
          <p:nvPr/>
        </p:nvSpPr>
        <p:spPr>
          <a:xfrm xmlns:a="http://schemas.openxmlformats.org/drawingml/2006/main">
            <a:off x="5619750" y="22193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15" name="">
            <a:extLst xmlns:a="http://schemas.openxmlformats.org/drawingml/2006/main">
              <a:ext uri="{FF2B5EF4-FFF2-40B4-BE49-F238E27FC236}">
                <a16:creationId xmlns:a16="http://schemas.microsoft.com/office/drawing/2014/main" id="{8C698C97-F2D3-47BD-A117-8B7FE73CD9BA}"/>
              </a:ext>
            </a:extLst>
          </p:cNvPr>
          <p:cNvSpPr>
            <a:spLocks xmlns:a="http://schemas.openxmlformats.org/drawingml/2006/main" noGrp="1"/>
          </p:cNvSpPr>
          <p:nvPr/>
        </p:nvSpPr>
        <p:spPr>
          <a:xfrm xmlns:a="http://schemas.openxmlformats.org/drawingml/2006/main">
            <a:off x="6038850" y="22193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66" name=""/>
          <p:cNvCxnSpPr>
            <a:stCxn xmlns:a="http://schemas.openxmlformats.org/drawingml/2006/main" id="14" idx="3"/>
            <a:endCxn xmlns:a="http://schemas.openxmlformats.org/drawingml/2006/main" id="15" idx="1"/>
          </p:cNvCxnSpPr>
          <p:nvPr/>
        </p:nvCxnSpPr>
        <p:spPr>
          <a:xfrm xmlns:a="http://schemas.openxmlformats.org/drawingml/2006/main">
            <a:off x="5638800" y="22288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17" name="">
            <a:extLst xmlns:a="http://schemas.openxmlformats.org/drawingml/2006/main">
              <a:ext uri="{FF2B5EF4-FFF2-40B4-BE49-F238E27FC236}">
                <a16:creationId xmlns:a16="http://schemas.microsoft.com/office/drawing/2014/main" id="{8771C893-FB54-4442-BDCE-BA4BFEF72A08}"/>
              </a:ext>
            </a:extLst>
          </p:cNvPr>
          <p:cNvSpPr>
            <a:spLocks xmlns:a="http://schemas.openxmlformats.org/drawingml/2006/main" noGrp="1"/>
          </p:cNvSpPr>
          <p:nvPr/>
        </p:nvSpPr>
        <p:spPr>
          <a:xfrm xmlns:a="http://schemas.openxmlformats.org/drawingml/2006/main">
            <a:off x="6257925" y="2133600"/>
            <a:ext cx="5495925" cy="476250"/>
          </a:xfrm>
          <a:prstGeom xmlns:a="http://schemas.openxmlformats.org/drawingml/2006/main" prst="roundRect">
            <a:avLst>
              <a:gd name="adj" fmla="val 24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Defines the target users and T/P/RH task.</a:t>
            </a:r>
          </a:p>
        </p:txBody>
      </p:sp>
      <p:sp>
        <p:nvSpPr>
          <p:cNvPr id="18" name="">
            <a:extLst xmlns:a="http://schemas.openxmlformats.org/drawingml/2006/main">
              <a:ext uri="{FF2B5EF4-FFF2-40B4-BE49-F238E27FC236}">
                <a16:creationId xmlns:a16="http://schemas.microsoft.com/office/drawing/2014/main" id="{A8F6DBB5-6206-461F-B2D4-4F8737369979}"/>
              </a:ext>
            </a:extLst>
          </p:cNvPr>
          <p:cNvSpPr>
            <a:spLocks xmlns:a="http://schemas.openxmlformats.org/drawingml/2006/main" noGrp="1"/>
          </p:cNvSpPr>
          <p:nvPr/>
        </p:nvSpPr>
        <p:spPr>
          <a:xfrm xmlns:a="http://schemas.openxmlformats.org/drawingml/2006/main">
            <a:off x="942975" y="2676525"/>
            <a:ext cx="10810875" cy="9525"/>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fc841ea67df4469e">
            <a:extLst>
              <a:ext uri="{96DAC541-7B7A-43D3-8B79-37D633B846F1}">
                <asvg:svgBlip xmlns:asvg="http://schemas.microsoft.com/office/drawing/2016/SVG/main" r:embed="R6b95f77dc99f4df9"/>
              </a:ext>
            </a:extLst>
          </a:blip>
          <a:stretch xmlns:a="http://schemas.openxmlformats.org/drawingml/2006/main"/>
        </p:blipFill>
        <p:spPr>
          <a:xfrm xmlns:a="http://schemas.openxmlformats.org/drawingml/2006/main">
            <a:off x="466725" y="2838450"/>
            <a:ext cx="295275" cy="29527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516B9C72-C862-4735-868E-802428ACF16B}"/>
              </a:ext>
            </a:extLst>
          </p:cNvPr>
          <p:cNvSpPr>
            <a:spLocks xmlns:a="http://schemas.openxmlformats.org/drawingml/2006/main" noGrp="1"/>
          </p:cNvSpPr>
          <p:nvPr/>
        </p:nvSpPr>
        <p:spPr>
          <a:xfrm xmlns:a="http://schemas.openxmlformats.org/drawingml/2006/main">
            <a:off x="942975" y="2790825"/>
            <a:ext cx="455295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IMD surface instrumentation</a:t>
            </a:r>
          </a:p>
        </p:txBody>
      </p:sp>
      <p:sp>
        <p:nvSpPr>
          <p:cNvPr id="21" name="">
            <a:extLst xmlns:a="http://schemas.openxmlformats.org/drawingml/2006/main">
              <a:ext uri="{FF2B5EF4-FFF2-40B4-BE49-F238E27FC236}">
                <a16:creationId xmlns:a16="http://schemas.microsoft.com/office/drawing/2014/main" id="{63538FA4-679C-408E-B8B9-486EC33F785D}"/>
              </a:ext>
            </a:extLst>
          </p:cNvPr>
          <p:cNvSpPr>
            <a:spLocks xmlns:a="http://schemas.openxmlformats.org/drawingml/2006/main" noGrp="1"/>
          </p:cNvSpPr>
          <p:nvPr/>
        </p:nvSpPr>
        <p:spPr>
          <a:xfrm xmlns:a="http://schemas.openxmlformats.org/drawingml/2006/main">
            <a:off x="942975" y="3076575"/>
            <a:ext cx="4552950"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AWS measurements and monitoring</a:t>
            </a:r>
          </a:p>
        </p:txBody>
      </p:sp>
      <p:sp>
        <p:nvSpPr>
          <p:cNvPr id="22" name="">
            <a:extLst xmlns:a="http://schemas.openxmlformats.org/drawingml/2006/main">
              <a:ext uri="{FF2B5EF4-FFF2-40B4-BE49-F238E27FC236}">
                <a16:creationId xmlns:a16="http://schemas.microsoft.com/office/drawing/2014/main" id="{F48EA3F3-3207-4B3A-A292-91386846C1F2}"/>
              </a:ext>
            </a:extLst>
          </p:cNvPr>
          <p:cNvSpPr>
            <a:spLocks xmlns:a="http://schemas.openxmlformats.org/drawingml/2006/main" noGrp="1"/>
          </p:cNvSpPr>
          <p:nvPr/>
        </p:nvSpPr>
        <p:spPr>
          <a:xfrm xmlns:a="http://schemas.openxmlformats.org/drawingml/2006/main">
            <a:off x="5619750" y="29622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23" name="">
            <a:extLst xmlns:a="http://schemas.openxmlformats.org/drawingml/2006/main">
              <a:ext uri="{FF2B5EF4-FFF2-40B4-BE49-F238E27FC236}">
                <a16:creationId xmlns:a16="http://schemas.microsoft.com/office/drawing/2014/main" id="{384456A0-1F57-4FF2-9073-C57C864A0A74}"/>
              </a:ext>
            </a:extLst>
          </p:cNvPr>
          <p:cNvSpPr>
            <a:spLocks xmlns:a="http://schemas.openxmlformats.org/drawingml/2006/main" noGrp="1"/>
          </p:cNvSpPr>
          <p:nvPr/>
        </p:nvSpPr>
        <p:spPr>
          <a:xfrm xmlns:a="http://schemas.openxmlformats.org/drawingml/2006/main">
            <a:off x="6038850" y="29622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74" name=""/>
          <p:cNvCxnSpPr>
            <a:stCxn xmlns:a="http://schemas.openxmlformats.org/drawingml/2006/main" id="22" idx="3"/>
            <a:endCxn xmlns:a="http://schemas.openxmlformats.org/drawingml/2006/main" id="23" idx="1"/>
          </p:cNvCxnSpPr>
          <p:nvPr/>
        </p:nvCxnSpPr>
        <p:spPr>
          <a:xfrm xmlns:a="http://schemas.openxmlformats.org/drawingml/2006/main">
            <a:off x="5638800" y="297180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25" name="">
            <a:extLst xmlns:a="http://schemas.openxmlformats.org/drawingml/2006/main">
              <a:ext uri="{FF2B5EF4-FFF2-40B4-BE49-F238E27FC236}">
                <a16:creationId xmlns:a16="http://schemas.microsoft.com/office/drawing/2014/main" id="{28CE35DE-0F24-4EEC-B849-0725981F494F}"/>
              </a:ext>
            </a:extLst>
          </p:cNvPr>
          <p:cNvSpPr>
            <a:spLocks xmlns:a="http://schemas.openxmlformats.org/drawingml/2006/main" noGrp="1"/>
          </p:cNvSpPr>
          <p:nvPr/>
        </p:nvSpPr>
        <p:spPr>
          <a:xfrm xmlns:a="http://schemas.openxmlformats.org/drawingml/2006/main">
            <a:off x="6257925" y="2876550"/>
            <a:ext cx="5495925" cy="476250"/>
          </a:xfrm>
          <a:prstGeom xmlns:a="http://schemas.openxmlformats.org/drawingml/2006/main" prst="roundRect">
            <a:avLst>
              <a:gd name="adj" fmla="val 24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Informs observation metadata and station context.</a:t>
            </a:r>
          </a:p>
        </p:txBody>
      </p:sp>
      <p:sp>
        <p:nvSpPr>
          <p:cNvPr id="26" name="">
            <a:extLst xmlns:a="http://schemas.openxmlformats.org/drawingml/2006/main">
              <a:ext uri="{FF2B5EF4-FFF2-40B4-BE49-F238E27FC236}">
                <a16:creationId xmlns:a16="http://schemas.microsoft.com/office/drawing/2014/main" id="{6584DA6E-6329-4C52-81D9-A362EDE65764}"/>
              </a:ext>
            </a:extLst>
          </p:cNvPr>
          <p:cNvSpPr>
            <a:spLocks xmlns:a="http://schemas.openxmlformats.org/drawingml/2006/main" noGrp="1"/>
          </p:cNvSpPr>
          <p:nvPr/>
        </p:nvSpPr>
        <p:spPr>
          <a:xfrm xmlns:a="http://schemas.openxmlformats.org/drawingml/2006/main">
            <a:off x="942975" y="3419475"/>
            <a:ext cx="10810875" cy="9525"/>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pic>
        <p:nvPicPr>
          <p:cNvPr id="77" name=""/>
          <p:cNvPicPr>
            <a:picLocks xmlns:a="http://schemas.openxmlformats.org/drawingml/2006/main" noChangeAspect="1"/>
          </p:cNvPicPr>
          <p:nvPr/>
        </p:nvPicPr>
        <p:blipFill>
          <a:blip xmlns:r="http://schemas.openxmlformats.org/officeDocument/2006/relationships" xmlns:a="http://schemas.openxmlformats.org/drawingml/2006/main" r:embed="R9a265c15349246af">
            <a:extLst>
              <a:ext uri="{96DAC541-7B7A-43D3-8B79-37D633B846F1}">
                <asvg:svgBlip xmlns:asvg="http://schemas.microsoft.com/office/drawing/2016/SVG/main" r:embed="R43466bd084554731"/>
              </a:ext>
            </a:extLst>
          </a:blip>
          <a:stretch xmlns:a="http://schemas.openxmlformats.org/drawingml/2006/main"/>
        </p:blipFill>
        <p:spPr>
          <a:xfrm xmlns:a="http://schemas.openxmlformats.org/drawingml/2006/main">
            <a:off x="466725" y="3581400"/>
            <a:ext cx="295275" cy="295275"/>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54300DE0-A124-4D07-9292-AE5607F6FD77}"/>
              </a:ext>
            </a:extLst>
          </p:cNvPr>
          <p:cNvSpPr>
            <a:spLocks xmlns:a="http://schemas.openxmlformats.org/drawingml/2006/main" noGrp="1"/>
          </p:cNvSpPr>
          <p:nvPr/>
        </p:nvSpPr>
        <p:spPr>
          <a:xfrm xmlns:a="http://schemas.openxmlformats.org/drawingml/2006/main">
            <a:off x="942975" y="3533775"/>
            <a:ext cx="455295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WMO Guide No. 8</a:t>
            </a:r>
          </a:p>
        </p:txBody>
      </p:sp>
      <p:sp>
        <p:nvSpPr>
          <p:cNvPr id="29" name="">
            <a:extLst xmlns:a="http://schemas.openxmlformats.org/drawingml/2006/main">
              <a:ext uri="{FF2B5EF4-FFF2-40B4-BE49-F238E27FC236}">
                <a16:creationId xmlns:a16="http://schemas.microsoft.com/office/drawing/2014/main" id="{D771FB53-CA7C-4B73-80B6-2BD516DA4938}"/>
              </a:ext>
            </a:extLst>
          </p:cNvPr>
          <p:cNvSpPr>
            <a:spLocks xmlns:a="http://schemas.openxmlformats.org/drawingml/2006/main" noGrp="1"/>
          </p:cNvSpPr>
          <p:nvPr/>
        </p:nvSpPr>
        <p:spPr>
          <a:xfrm xmlns:a="http://schemas.openxmlformats.org/drawingml/2006/main">
            <a:off x="942975" y="3819525"/>
            <a:ext cx="4552950"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Measurement methods and data quality</a:t>
            </a:r>
          </a:p>
        </p:txBody>
      </p:sp>
      <p:sp>
        <p:nvSpPr>
          <p:cNvPr id="30" name="">
            <a:extLst xmlns:a="http://schemas.openxmlformats.org/drawingml/2006/main">
              <a:ext uri="{FF2B5EF4-FFF2-40B4-BE49-F238E27FC236}">
                <a16:creationId xmlns:a16="http://schemas.microsoft.com/office/drawing/2014/main" id="{A460D161-9385-48EC-B347-CC2A9E0C3F8C}"/>
              </a:ext>
            </a:extLst>
          </p:cNvPr>
          <p:cNvSpPr>
            <a:spLocks xmlns:a="http://schemas.openxmlformats.org/drawingml/2006/main" noGrp="1"/>
          </p:cNvSpPr>
          <p:nvPr/>
        </p:nvSpPr>
        <p:spPr>
          <a:xfrm xmlns:a="http://schemas.openxmlformats.org/drawingml/2006/main">
            <a:off x="5619750" y="37052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31" name="">
            <a:extLst xmlns:a="http://schemas.openxmlformats.org/drawingml/2006/main">
              <a:ext uri="{FF2B5EF4-FFF2-40B4-BE49-F238E27FC236}">
                <a16:creationId xmlns:a16="http://schemas.microsoft.com/office/drawing/2014/main" id="{3A619260-CAB5-48CF-903A-A349F54959B7}"/>
              </a:ext>
            </a:extLst>
          </p:cNvPr>
          <p:cNvSpPr>
            <a:spLocks xmlns:a="http://schemas.openxmlformats.org/drawingml/2006/main" noGrp="1"/>
          </p:cNvSpPr>
          <p:nvPr/>
        </p:nvSpPr>
        <p:spPr>
          <a:xfrm xmlns:a="http://schemas.openxmlformats.org/drawingml/2006/main">
            <a:off x="6038850" y="37052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82" name=""/>
          <p:cNvCxnSpPr>
            <a:stCxn xmlns:a="http://schemas.openxmlformats.org/drawingml/2006/main" id="30" idx="3"/>
            <a:endCxn xmlns:a="http://schemas.openxmlformats.org/drawingml/2006/main" id="31" idx="1"/>
          </p:cNvCxnSpPr>
          <p:nvPr/>
        </p:nvCxnSpPr>
        <p:spPr>
          <a:xfrm xmlns:a="http://schemas.openxmlformats.org/drawingml/2006/main">
            <a:off x="5638800" y="37147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33" name="">
            <a:extLst xmlns:a="http://schemas.openxmlformats.org/drawingml/2006/main">
              <a:ext uri="{FF2B5EF4-FFF2-40B4-BE49-F238E27FC236}">
                <a16:creationId xmlns:a16="http://schemas.microsoft.com/office/drawing/2014/main" id="{5443E6A3-AD38-4077-88E5-C50C11F625BE}"/>
              </a:ext>
            </a:extLst>
          </p:cNvPr>
          <p:cNvSpPr>
            <a:spLocks xmlns:a="http://schemas.openxmlformats.org/drawingml/2006/main" noGrp="1"/>
          </p:cNvSpPr>
          <p:nvPr/>
        </p:nvSpPr>
        <p:spPr>
          <a:xfrm xmlns:a="http://schemas.openxmlformats.org/drawingml/2006/main">
            <a:off x="6257925" y="3619500"/>
            <a:ext cx="5495925" cy="476250"/>
          </a:xfrm>
          <a:prstGeom xmlns:a="http://schemas.openxmlformats.org/drawingml/2006/main" prst="roundRect">
            <a:avLst>
              <a:gd name="adj" fmla="val 24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Guides physical plausibility and quality checks.</a:t>
            </a:r>
          </a:p>
        </p:txBody>
      </p:sp>
      <p:sp>
        <p:nvSpPr>
          <p:cNvPr id="34" name="">
            <a:extLst xmlns:a="http://schemas.openxmlformats.org/drawingml/2006/main">
              <a:ext uri="{FF2B5EF4-FFF2-40B4-BE49-F238E27FC236}">
                <a16:creationId xmlns:a16="http://schemas.microsoft.com/office/drawing/2014/main" id="{037BC131-0D40-4ECB-A407-B3B705487F0F}"/>
              </a:ext>
            </a:extLst>
          </p:cNvPr>
          <p:cNvSpPr>
            <a:spLocks xmlns:a="http://schemas.openxmlformats.org/drawingml/2006/main" noGrp="1"/>
          </p:cNvSpPr>
          <p:nvPr/>
        </p:nvSpPr>
        <p:spPr>
          <a:xfrm xmlns:a="http://schemas.openxmlformats.org/drawingml/2006/main">
            <a:off x="942975" y="4162425"/>
            <a:ext cx="10810875" cy="9525"/>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a76cc3d018b54111">
            <a:extLst>
              <a:ext uri="{96DAC541-7B7A-43D3-8B79-37D633B846F1}">
                <asvg:svgBlip xmlns:asvg="http://schemas.microsoft.com/office/drawing/2016/SVG/main" r:embed="R07d46640e348427f"/>
              </a:ext>
            </a:extLst>
          </a:blip>
          <a:stretch xmlns:a="http://schemas.openxmlformats.org/drawingml/2006/main"/>
        </p:blipFill>
        <p:spPr>
          <a:xfrm xmlns:a="http://schemas.openxmlformats.org/drawingml/2006/main">
            <a:off x="466725" y="4324350"/>
            <a:ext cx="295275" cy="295275"/>
          </a:xfrm>
          <a:prstGeom xmlns:a="http://schemas.openxmlformats.org/drawingml/2006/main" prst="rect">
            <a:avLst/>
          </a:prstGeom>
        </p:spPr>
      </p:pic>
      <p:sp>
        <p:nvSpPr>
          <p:cNvPr id="36" name="">
            <a:extLst xmlns:a="http://schemas.openxmlformats.org/drawingml/2006/main">
              <a:ext uri="{FF2B5EF4-FFF2-40B4-BE49-F238E27FC236}">
                <a16:creationId xmlns:a16="http://schemas.microsoft.com/office/drawing/2014/main" id="{7D2D93FD-E023-4C5E-8EE7-8EB423AB6A9D}"/>
              </a:ext>
            </a:extLst>
          </p:cNvPr>
          <p:cNvSpPr>
            <a:spLocks xmlns:a="http://schemas.openxmlformats.org/drawingml/2006/main" noGrp="1"/>
          </p:cNvSpPr>
          <p:nvPr/>
        </p:nvSpPr>
        <p:spPr>
          <a:xfrm xmlns:a="http://schemas.openxmlformats.org/drawingml/2006/main">
            <a:off x="942975" y="4276725"/>
            <a:ext cx="455295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scikit-learn: Isolation Forest</a:t>
            </a:r>
          </a:p>
        </p:txBody>
      </p:sp>
      <p:sp>
        <p:nvSpPr>
          <p:cNvPr id="37" name="">
            <a:extLst xmlns:a="http://schemas.openxmlformats.org/drawingml/2006/main">
              <a:ext uri="{FF2B5EF4-FFF2-40B4-BE49-F238E27FC236}">
                <a16:creationId xmlns:a16="http://schemas.microsoft.com/office/drawing/2014/main" id="{EBCB0A40-A93E-47B7-8504-8ED8FC30EE25}"/>
              </a:ext>
            </a:extLst>
          </p:cNvPr>
          <p:cNvSpPr>
            <a:spLocks xmlns:a="http://schemas.openxmlformats.org/drawingml/2006/main" noGrp="1"/>
          </p:cNvSpPr>
          <p:nvPr/>
        </p:nvSpPr>
        <p:spPr>
          <a:xfrm xmlns:a="http://schemas.openxmlformats.org/drawingml/2006/main">
            <a:off x="942975" y="4562475"/>
            <a:ext cx="4552950"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Unsupervised anomaly detection</a:t>
            </a:r>
          </a:p>
        </p:txBody>
      </p:sp>
      <p:sp>
        <p:nvSpPr>
          <p:cNvPr id="38" name="">
            <a:extLst xmlns:a="http://schemas.openxmlformats.org/drawingml/2006/main">
              <a:ext uri="{FF2B5EF4-FFF2-40B4-BE49-F238E27FC236}">
                <a16:creationId xmlns:a16="http://schemas.microsoft.com/office/drawing/2014/main" id="{D78D0B44-A7F4-4F97-B29C-DF9691395510}"/>
              </a:ext>
            </a:extLst>
          </p:cNvPr>
          <p:cNvSpPr>
            <a:spLocks xmlns:a="http://schemas.openxmlformats.org/drawingml/2006/main" noGrp="1"/>
          </p:cNvSpPr>
          <p:nvPr/>
        </p:nvSpPr>
        <p:spPr>
          <a:xfrm xmlns:a="http://schemas.openxmlformats.org/drawingml/2006/main">
            <a:off x="5619750" y="44481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39" name="">
            <a:extLst xmlns:a="http://schemas.openxmlformats.org/drawingml/2006/main">
              <a:ext uri="{FF2B5EF4-FFF2-40B4-BE49-F238E27FC236}">
                <a16:creationId xmlns:a16="http://schemas.microsoft.com/office/drawing/2014/main" id="{B678C47F-6C92-47CF-BDAC-319ECF2659F4}"/>
              </a:ext>
            </a:extLst>
          </p:cNvPr>
          <p:cNvSpPr>
            <a:spLocks xmlns:a="http://schemas.openxmlformats.org/drawingml/2006/main" noGrp="1"/>
          </p:cNvSpPr>
          <p:nvPr/>
        </p:nvSpPr>
        <p:spPr>
          <a:xfrm xmlns:a="http://schemas.openxmlformats.org/drawingml/2006/main">
            <a:off x="6038850" y="444817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90" name=""/>
          <p:cNvCxnSpPr>
            <a:stCxn xmlns:a="http://schemas.openxmlformats.org/drawingml/2006/main" id="38" idx="3"/>
            <a:endCxn xmlns:a="http://schemas.openxmlformats.org/drawingml/2006/main" id="39" idx="1"/>
          </p:cNvCxnSpPr>
          <p:nvPr/>
        </p:nvCxnSpPr>
        <p:spPr>
          <a:xfrm xmlns:a="http://schemas.openxmlformats.org/drawingml/2006/main">
            <a:off x="5638800" y="445770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1" name="">
            <a:extLst xmlns:a="http://schemas.openxmlformats.org/drawingml/2006/main">
              <a:ext uri="{FF2B5EF4-FFF2-40B4-BE49-F238E27FC236}">
                <a16:creationId xmlns:a16="http://schemas.microsoft.com/office/drawing/2014/main" id="{08A4221C-C72B-4209-B936-F8C04833AA0A}"/>
              </a:ext>
            </a:extLst>
          </p:cNvPr>
          <p:cNvSpPr>
            <a:spLocks xmlns:a="http://schemas.openxmlformats.org/drawingml/2006/main" noGrp="1"/>
          </p:cNvSpPr>
          <p:nvPr/>
        </p:nvSpPr>
        <p:spPr>
          <a:xfrm xmlns:a="http://schemas.openxmlformats.org/drawingml/2006/main">
            <a:off x="6257925" y="4362450"/>
            <a:ext cx="5495925" cy="476250"/>
          </a:xfrm>
          <a:prstGeom xmlns:a="http://schemas.openxmlformats.org/drawingml/2006/main" prst="roundRect">
            <a:avLst>
              <a:gd name="adj" fmla="val 24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Supports the ML score alongside other evidence.</a:t>
            </a:r>
          </a:p>
        </p:txBody>
      </p:sp>
      <p:sp>
        <p:nvSpPr>
          <p:cNvPr id="42" name="">
            <a:extLst xmlns:a="http://schemas.openxmlformats.org/drawingml/2006/main">
              <a:ext uri="{FF2B5EF4-FFF2-40B4-BE49-F238E27FC236}">
                <a16:creationId xmlns:a16="http://schemas.microsoft.com/office/drawing/2014/main" id="{39717968-3F23-4111-B5D8-E34732609586}"/>
              </a:ext>
            </a:extLst>
          </p:cNvPr>
          <p:cNvSpPr>
            <a:spLocks xmlns:a="http://schemas.openxmlformats.org/drawingml/2006/main" noGrp="1"/>
          </p:cNvSpPr>
          <p:nvPr/>
        </p:nvSpPr>
        <p:spPr>
          <a:xfrm xmlns:a="http://schemas.openxmlformats.org/drawingml/2006/main">
            <a:off x="942975" y="4905375"/>
            <a:ext cx="10810875" cy="9525"/>
          </a:xfrm>
          <a:prstGeom xmlns:a="http://schemas.openxmlformats.org/drawingml/2006/main" prst="roundRect">
            <a:avLst>
              <a:gd name="adj" fmla="val 50000"/>
            </a:avLst>
          </a:prstGeom>
          <a:solidFill xmlns:a="http://schemas.openxmlformats.org/drawingml/2006/main">
            <a:srgbClr val="CDDBE8"/>
          </a:solidFill>
          <a:ln xmlns:a="http://schemas.openxmlformats.org/drawingml/2006/main" w="15240">
            <a:noFill/>
          </a:ln>
        </p:spPr>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b5cb2c7ba9c84fb9">
            <a:extLst>
              <a:ext uri="{96DAC541-7B7A-43D3-8B79-37D633B846F1}">
                <asvg:svgBlip xmlns:asvg="http://schemas.microsoft.com/office/drawing/2016/SVG/main" r:embed="R56393ad4899c4dbd"/>
              </a:ext>
            </a:extLst>
          </a:blip>
          <a:stretch xmlns:a="http://schemas.openxmlformats.org/drawingml/2006/main"/>
        </p:blipFill>
        <p:spPr>
          <a:xfrm xmlns:a="http://schemas.openxmlformats.org/drawingml/2006/main">
            <a:off x="466725" y="5067300"/>
            <a:ext cx="295275" cy="295275"/>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69DC94D8-2DC4-45EB-961E-D648B255DCD8}"/>
              </a:ext>
            </a:extLst>
          </p:cNvPr>
          <p:cNvSpPr>
            <a:spLocks xmlns:a="http://schemas.openxmlformats.org/drawingml/2006/main" noGrp="1"/>
          </p:cNvSpPr>
          <p:nvPr/>
        </p:nvSpPr>
        <p:spPr>
          <a:xfrm xmlns:a="http://schemas.openxmlformats.org/drawingml/2006/main">
            <a:off x="942975" y="5019675"/>
            <a:ext cx="455295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324D"/>
                </a:solidFill>
                <a:latin typeface="Arial"/>
                <a:ea typeface="Arial"/>
                <a:cs typeface="Arial"/>
              </a:defRPr>
            </a:pPr>
            <a:r>
              <a:rPr sz="1650" b="1">
                <a:solidFill>
                  <a:srgbClr val="17324D"/>
                </a:solidFill>
                <a:latin typeface="Arial"/>
                <a:ea typeface="Arial"/>
                <a:cs typeface="Arial"/>
              </a:rPr>
              <a:t>PMFBY WINDS / OpenStreetMap</a:t>
            </a:r>
          </a:p>
        </p:txBody>
      </p:sp>
      <p:sp>
        <p:nvSpPr>
          <p:cNvPr id="45" name="">
            <a:extLst xmlns:a="http://schemas.openxmlformats.org/drawingml/2006/main">
              <a:ext uri="{FF2B5EF4-FFF2-40B4-BE49-F238E27FC236}">
                <a16:creationId xmlns:a16="http://schemas.microsoft.com/office/drawing/2014/main" id="{864C90C1-F8F4-40B9-8AA7-9C37791E9758}"/>
              </a:ext>
            </a:extLst>
          </p:cNvPr>
          <p:cNvSpPr>
            <a:spLocks xmlns:a="http://schemas.openxmlformats.org/drawingml/2006/main" noGrp="1"/>
          </p:cNvSpPr>
          <p:nvPr/>
        </p:nvSpPr>
        <p:spPr>
          <a:xfrm xmlns:a="http://schemas.openxmlformats.org/drawingml/2006/main">
            <a:off x="942975" y="5305425"/>
            <a:ext cx="4552950" cy="247650"/>
          </a:xfrm>
          <a:prstGeom xmlns:a="http://schemas.openxmlformats.org/drawingml/2006/main" prst="roundRect">
            <a:avLst>
              <a:gd name="adj" fmla="val 46154"/>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275" b="0">
                <a:solidFill>
                  <a:srgbClr val="52667B"/>
                </a:solidFill>
                <a:latin typeface="Arial"/>
                <a:ea typeface="Arial"/>
                <a:cs typeface="Arial"/>
              </a:defRPr>
            </a:pPr>
            <a:r>
              <a:rPr sz="1275" b="0">
                <a:solidFill>
                  <a:srgbClr val="52667B"/>
                </a:solidFill>
                <a:latin typeface="Arial"/>
                <a:ea typeface="Arial"/>
                <a:cs typeface="Arial"/>
              </a:rPr>
              <a:t>Station maps and geographic detail</a:t>
            </a:r>
          </a:p>
        </p:txBody>
      </p:sp>
      <p:sp>
        <p:nvSpPr>
          <p:cNvPr id="46" name="">
            <a:extLst xmlns:a="http://schemas.openxmlformats.org/drawingml/2006/main">
              <a:ext uri="{FF2B5EF4-FFF2-40B4-BE49-F238E27FC236}">
                <a16:creationId xmlns:a16="http://schemas.microsoft.com/office/drawing/2014/main" id="{D943B3B4-A2DD-4EFC-AAD8-6767B0793912}"/>
              </a:ext>
            </a:extLst>
          </p:cNvPr>
          <p:cNvSpPr>
            <a:spLocks xmlns:a="http://schemas.openxmlformats.org/drawingml/2006/main" noGrp="1"/>
          </p:cNvSpPr>
          <p:nvPr/>
        </p:nvSpPr>
        <p:spPr>
          <a:xfrm xmlns:a="http://schemas.openxmlformats.org/drawingml/2006/main">
            <a:off x="5619750" y="51911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sp>
        <p:nvSpPr>
          <p:cNvPr id="47" name="">
            <a:extLst xmlns:a="http://schemas.openxmlformats.org/drawingml/2006/main">
              <a:ext uri="{FF2B5EF4-FFF2-40B4-BE49-F238E27FC236}">
                <a16:creationId xmlns:a16="http://schemas.microsoft.com/office/drawing/2014/main" id="{88FAE1DA-553B-4B4C-8F1B-1C55E2B48404}"/>
              </a:ext>
            </a:extLst>
          </p:cNvPr>
          <p:cNvSpPr>
            <a:spLocks xmlns:a="http://schemas.openxmlformats.org/drawingml/2006/main" noGrp="1"/>
          </p:cNvSpPr>
          <p:nvPr/>
        </p:nvSpPr>
        <p:spPr>
          <a:xfrm xmlns:a="http://schemas.openxmlformats.org/drawingml/2006/main">
            <a:off x="6038850" y="5191125"/>
            <a:ext cx="19050" cy="19050"/>
          </a:xfrm>
          <a:prstGeom xmlns:a="http://schemas.openxmlformats.org/drawingml/2006/main" prst="roundRect">
            <a:avLst>
              <a:gd name="adj" fmla="val 50000"/>
            </a:avLst>
          </a:prstGeom>
          <a:noFill xmlns:a="http://schemas.openxmlformats.org/drawingml/2006/main"/>
          <a:ln xmlns:a="http://schemas.openxmlformats.org/drawingml/2006/main" w="15240">
            <a:noFill/>
          </a:ln>
        </p:spPr>
      </p:sp>
      <p:cxnSp>
        <p:nvCxnSpPr>
          <p:cNvPr id="98" name=""/>
          <p:cNvCxnSpPr>
            <a:stCxn xmlns:a="http://schemas.openxmlformats.org/drawingml/2006/main" id="46" idx="3"/>
            <a:endCxn xmlns:a="http://schemas.openxmlformats.org/drawingml/2006/main" id="47" idx="1"/>
          </p:cNvCxnSpPr>
          <p:nvPr/>
        </p:nvCxnSpPr>
        <p:spPr>
          <a:xfrm xmlns:a="http://schemas.openxmlformats.org/drawingml/2006/main">
            <a:off x="5638800" y="5200650"/>
            <a:ext cx="400050" cy="0"/>
          </a:xfrm>
          <a:prstGeom xmlns:a="http://schemas.openxmlformats.org/drawingml/2006/main" prst="straightConnector1">
            <a:avLst/>
          </a:prstGeom>
          <a:ln xmlns:a="http://schemas.openxmlformats.org/drawingml/2006/main" w="20955">
            <a:solidFill>
              <a:srgbClr val="168B83"/>
            </a:solidFill>
            <a:tailEnd type="triangle" w="sm" len="sm"/>
          </a:ln>
        </p:spPr>
      </p:cxnSp>
      <p:sp>
        <p:nvSpPr>
          <p:cNvPr id="49" name="">
            <a:extLst xmlns:a="http://schemas.openxmlformats.org/drawingml/2006/main">
              <a:ext uri="{FF2B5EF4-FFF2-40B4-BE49-F238E27FC236}">
                <a16:creationId xmlns:a16="http://schemas.microsoft.com/office/drawing/2014/main" id="{5F022B0C-DAF3-42C8-AC49-CFDB368161B7}"/>
              </a:ext>
            </a:extLst>
          </p:cNvPr>
          <p:cNvSpPr>
            <a:spLocks xmlns:a="http://schemas.openxmlformats.org/drawingml/2006/main" noGrp="1"/>
          </p:cNvSpPr>
          <p:nvPr/>
        </p:nvSpPr>
        <p:spPr>
          <a:xfrm xmlns:a="http://schemas.openxmlformats.org/drawingml/2006/main">
            <a:off x="6257925" y="5105400"/>
            <a:ext cx="5495925" cy="476250"/>
          </a:xfrm>
          <a:prstGeom xmlns:a="http://schemas.openxmlformats.org/drawingml/2006/main" prst="roundRect">
            <a:avLst>
              <a:gd name="adj" fmla="val 24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575" b="0">
                <a:solidFill>
                  <a:srgbClr val="17324D"/>
                </a:solidFill>
                <a:latin typeface="Arial"/>
                <a:ea typeface="Arial"/>
                <a:cs typeface="Arial"/>
              </a:defRPr>
            </a:pPr>
            <a:r>
              <a:rPr sz="1575" b="0">
                <a:solidFill>
                  <a:srgbClr val="17324D"/>
                </a:solidFill>
                <a:latin typeface="Arial"/>
                <a:ea typeface="Arial"/>
                <a:cs typeface="Arial"/>
              </a:rPr>
              <a:t>Inspires zoom behaviour and location exploration.</a:t>
            </a:r>
          </a:p>
        </p:txBody>
      </p:sp>
      <p:sp>
        <p:nvSpPr>
          <p:cNvPr id="50" name="">
            <a:extLst xmlns:a="http://schemas.openxmlformats.org/drawingml/2006/main">
              <a:ext uri="{FF2B5EF4-FFF2-40B4-BE49-F238E27FC236}">
                <a16:creationId xmlns:a16="http://schemas.microsoft.com/office/drawing/2014/main" id="{B99BA2A0-2D2F-4302-B232-89DFBD43FA29}"/>
              </a:ext>
            </a:extLst>
          </p:cNvPr>
          <p:cNvSpPr>
            <a:spLocks xmlns:a="http://schemas.openxmlformats.org/drawingml/2006/main" noGrp="1"/>
          </p:cNvSpPr>
          <p:nvPr/>
        </p:nvSpPr>
        <p:spPr>
          <a:xfrm xmlns:a="http://schemas.openxmlformats.org/drawingml/2006/main">
            <a:off x="419100" y="6048375"/>
            <a:ext cx="11353800" cy="285750"/>
          </a:xfrm>
          <a:prstGeom xmlns:a="http://schemas.openxmlformats.org/drawingml/2006/main" prst="roundRect">
            <a:avLst>
              <a:gd name="adj" fmla="val 40000"/>
            </a:avLst>
          </a:prstGeom>
          <a:noFill xmlns:a="http://schemas.openxmlformats.org/drawingml/2006/main"/>
          <a:ln xmlns:a="http://schemas.openxmlformats.org/drawingml/2006/main" w="1524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168B83"/>
                </a:solidFill>
                <a:latin typeface="Arial"/>
                <a:ea typeface="Arial"/>
                <a:cs typeface="Arial"/>
              </a:defRPr>
            </a:pPr>
            <a:r>
              <a:rPr sz="1350" b="0">
                <a:solidFill>
                  <a:srgbClr val="168B83"/>
                </a:solidFill>
                <a:latin typeface="Arial"/>
                <a:ea typeface="Arial"/>
                <a:cs typeface="Arial"/>
              </a:rPr>
              <a:t>Project evidence: reproducible evaluation artifact and recorded limitations accompany the prototype.</a:t>
            </a:r>
          </a:p>
        </p:txBody>
      </p:sp>
    </p:spTree>
    <p:extLst>
      <p:ext uri="{BB962C8B-B14F-4D97-AF65-F5344CB8AC3E}">
        <p14:creationId xmlns:p14="http://schemas.microsoft.com/office/powerpoint/2010/main" val="3799795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2026-09-29T18:21:57.6230000Z</dcterms:created>
  <dcterms:modified xsi:type="dcterms:W3CDTF">2026-09-29T18:21:57.6230000Z</dcterms:modified>
</coreProperties>
</file>