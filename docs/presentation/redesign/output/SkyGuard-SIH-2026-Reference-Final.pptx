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9335389bc734413" /><Relationship Type="http://schemas.openxmlformats.org/officeDocument/2006/relationships/extended-properties" Target="/docProps/app.xml" Id="Ref235cc469f64da8" /><Relationship Type="http://schemas.openxmlformats.org/officeDocument/2006/relationships/officeDocument" Target="/ppt/presentation.xml" Id="R8f20615da0394ca2" /></Relationships>
</file>

<file path=ppt/presentation.xml><?xml version="1.0" encoding="utf-8"?>
<p:presentation xmlns:p="http://schemas.openxmlformats.org/presentationml/2006/main">
  <p:sldMasterIdLst>
    <p:sldMasterId xmlns:r="http://schemas.openxmlformats.org/officeDocument/2006/relationships" id="2147483648" r:id="Re0934a9b2e3e4ea7"/>
  </p:sldMasterIdLst>
  <p:notesMasterIdLst>
    <p:notesMasterId xmlns:r="http://schemas.openxmlformats.org/officeDocument/2006/relationships" r:id="Ra82f2d39db2641cb"/>
  </p:notesMasterIdLst>
  <p:sldIdLst>
    <p:sldId xmlns:r="http://schemas.openxmlformats.org/officeDocument/2006/relationships" id="256" r:id="R0f3db84157d345c6"/>
    <p:sldId xmlns:r="http://schemas.openxmlformats.org/officeDocument/2006/relationships" id="257" r:id="Rc704fa47e4384016"/>
    <p:sldId xmlns:r="http://schemas.openxmlformats.org/officeDocument/2006/relationships" id="258" r:id="R7b6b56e1ea264e6f"/>
    <p:sldId xmlns:r="http://schemas.openxmlformats.org/officeDocument/2006/relationships" id="259" r:id="R75fd22ab925e4bf2"/>
    <p:sldId xmlns:r="http://schemas.openxmlformats.org/officeDocument/2006/relationships" id="260" r:id="R38734e9df79c4159"/>
    <p:sldId xmlns:r="http://schemas.openxmlformats.org/officeDocument/2006/relationships" id="261" r:id="Radf2c5ed176740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cbaf62fc4d413b" /><Relationship Type="http://schemas.openxmlformats.org/officeDocument/2006/relationships/slideMaster" Target="/ppt/slideMasters/slideMaster1.xml" Id="Re0934a9b2e3e4ea7" /><Relationship Type="http://schemas.openxmlformats.org/officeDocument/2006/relationships/notesMaster" Target="/ppt/notesMasters/notesMaster1.xml" Id="Ra82f2d39db2641cb" /><Relationship Type="http://schemas.openxmlformats.org/officeDocument/2006/relationships/presProps" Target="/ppt/presProps.xml" Id="R73c09818ed0d453d" /><Relationship Type="http://schemas.openxmlformats.org/officeDocument/2006/relationships/tableStyles" Target="/ppt/tableStyles.xml" Id="R40b03ef512b54690" /><Relationship Type="http://schemas.openxmlformats.org/officeDocument/2006/relationships/slide" Target="/ppt/slides/slide1.xml" Id="R0f3db84157d345c6" /><Relationship Type="http://schemas.openxmlformats.org/officeDocument/2006/relationships/slide" Target="/ppt/slides/slide2.xml" Id="Rc704fa47e4384016" /><Relationship Type="http://schemas.openxmlformats.org/officeDocument/2006/relationships/slide" Target="/ppt/slides/slide3.xml" Id="R7b6b56e1ea264e6f" /><Relationship Type="http://schemas.openxmlformats.org/officeDocument/2006/relationships/slide" Target="/ppt/slides/slide4.xml" Id="R75fd22ab925e4bf2" /><Relationship Type="http://schemas.openxmlformats.org/officeDocument/2006/relationships/slide" Target="/ppt/slides/slide5.xml" Id="R38734e9df79c4159" /><Relationship Type="http://schemas.openxmlformats.org/officeDocument/2006/relationships/slide" Target="/ppt/slides/slide6.xml" Id="Radf2c5ed176740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3d890932ab42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f251d8fa8642f0" /><Relationship Type="http://schemas.openxmlformats.org/officeDocument/2006/relationships/notesMaster" Target="/ppt/notesMasters/notesMaster1.xml" Id="Rad14b2d9f2dd40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20e17a4495429f" /><Relationship Type="http://schemas.openxmlformats.org/officeDocument/2006/relationships/notesMaster" Target="/ppt/notesMasters/notesMaster1.xml" Id="Rbdc31ba8f1ce49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9748110c8c4404" /><Relationship Type="http://schemas.openxmlformats.org/officeDocument/2006/relationships/notesMaster" Target="/ppt/notesMasters/notesMaster1.xml" Id="R354c3280f5a243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8e0302eb824dcc" /><Relationship Type="http://schemas.openxmlformats.org/officeDocument/2006/relationships/notesMaster" Target="/ppt/notesMasters/notesMaster1.xml" Id="Rf52358fabfd742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24fc5e1049475d" /><Relationship Type="http://schemas.openxmlformats.org/officeDocument/2006/relationships/notesMaster" Target="/ppt/notesMasters/notesMaster1.xml" Id="Rb0ce3b3148d54a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b36d4a72574f11" /><Relationship Type="http://schemas.openxmlformats.org/officeDocument/2006/relationships/notesMaster" Target="/ppt/notesMasters/notesMaster1.xml" Id="Rd592ec5566cc43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PS and user team details from linked source Canva deck. Synthetic prototype, no live IMD feed.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T/P/RH contract and pipeline. Virtual Buddy uses eligible nearby peers. Six technical classes group into these outcomes for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architecture: React/Three.js UI, FastAPI/Python, scikit-learn Isolation Forest, SQLite. Causal features only. No NWP. Raw values and correction proposals stored separately. Six output classes retained. Evidence strength is uncalibrated. Icons Lucide ISC, logo sources in pitch/logos/SOURCES.md.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benchmark ml/artifacts/evaluation_v2_comparison.json. 4,032 samples,24 station identities,7 scenarios. Fault recall77.47%/85.76%, weather recall9.72%. Same simulator family, not field validation. Financial and operational benefits require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captured from the actual local SkyGuard station UI this turn. Data is simulated. Operator workflow is implemented; time and cost savings not field measured. Regional teams can track recurring incidents. Original observations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SIH problem statement supplied by user: references/tprh-revision.txt and original brief.</a:t>
            </a:r>
          </a:p>
          <a:p xmlns:a="http://schemas.openxmlformats.org/drawingml/2006/main">
            <a:r>
              <a:t>IMD: https://mausam.imd.gov.in/imd_latest/contents/surface-met.php</a:t>
            </a:r>
          </a:p>
          <a:p xmlns:a="http://schemas.openxmlformats.org/drawingml/2006/main">
            <a:r>
              <a:t>WMO: https://wmo.int/publication-series/guide-instruments-and-methods-of-observation-wmo-no-8</a:t>
            </a:r>
          </a:p>
          <a:p xmlns:a="http://schemas.openxmlformats.org/drawingml/2006/main">
            <a:r>
              <a:t>scikit-learn: https://scikit-learn.org/stable/modules/generated/sklearn.ensemble.IsolationForest.html</a:t>
            </a:r>
          </a:p>
          <a:p xmlns:a="http://schemas.openxmlformats.org/drawingml/2006/main">
            <a:r>
              <a:t>PMFBY: https://pmfby.gov.in/winds/weather</a:t>
            </a:r>
          </a:p>
          <a:p xmlns:a="http://schemas.openxmlformats.org/drawingml/2006/main">
            <a:r>
              <a:t>OpenStreetMap: https://www.openstreetmap.org</a:t>
            </a:r>
          </a:p>
          <a:p xmlns:a="http://schemas.openxmlformats.org/drawingml/2006/main">
            <a:r>
              <a:t>Local evidence: ml/artifacts/evaluation_v2_comparison.json and docs/LIMITATIONS.md.</a:t>
            </a:r>
          </a:p>
          <a:p xmlns:a="http://schemas.openxmlformats.org/drawingml/2006/main">
            <a:r>
              <a:t>Visual direction: user-supplied SIH reference screenshots (technical flow and feasibility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ceeb27f4a548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c54d15fb8b4512" /><Relationship Type="http://schemas.openxmlformats.org/officeDocument/2006/relationships/slideLayout" Target="/ppt/slideLayouts/slideLayout1.xml" Id="R295bc4ba4ec741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5bc4ba4ec741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4493f902f7432e" /><Relationship Type="http://schemas.openxmlformats.org/officeDocument/2006/relationships/image" Target="/ppt/media/image.png" Id="R66ebac58c1f143aa" /><Relationship Type="http://schemas.openxmlformats.org/officeDocument/2006/relationships/image" Target="/ppt/media/image2.png" Id="Rfa4dd5810c47440a" /><Relationship Type="http://schemas.openxmlformats.org/officeDocument/2006/relationships/image" Target="/ppt/media/image.svg" Id="R273b8179ef9440ed" /><Relationship Type="http://schemas.openxmlformats.org/officeDocument/2006/relationships/image" Target="/ppt/media/image3.png" Id="R6aa92fb73849495a" /><Relationship Type="http://schemas.openxmlformats.org/officeDocument/2006/relationships/image" Target="/ppt/media/image2.svg" Id="R0ff4050e62464d20" /><Relationship Type="http://schemas.openxmlformats.org/officeDocument/2006/relationships/image" Target="/ppt/media/image4.png" Id="Rb357ea4a8f194ca4" /><Relationship Type="http://schemas.openxmlformats.org/officeDocument/2006/relationships/image" Target="/ppt/media/image3.svg" Id="Raae9b68d812c434b" /><Relationship Type="http://schemas.openxmlformats.org/officeDocument/2006/relationships/image" Target="/ppt/media/image5.png" Id="R0f73334512d4400c" /><Relationship Type="http://schemas.openxmlformats.org/officeDocument/2006/relationships/image" Target="/ppt/media/image4.svg" Id="R7e2eac8ab23547aa" /><Relationship Type="http://schemas.openxmlformats.org/officeDocument/2006/relationships/notesSlide" Target="/ppt/notesSlides/notesSlide1.xml" Id="R9b8fb3f741074f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96433b608a47ad" /><Relationship Type="http://schemas.openxmlformats.org/officeDocument/2006/relationships/image" Target="/ppt/media/image6.png" Id="R62b17f7f6dc14a6d" /><Relationship Type="http://schemas.openxmlformats.org/officeDocument/2006/relationships/image" Target="/ppt/media/image7.png" Id="R3b15794f3757400e" /><Relationship Type="http://schemas.openxmlformats.org/officeDocument/2006/relationships/image" Target="/ppt/media/image5.svg" Id="R1403aac2fe8b46b6" /><Relationship Type="http://schemas.openxmlformats.org/officeDocument/2006/relationships/image" Target="/ppt/media/image8.png" Id="R1d9bc8ce64b3482b" /><Relationship Type="http://schemas.openxmlformats.org/officeDocument/2006/relationships/image" Target="/ppt/media/image6.svg" Id="Rc34c80a8c6674626" /><Relationship Type="http://schemas.openxmlformats.org/officeDocument/2006/relationships/image" Target="/ppt/media/image9.png" Id="R976fdb39bed64add" /><Relationship Type="http://schemas.openxmlformats.org/officeDocument/2006/relationships/image" Target="/ppt/media/image7.svg" Id="Rffd423d68d514b0d" /><Relationship Type="http://schemas.openxmlformats.org/officeDocument/2006/relationships/image" Target="/ppt/media/image10.png" Id="R15d7f9aeeec34cc2" /><Relationship Type="http://schemas.openxmlformats.org/officeDocument/2006/relationships/image" Target="/ppt/media/image8.svg" Id="R10c53335e7914727" /><Relationship Type="http://schemas.openxmlformats.org/officeDocument/2006/relationships/image" Target="/ppt/media/image11.png" Id="Rbd05d7cf8cdf4946" /><Relationship Type="http://schemas.openxmlformats.org/officeDocument/2006/relationships/image" Target="/ppt/media/image9.svg" Id="Rcc80b3597e5c4782" /><Relationship Type="http://schemas.openxmlformats.org/officeDocument/2006/relationships/image" Target="/ppt/media/image12.png" Id="R8788f19128d04426" /><Relationship Type="http://schemas.openxmlformats.org/officeDocument/2006/relationships/image" Target="/ppt/media/image10.svg" Id="R9accf76601b44585" /><Relationship Type="http://schemas.openxmlformats.org/officeDocument/2006/relationships/image" Target="/ppt/media/image13.png" Id="Rc9fe5985d0cf498e" /><Relationship Type="http://schemas.openxmlformats.org/officeDocument/2006/relationships/image" Target="/ppt/media/image11.svg" Id="R37132ad8daf74dd4" /><Relationship Type="http://schemas.openxmlformats.org/officeDocument/2006/relationships/notesSlide" Target="/ppt/notesSlides/notesSlide2.xml" Id="R4080af946c524b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90461b200e4c57" /><Relationship Type="http://schemas.openxmlformats.org/officeDocument/2006/relationships/image" Target="/ppt/media/image14.png" Id="R99ad245602064a79" /><Relationship Type="http://schemas.openxmlformats.org/officeDocument/2006/relationships/image" Target="/ppt/media/image15.png" Id="R6241bf9df4464409" /><Relationship Type="http://schemas.openxmlformats.org/officeDocument/2006/relationships/image" Target="/ppt/media/image12.svg" Id="R81872ae877494bed" /><Relationship Type="http://schemas.openxmlformats.org/officeDocument/2006/relationships/image" Target="/ppt/media/image16.png" Id="Ref6241577bc54dfc" /><Relationship Type="http://schemas.openxmlformats.org/officeDocument/2006/relationships/image" Target="/ppt/media/image13.svg" Id="Rd5637dd955514dae" /><Relationship Type="http://schemas.openxmlformats.org/officeDocument/2006/relationships/image" Target="/ppt/media/image17.png" Id="R4515330312a94276" /><Relationship Type="http://schemas.openxmlformats.org/officeDocument/2006/relationships/image" Target="/ppt/media/image14.svg" Id="Rb8c1894f6d824583" /><Relationship Type="http://schemas.openxmlformats.org/officeDocument/2006/relationships/image" Target="/ppt/media/image18.png" Id="Rb62fe35651844606" /><Relationship Type="http://schemas.openxmlformats.org/officeDocument/2006/relationships/image" Target="/ppt/media/image15.svg" Id="R0916a6591fcd470b" /><Relationship Type="http://schemas.openxmlformats.org/officeDocument/2006/relationships/image" Target="/ppt/media/image19.png" Id="R9bd8fd7ba179426f" /><Relationship Type="http://schemas.openxmlformats.org/officeDocument/2006/relationships/image" Target="/ppt/media/image16.svg" Id="R90aa1da658f34da0" /><Relationship Type="http://schemas.openxmlformats.org/officeDocument/2006/relationships/image" Target="/ppt/media/image20.png" Id="Rd83aa5f9e9224da3" /><Relationship Type="http://schemas.openxmlformats.org/officeDocument/2006/relationships/image" Target="/ppt/media/image17.svg" Id="Rf07196b12c494f24" /><Relationship Type="http://schemas.openxmlformats.org/officeDocument/2006/relationships/image" Target="/ppt/media/image21.png" Id="R47ece5ffcdc44b95" /><Relationship Type="http://schemas.openxmlformats.org/officeDocument/2006/relationships/image" Target="/ppt/media/image18.svg" Id="R81421971f0794a31" /><Relationship Type="http://schemas.openxmlformats.org/officeDocument/2006/relationships/image" Target="/ppt/media/image22.png" Id="Rafbc8b2607924018" /><Relationship Type="http://schemas.openxmlformats.org/officeDocument/2006/relationships/image" Target="/ppt/media/image19.svg" Id="R6a42063c08d94ccc" /><Relationship Type="http://schemas.openxmlformats.org/officeDocument/2006/relationships/image" Target="/ppt/media/image23.png" Id="R6768b36dc873436d" /><Relationship Type="http://schemas.openxmlformats.org/officeDocument/2006/relationships/image" Target="/ppt/media/image20.svg" Id="Rbcbe178dc9f44245" /><Relationship Type="http://schemas.openxmlformats.org/officeDocument/2006/relationships/image" Target="/ppt/media/image24.png" Id="Ra88504c384ab4bd9" /><Relationship Type="http://schemas.openxmlformats.org/officeDocument/2006/relationships/image" Target="/ppt/media/image21.svg" Id="Rf085494d8a1a4436" /><Relationship Type="http://schemas.openxmlformats.org/officeDocument/2006/relationships/image" Target="/ppt/media/image25.png" Id="R4b5c422489dd4cad" /><Relationship Type="http://schemas.openxmlformats.org/officeDocument/2006/relationships/image" Target="/ppt/media/image22.svg" Id="R513dd12a3db64642" /><Relationship Type="http://schemas.openxmlformats.org/officeDocument/2006/relationships/image" Target="/ppt/media/image26.png" Id="Rb42e64eb81a14466" /><Relationship Type="http://schemas.openxmlformats.org/officeDocument/2006/relationships/image" Target="/ppt/media/image23.svg" Id="R8d64a16114784860" /><Relationship Type="http://schemas.openxmlformats.org/officeDocument/2006/relationships/notesSlide" Target="/ppt/notesSlides/notesSlide3.xml" Id="Rc625355b09574e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93c7f7aba445d4" /><Relationship Type="http://schemas.openxmlformats.org/officeDocument/2006/relationships/image" Target="/ppt/media/image27.png" Id="R4d6a260b02784d15" /><Relationship Type="http://schemas.openxmlformats.org/officeDocument/2006/relationships/image" Target="/ppt/media/image28.png" Id="Re748dabe989d4f75" /><Relationship Type="http://schemas.openxmlformats.org/officeDocument/2006/relationships/image" Target="/ppt/media/image24.svg" Id="R8f5b7345530b48bc" /><Relationship Type="http://schemas.openxmlformats.org/officeDocument/2006/relationships/image" Target="/ppt/media/image29.png" Id="Rc973cc97118d40fc" /><Relationship Type="http://schemas.openxmlformats.org/officeDocument/2006/relationships/image" Target="/ppt/media/image25.svg" Id="Rff32867711e04505" /><Relationship Type="http://schemas.openxmlformats.org/officeDocument/2006/relationships/image" Target="/ppt/media/image30.png" Id="R207baa0a583e4898" /><Relationship Type="http://schemas.openxmlformats.org/officeDocument/2006/relationships/image" Target="/ppt/media/image26.svg" Id="R1ea4bd584b8d4418" /><Relationship Type="http://schemas.openxmlformats.org/officeDocument/2006/relationships/chart" Target="/ppt/slides/charts/chart1.xml" Id="R5e4f70c54e0b4309" /><Relationship Type="http://schemas.openxmlformats.org/officeDocument/2006/relationships/image" Target="/ppt/media/image31.png" Id="R0e7a9a9be6c14c05" /><Relationship Type="http://schemas.openxmlformats.org/officeDocument/2006/relationships/image" Target="/ppt/media/image27.svg" Id="R31ed6dd9afda4cd3" /><Relationship Type="http://schemas.openxmlformats.org/officeDocument/2006/relationships/image" Target="/ppt/media/image32.png" Id="R5ca2f3f3debd4d0d" /><Relationship Type="http://schemas.openxmlformats.org/officeDocument/2006/relationships/image" Target="/ppt/media/image28.svg" Id="Ra02396ffb59140e8" /><Relationship Type="http://schemas.openxmlformats.org/officeDocument/2006/relationships/image" Target="/ppt/media/image33.png" Id="R272a40c690024817" /><Relationship Type="http://schemas.openxmlformats.org/officeDocument/2006/relationships/image" Target="/ppt/media/image29.svg" Id="R02101b5bd4f045fe" /><Relationship Type="http://schemas.openxmlformats.org/officeDocument/2006/relationships/image" Target="/ppt/media/image34.png" Id="R0c8463b746254efa" /><Relationship Type="http://schemas.openxmlformats.org/officeDocument/2006/relationships/image" Target="/ppt/media/image30.svg" Id="R60338ef8974a427a" /><Relationship Type="http://schemas.openxmlformats.org/officeDocument/2006/relationships/notesSlide" Target="/ppt/notesSlides/notesSlide4.xml" Id="Ree647df34f5140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a045d1c83b4aef" /><Relationship Type="http://schemas.openxmlformats.org/officeDocument/2006/relationships/image" Target="/ppt/media/image35.png" Id="R0ff89c552b3c48d3" /><Relationship Type="http://schemas.openxmlformats.org/officeDocument/2006/relationships/image" Target="/ppt/media/image.jpeg" Id="Re21c2808f0b3420b" /><Relationship Type="http://schemas.openxmlformats.org/officeDocument/2006/relationships/image" Target="/ppt/media/image36.png" Id="Ra8edb0814ed141c9" /><Relationship Type="http://schemas.openxmlformats.org/officeDocument/2006/relationships/image" Target="/ppt/media/image31.svg" Id="R0fbed543e370453d" /><Relationship Type="http://schemas.openxmlformats.org/officeDocument/2006/relationships/image" Target="/ppt/media/image37.png" Id="Red2922c1f48a46dd" /><Relationship Type="http://schemas.openxmlformats.org/officeDocument/2006/relationships/image" Target="/ppt/media/image32.svg" Id="Rad385b5f4b9b410c" /><Relationship Type="http://schemas.openxmlformats.org/officeDocument/2006/relationships/image" Target="/ppt/media/image38.png" Id="Rc1063ffea59e4cea" /><Relationship Type="http://schemas.openxmlformats.org/officeDocument/2006/relationships/image" Target="/ppt/media/image33.svg" Id="Racf3634403e6454c" /><Relationship Type="http://schemas.openxmlformats.org/officeDocument/2006/relationships/notesSlide" Target="/ppt/notesSlides/notesSlide5.xml" Id="Rdd62b138dda446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b6fd3752e74475" /><Relationship Type="http://schemas.openxmlformats.org/officeDocument/2006/relationships/image" Target="/ppt/media/image39.png" Id="Rf9f4bde8518c4d19" /><Relationship Type="http://schemas.openxmlformats.org/officeDocument/2006/relationships/image" Target="/ppt/media/image40.png" Id="Rf761580a43b24027" /><Relationship Type="http://schemas.openxmlformats.org/officeDocument/2006/relationships/image" Target="/ppt/media/image34.svg" Id="R82ab7e139b484a91" /><Relationship Type="http://schemas.openxmlformats.org/officeDocument/2006/relationships/image" Target="/ppt/media/image41.png" Id="R7a44be580c434067" /><Relationship Type="http://schemas.openxmlformats.org/officeDocument/2006/relationships/image" Target="/ppt/media/image35.svg" Id="R6580558eec334611" /><Relationship Type="http://schemas.openxmlformats.org/officeDocument/2006/relationships/image" Target="/ppt/media/image42.png" Id="R7177a48ec7be468e" /><Relationship Type="http://schemas.openxmlformats.org/officeDocument/2006/relationships/image" Target="/ppt/media/image36.svg" Id="Rc5a4ddd08b9a46aa" /><Relationship Type="http://schemas.openxmlformats.org/officeDocument/2006/relationships/image" Target="/ppt/media/image43.png" Id="Rfaaa1a1ca1b5458e" /><Relationship Type="http://schemas.openxmlformats.org/officeDocument/2006/relationships/image" Target="/ppt/media/image37.svg" Id="R37f6a8364b8b4fe5" /><Relationship Type="http://schemas.openxmlformats.org/officeDocument/2006/relationships/image" Target="/ppt/media/image44.png" Id="R5180bed3289746e1" /><Relationship Type="http://schemas.openxmlformats.org/officeDocument/2006/relationships/image" Target="/ppt/media/image38.svg" Id="R620cff0e8ffc43f1" /><Relationship Type="http://schemas.openxmlformats.org/officeDocument/2006/relationships/notesSlide" Target="/ppt/notesSlides/notesSlide6.xml" Id="R460b9b1e52aa45b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varyColors val="0"/>
        <c:ser>
          <c:idx val="0"/>
          <c:order val="0"/>
          <c:tx>
            <c:v>Recall</c:v>
          </c:tx>
          <c:spPr>
            <a:solidFill xmlns:a="http://schemas.openxmlformats.org/drawingml/2006/main">
              <a:srgbClr val="168B83"/>
            </a:solidFill>
          </c:spPr>
          <c:cat>
            <c:strRef>
              <c:f>'Chart Data'!$A$2:$A$3</c:f>
              <c:strCache>
                <c:ptCount val="2"/>
                <c:pt idx="0">
                  <c:v>Baseline</c:v>
                </c:pt>
                <c:pt idx="1">
                  <c:v>SkyGuard</c:v>
                </c:pt>
              </c:strCache>
            </c:strRef>
          </c:cat>
          <c:val>
            <c:numRef>
              <c:f>'Chart Data'!$B$2:$B$3</c:f>
              <c:numCache>
                <c:formatCode>General</c:formatCode>
                <c:ptCount val="2"/>
                <c:pt idx="0">
                  <c:v>77.47</c:v>
                </c:pt>
                <c:pt idx="1">
                  <c:v>85.76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166E5D0-0BB9-41D6-BE2E-270E7C173952}"/>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C097B20E-71AC-4534-90B4-0CE7A946574A}"/>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SKYGUARD</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6ebac58c1f143aa"/>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0FBA76D-85F9-49FF-9463-A43518E127D8}"/>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49E48204-DF97-4EE9-9E12-BF96251B8A53}"/>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6" name="">
            <a:extLst xmlns:a="http://schemas.openxmlformats.org/drawingml/2006/main">
              <a:ext uri="{FF2B5EF4-FFF2-40B4-BE49-F238E27FC236}">
                <a16:creationId xmlns:a16="http://schemas.microsoft.com/office/drawing/2014/main" id="{98E952B8-98B9-4872-9C34-719D4A7E00E1}"/>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7" name="">
            <a:extLst xmlns:a="http://schemas.openxmlformats.org/drawingml/2006/main">
              <a:ext uri="{FF2B5EF4-FFF2-40B4-BE49-F238E27FC236}">
                <a16:creationId xmlns:a16="http://schemas.microsoft.com/office/drawing/2014/main" id="{8FC76496-9944-49CF-8669-9BBE4F22BF55}"/>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52FF15A5-415D-4315-A785-7719D809DE5E}"/>
              </a:ext>
            </a:extLst>
          </p:cNvPr>
          <p:cNvSpPr>
            <a:spLocks xmlns:a="http://schemas.openxmlformats.org/drawingml/2006/main" noGrp="1"/>
          </p:cNvSpPr>
          <p:nvPr/>
        </p:nvSpPr>
        <p:spPr>
          <a:xfrm xmlns:a="http://schemas.openxmlformats.org/drawingml/2006/main">
            <a:off x="514350" y="1562100"/>
            <a:ext cx="7239000" cy="11906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3675" b="1">
                <a:solidFill>
                  <a:srgbClr val="17324D"/>
                </a:solidFill>
                <a:latin typeface="Arial"/>
                <a:ea typeface="Arial"/>
                <a:cs typeface="Arial"/>
              </a:defRPr>
            </a:pPr>
            <a:r>
              <a:rPr sz="3675" b="1">
                <a:solidFill>
                  <a:srgbClr val="17324D"/>
                </a:solidFill>
                <a:latin typeface="Arial"/>
                <a:ea typeface="Arial"/>
                <a:cs typeface="Arial"/>
              </a:rPr>
              <a:t>Understanding unusual</a:t>
            </a:r>
          </a:p>
          <a:p xmlns:a="http://schemas.openxmlformats.org/drawingml/2006/main">
            <a:pPr algn="l">
              <a:defRPr sz="3675" b="1">
                <a:solidFill>
                  <a:srgbClr val="17324D"/>
                </a:solidFill>
                <a:latin typeface="Arial"/>
                <a:ea typeface="Arial"/>
                <a:cs typeface="Arial"/>
              </a:defRPr>
            </a:pPr>
            <a:r>
              <a:rPr sz="3675" b="1">
                <a:solidFill>
                  <a:srgbClr val="17324D"/>
                </a:solidFill>
                <a:latin typeface="Arial"/>
                <a:ea typeface="Arial"/>
                <a:cs typeface="Arial"/>
              </a:rPr>
              <a:t>weather readings</a:t>
            </a:r>
          </a:p>
        </p:txBody>
      </p:sp>
      <p:sp>
        <p:nvSpPr>
          <p:cNvPr id="9" name="">
            <a:extLst xmlns:a="http://schemas.openxmlformats.org/drawingml/2006/main">
              <a:ext uri="{FF2B5EF4-FFF2-40B4-BE49-F238E27FC236}">
                <a16:creationId xmlns:a16="http://schemas.microsoft.com/office/drawing/2014/main" id="{1D7D0F8C-E2E6-496E-9703-8A824E748925}"/>
              </a:ext>
            </a:extLst>
          </p:cNvPr>
          <p:cNvSpPr>
            <a:spLocks xmlns:a="http://schemas.openxmlformats.org/drawingml/2006/main" noGrp="1"/>
          </p:cNvSpPr>
          <p:nvPr/>
        </p:nvSpPr>
        <p:spPr>
          <a:xfrm xmlns:a="http://schemas.openxmlformats.org/drawingml/2006/main">
            <a:off x="542925" y="3038475"/>
            <a:ext cx="7143750" cy="7239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67B"/>
                </a:solidFill>
                <a:latin typeface="Arial"/>
                <a:ea typeface="Arial"/>
                <a:cs typeface="Arial"/>
              </a:defRPr>
            </a:pPr>
            <a:r>
              <a:rPr sz="1950" b="0">
                <a:solidFill>
                  <a:srgbClr val="52667B"/>
                </a:solidFill>
                <a:latin typeface="Arial"/>
                <a:ea typeface="Arial"/>
                <a:cs typeface="Arial"/>
              </a:rPr>
              <a:t>AI/ML-Based Intelligent Anomaly Detection</a:t>
            </a:r>
          </a:p>
          <a:p xmlns:a="http://schemas.openxmlformats.org/drawingml/2006/main">
            <a:pPr algn="l">
              <a:defRPr sz="1950" b="0">
                <a:solidFill>
                  <a:srgbClr val="52667B"/>
                </a:solidFill>
                <a:latin typeface="Arial"/>
                <a:ea typeface="Arial"/>
                <a:cs typeface="Arial"/>
              </a:defRPr>
            </a:pPr>
            <a:r>
              <a:rPr sz="1950" b="0">
                <a:solidFill>
                  <a:srgbClr val="52667B"/>
                </a:solidFill>
                <a:latin typeface="Arial"/>
                <a:ea typeface="Arial"/>
                <a:cs typeface="Arial"/>
              </a:rPr>
              <a:t>for Automatic Weather Stations (AWS)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a4dd5810c47440a">
            <a:extLst>
              <a:ext uri="{96DAC541-7B7A-43D3-8B79-37D633B846F1}">
                <asvg:svgBlip xmlns:asvg="http://schemas.microsoft.com/office/drawing/2016/SVG/main" r:embed="R273b8179ef9440ed"/>
              </a:ext>
            </a:extLst>
          </a:blip>
          <a:stretch xmlns:a="http://schemas.openxmlformats.org/drawingml/2006/main"/>
        </p:blipFill>
        <p:spPr>
          <a:xfrm xmlns:a="http://schemas.openxmlformats.org/drawingml/2006/main">
            <a:off x="9201150" y="1724025"/>
            <a:ext cx="1619250" cy="1619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9A7199B-F270-419D-8802-95B4B4E213E6}"/>
              </a:ext>
            </a:extLst>
          </p:cNvPr>
          <p:cNvSpPr>
            <a:spLocks xmlns:a="http://schemas.openxmlformats.org/drawingml/2006/main" noGrp="1"/>
          </p:cNvSpPr>
          <p:nvPr/>
        </p:nvSpPr>
        <p:spPr>
          <a:xfrm xmlns:a="http://schemas.openxmlformats.org/drawingml/2006/main">
            <a:off x="514350" y="4410075"/>
            <a:ext cx="18097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Temperature</a:t>
            </a:r>
          </a:p>
        </p:txBody>
      </p:sp>
      <p:sp>
        <p:nvSpPr>
          <p:cNvPr id="12" name="">
            <a:extLst xmlns:a="http://schemas.openxmlformats.org/drawingml/2006/main">
              <a:ext uri="{FF2B5EF4-FFF2-40B4-BE49-F238E27FC236}">
                <a16:creationId xmlns:a16="http://schemas.microsoft.com/office/drawing/2014/main" id="{5D22C842-4CF9-4395-A6C6-6311A20A0D01}"/>
              </a:ext>
            </a:extLst>
          </p:cNvPr>
          <p:cNvSpPr>
            <a:spLocks xmlns:a="http://schemas.openxmlformats.org/drawingml/2006/main" noGrp="1"/>
          </p:cNvSpPr>
          <p:nvPr/>
        </p:nvSpPr>
        <p:spPr>
          <a:xfrm xmlns:a="http://schemas.openxmlformats.org/drawingml/2006/main">
            <a:off x="2781300" y="4410075"/>
            <a:ext cx="18097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Pressure</a:t>
            </a:r>
          </a:p>
        </p:txBody>
      </p:sp>
      <p:sp>
        <p:nvSpPr>
          <p:cNvPr id="13" name="">
            <a:extLst xmlns:a="http://schemas.openxmlformats.org/drawingml/2006/main">
              <a:ext uri="{FF2B5EF4-FFF2-40B4-BE49-F238E27FC236}">
                <a16:creationId xmlns:a16="http://schemas.microsoft.com/office/drawing/2014/main" id="{B2B2E36D-1BE4-414B-898D-78688564787A}"/>
              </a:ext>
            </a:extLst>
          </p:cNvPr>
          <p:cNvSpPr>
            <a:spLocks xmlns:a="http://schemas.openxmlformats.org/drawingml/2006/main" noGrp="1"/>
          </p:cNvSpPr>
          <p:nvPr/>
        </p:nvSpPr>
        <p:spPr>
          <a:xfrm xmlns:a="http://schemas.openxmlformats.org/drawingml/2006/main">
            <a:off x="5048250" y="4410075"/>
            <a:ext cx="18097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Humidity</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aa92fb73849495a">
            <a:extLst>
              <a:ext uri="{96DAC541-7B7A-43D3-8B79-37D633B846F1}">
                <asvg:svgBlip xmlns:asvg="http://schemas.microsoft.com/office/drawing/2016/SVG/main" r:embed="R0ff4050e62464d20"/>
              </a:ext>
            </a:extLst>
          </a:blip>
          <a:stretch xmlns:a="http://schemas.openxmlformats.org/drawingml/2006/main"/>
        </p:blipFill>
        <p:spPr>
          <a:xfrm xmlns:a="http://schemas.openxmlformats.org/drawingml/2006/main">
            <a:off x="514350" y="3943350"/>
            <a:ext cx="314325" cy="314325"/>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b357ea4a8f194ca4">
            <a:extLst>
              <a:ext uri="{96DAC541-7B7A-43D3-8B79-37D633B846F1}">
                <asvg:svgBlip xmlns:asvg="http://schemas.microsoft.com/office/drawing/2016/SVG/main" r:embed="Raae9b68d812c434b"/>
              </a:ext>
            </a:extLst>
          </a:blip>
          <a:stretch xmlns:a="http://schemas.openxmlformats.org/drawingml/2006/main"/>
        </p:blipFill>
        <p:spPr>
          <a:xfrm xmlns:a="http://schemas.openxmlformats.org/drawingml/2006/main">
            <a:off x="2781300" y="3943350"/>
            <a:ext cx="314325" cy="31432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f73334512d4400c">
            <a:extLst>
              <a:ext uri="{96DAC541-7B7A-43D3-8B79-37D633B846F1}">
                <asvg:svgBlip xmlns:asvg="http://schemas.microsoft.com/office/drawing/2016/SVG/main" r:embed="R7e2eac8ab23547aa"/>
              </a:ext>
            </a:extLst>
          </a:blip>
          <a:stretch xmlns:a="http://schemas.openxmlformats.org/drawingml/2006/main"/>
        </p:blipFill>
        <p:spPr>
          <a:xfrm xmlns:a="http://schemas.openxmlformats.org/drawingml/2006/main">
            <a:off x="5048250" y="3943350"/>
            <a:ext cx="314325" cy="31432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4383143F-58FB-42ED-B2C6-F352F6CB3880}"/>
              </a:ext>
            </a:extLst>
          </p:cNvPr>
          <p:cNvSpPr>
            <a:spLocks xmlns:a="http://schemas.openxmlformats.org/drawingml/2006/main" noGrp="1"/>
          </p:cNvSpPr>
          <p:nvPr/>
        </p:nvSpPr>
        <p:spPr>
          <a:xfrm xmlns:a="http://schemas.openxmlformats.org/drawingml/2006/main">
            <a:off x="514350" y="5286375"/>
            <a:ext cx="2238375" cy="3619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68B83"/>
                </a:solidFill>
                <a:latin typeface="Arial"/>
                <a:ea typeface="Arial"/>
                <a:cs typeface="Arial"/>
              </a:defRPr>
            </a:pPr>
            <a:r>
              <a:rPr sz="2175" b="1">
                <a:solidFill>
                  <a:srgbClr val="168B83"/>
                </a:solidFill>
                <a:latin typeface="Arial"/>
                <a:ea typeface="Arial"/>
                <a:cs typeface="Arial"/>
              </a:rPr>
              <a:t>SIH26073</a:t>
            </a:r>
          </a:p>
        </p:txBody>
      </p:sp>
      <p:sp>
        <p:nvSpPr>
          <p:cNvPr id="18" name="">
            <a:extLst xmlns:a="http://schemas.openxmlformats.org/drawingml/2006/main">
              <a:ext uri="{FF2B5EF4-FFF2-40B4-BE49-F238E27FC236}">
                <a16:creationId xmlns:a16="http://schemas.microsoft.com/office/drawing/2014/main" id="{B43599E7-802A-4C51-9A9F-D4FEEC974A63}"/>
              </a:ext>
            </a:extLst>
          </p:cNvPr>
          <p:cNvSpPr>
            <a:spLocks xmlns:a="http://schemas.openxmlformats.org/drawingml/2006/main" noGrp="1"/>
          </p:cNvSpPr>
          <p:nvPr/>
        </p:nvSpPr>
        <p:spPr>
          <a:xfrm xmlns:a="http://schemas.openxmlformats.org/drawingml/2006/main">
            <a:off x="514350" y="5791200"/>
            <a:ext cx="6477000" cy="5524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Disaster Management / Software</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OFF BY ONE / Team ID 132195</a:t>
            </a:r>
          </a:p>
        </p:txBody>
      </p:sp>
      <p:sp>
        <p:nvSpPr>
          <p:cNvPr id="19" name="">
            <a:extLst xmlns:a="http://schemas.openxmlformats.org/drawingml/2006/main">
              <a:ext uri="{FF2B5EF4-FFF2-40B4-BE49-F238E27FC236}">
                <a16:creationId xmlns:a16="http://schemas.microsoft.com/office/drawing/2014/main" id="{F78F794E-3C3D-462C-A8FC-D2F3CD8A9AB7}"/>
              </a:ext>
            </a:extLst>
          </p:cNvPr>
          <p:cNvSpPr>
            <a:spLocks xmlns:a="http://schemas.openxmlformats.org/drawingml/2006/main" noGrp="1"/>
          </p:cNvSpPr>
          <p:nvPr/>
        </p:nvSpPr>
        <p:spPr>
          <a:xfrm xmlns:a="http://schemas.openxmlformats.org/drawingml/2006/main">
            <a:off x="8629650" y="4210050"/>
            <a:ext cx="2952750" cy="7905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1">
                <a:solidFill>
                  <a:srgbClr val="17324D"/>
                </a:solidFill>
                <a:latin typeface="Arial"/>
                <a:ea typeface="Arial"/>
                <a:cs typeface="Arial"/>
              </a:defRPr>
            </a:pPr>
            <a:r>
              <a:rPr sz="1875" b="1">
                <a:solidFill>
                  <a:srgbClr val="17324D"/>
                </a:solidFill>
                <a:latin typeface="Arial"/>
                <a:ea typeface="Arial"/>
                <a:cs typeface="Arial"/>
              </a:rPr>
              <a:t>A working prototype</a:t>
            </a:r>
          </a:p>
          <a:p xmlns:a="http://schemas.openxmlformats.org/drawingml/2006/main">
            <a:pPr algn="ctr">
              <a:defRPr sz="1875" b="1">
                <a:solidFill>
                  <a:srgbClr val="17324D"/>
                </a:solidFill>
                <a:latin typeface="Arial"/>
                <a:ea typeface="Arial"/>
                <a:cs typeface="Arial"/>
              </a:defRPr>
            </a:pPr>
            <a:r>
              <a:rPr sz="1875" b="1">
                <a:solidFill>
                  <a:srgbClr val="17324D"/>
                </a:solidFill>
                <a:latin typeface="Arial"/>
                <a:ea typeface="Arial"/>
                <a:cs typeface="Arial"/>
              </a:rPr>
              <a:t>500 simulated stations</a:t>
            </a:r>
          </a:p>
        </p:txBody>
      </p:sp>
    </p:spTree>
    <p:extLst>
      <p:ext uri="{BB962C8B-B14F-4D97-AF65-F5344CB8AC3E}">
        <p14:creationId xmlns:p14="http://schemas.microsoft.com/office/powerpoint/2010/main" val="1196593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08A3AB38-5AB2-429A-9E0C-B07A1E9DCDBA}"/>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B2AE634C-AA8D-458D-ACFC-D1A873522FF5}"/>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PROPOSED SOLUTION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62b17f7f6dc14a6d"/>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B77F383-B986-4480-9111-400E3C6CB2BE}"/>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06DD85E1-19BA-4493-AF8D-B599E46688B0}"/>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An unusual reading needs an explanation before an operator can act.</a:t>
            </a:r>
          </a:p>
        </p:txBody>
      </p:sp>
      <p:sp>
        <p:nvSpPr>
          <p:cNvPr id="6" name="">
            <a:extLst xmlns:a="http://schemas.openxmlformats.org/drawingml/2006/main">
              <a:ext uri="{FF2B5EF4-FFF2-40B4-BE49-F238E27FC236}">
                <a16:creationId xmlns:a16="http://schemas.microsoft.com/office/drawing/2014/main" id="{932BD581-EF77-4DC7-A8F4-B31750152A17}"/>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FCE99232-AE2B-4CFA-9C26-126DCF149AFB}"/>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B9066ACC-D4F1-4506-B33E-D39487DC10B2}"/>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8C7C1F8-DE1D-47BB-97A2-499C41EA2F67}"/>
              </a:ext>
            </a:extLst>
          </p:cNvPr>
          <p:cNvSpPr>
            <a:spLocks xmlns:a="http://schemas.openxmlformats.org/drawingml/2006/main" noGrp="1"/>
          </p:cNvSpPr>
          <p:nvPr/>
        </p:nvSpPr>
        <p:spPr>
          <a:xfrm xmlns:a="http://schemas.openxmlformats.org/drawingml/2006/main">
            <a:off x="419100" y="2390775"/>
            <a:ext cx="2209800" cy="2628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15240">
            <a:solidFill>
              <a:srgbClr val="193C56"/>
            </a:solidFill>
          </a:ln>
        </p:spPr>
      </p:sp>
      <p:sp>
        <p:nvSpPr>
          <p:cNvPr id="10" name="">
            <a:extLst xmlns:a="http://schemas.openxmlformats.org/drawingml/2006/main">
              <a:ext uri="{FF2B5EF4-FFF2-40B4-BE49-F238E27FC236}">
                <a16:creationId xmlns:a16="http://schemas.microsoft.com/office/drawing/2014/main" id="{B98B79CB-2C9A-484D-A9EE-458F11D20C22}"/>
              </a:ext>
            </a:extLst>
          </p:cNvPr>
          <p:cNvSpPr>
            <a:spLocks xmlns:a="http://schemas.openxmlformats.org/drawingml/2006/main" noGrp="1"/>
          </p:cNvSpPr>
          <p:nvPr/>
        </p:nvSpPr>
        <p:spPr>
          <a:xfrm xmlns:a="http://schemas.openxmlformats.org/drawingml/2006/main">
            <a:off x="514350" y="2486025"/>
            <a:ext cx="2019300" cy="361950"/>
          </a:xfrm>
          <a:prstGeom xmlns:a="http://schemas.openxmlformats.org/drawingml/2006/main" prst="roundRect">
            <a:avLst>
              <a:gd name="adj" fmla="val 42105"/>
            </a:avLst>
          </a:prstGeom>
          <a:solidFill xmlns:a="http://schemas.openxmlformats.org/drawingml/2006/main">
            <a:srgbClr val="FFF7E6"/>
          </a:solidFill>
          <a:ln xmlns:a="http://schemas.openxmlformats.org/drawingml/2006/main" w="15240">
            <a:noFill/>
          </a:ln>
        </p:spPr>
      </p:sp>
      <p:sp>
        <p:nvSpPr>
          <p:cNvPr id="11" name="">
            <a:extLst xmlns:a="http://schemas.openxmlformats.org/drawingml/2006/main">
              <a:ext uri="{FF2B5EF4-FFF2-40B4-BE49-F238E27FC236}">
                <a16:creationId xmlns:a16="http://schemas.microsoft.com/office/drawing/2014/main" id="{16F85850-7DA8-4F07-A448-49FD0946F1CF}"/>
              </a:ext>
            </a:extLst>
          </p:cNvPr>
          <p:cNvSpPr>
            <a:spLocks xmlns:a="http://schemas.openxmlformats.org/drawingml/2006/main" noGrp="1"/>
          </p:cNvSpPr>
          <p:nvPr/>
        </p:nvSpPr>
        <p:spPr>
          <a:xfrm xmlns:a="http://schemas.openxmlformats.org/drawingml/2006/main">
            <a:off x="609600" y="2552700"/>
            <a:ext cx="18288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AWS reading</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3b15794f3757400e">
            <a:extLst>
              <a:ext uri="{96DAC541-7B7A-43D3-8B79-37D633B846F1}">
                <asvg:svgBlip xmlns:asvg="http://schemas.microsoft.com/office/drawing/2016/SVG/main" r:embed="R1403aac2fe8b46b6"/>
              </a:ext>
            </a:extLst>
          </a:blip>
          <a:stretch xmlns:a="http://schemas.openxmlformats.org/drawingml/2006/main"/>
        </p:blipFill>
        <p:spPr>
          <a:xfrm xmlns:a="http://schemas.openxmlformats.org/drawingml/2006/main">
            <a:off x="1266825" y="2981325"/>
            <a:ext cx="514350" cy="5143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7E25C483-ADCC-4736-AFCA-F9AC4B79565C}"/>
              </a:ext>
            </a:extLst>
          </p:cNvPr>
          <p:cNvSpPr>
            <a:spLocks xmlns:a="http://schemas.openxmlformats.org/drawingml/2006/main" noGrp="1"/>
          </p:cNvSpPr>
          <p:nvPr/>
        </p:nvSpPr>
        <p:spPr>
          <a:xfrm xmlns:a="http://schemas.openxmlformats.org/drawingml/2006/main">
            <a:off x="590550" y="3629025"/>
            <a:ext cx="1866900" cy="13144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Noisy, missing or</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unusually high / low</a:t>
            </a:r>
          </a:p>
        </p:txBody>
      </p:sp>
      <p:sp>
        <p:nvSpPr>
          <p:cNvPr id="14" name="">
            <a:extLst xmlns:a="http://schemas.openxmlformats.org/drawingml/2006/main">
              <a:ext uri="{FF2B5EF4-FFF2-40B4-BE49-F238E27FC236}">
                <a16:creationId xmlns:a16="http://schemas.microsoft.com/office/drawing/2014/main" id="{64A816C5-16CF-410A-9AA1-C11260D67A69}"/>
              </a:ext>
            </a:extLst>
          </p:cNvPr>
          <p:cNvSpPr>
            <a:spLocks xmlns:a="http://schemas.openxmlformats.org/drawingml/2006/main" noGrp="1"/>
          </p:cNvSpPr>
          <p:nvPr/>
        </p:nvSpPr>
        <p:spPr>
          <a:xfrm xmlns:a="http://schemas.openxmlformats.org/drawingml/2006/main">
            <a:off x="3257550" y="1762125"/>
            <a:ext cx="2571750" cy="1828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5240">
            <a:solidFill>
              <a:srgbClr val="168B83"/>
            </a:solidFill>
          </a:ln>
        </p:spPr>
      </p:sp>
      <p:sp>
        <p:nvSpPr>
          <p:cNvPr id="15" name="">
            <a:extLst xmlns:a="http://schemas.openxmlformats.org/drawingml/2006/main">
              <a:ext uri="{FF2B5EF4-FFF2-40B4-BE49-F238E27FC236}">
                <a16:creationId xmlns:a16="http://schemas.microsoft.com/office/drawing/2014/main" id="{2C2D5AB6-9CCF-4211-8402-5921C62063BB}"/>
              </a:ext>
            </a:extLst>
          </p:cNvPr>
          <p:cNvSpPr>
            <a:spLocks xmlns:a="http://schemas.openxmlformats.org/drawingml/2006/main" noGrp="1"/>
          </p:cNvSpPr>
          <p:nvPr/>
        </p:nvSpPr>
        <p:spPr>
          <a:xfrm xmlns:a="http://schemas.openxmlformats.org/drawingml/2006/main">
            <a:off x="3352800" y="1857375"/>
            <a:ext cx="23812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16" name="">
            <a:extLst xmlns:a="http://schemas.openxmlformats.org/drawingml/2006/main">
              <a:ext uri="{FF2B5EF4-FFF2-40B4-BE49-F238E27FC236}">
                <a16:creationId xmlns:a16="http://schemas.microsoft.com/office/drawing/2014/main" id="{C990C58F-0889-49DB-B571-B677C5937740}"/>
              </a:ext>
            </a:extLst>
          </p:cNvPr>
          <p:cNvSpPr>
            <a:spLocks xmlns:a="http://schemas.openxmlformats.org/drawingml/2006/main" noGrp="1"/>
          </p:cNvSpPr>
          <p:nvPr/>
        </p:nvSpPr>
        <p:spPr>
          <a:xfrm xmlns:a="http://schemas.openxmlformats.org/drawingml/2006/main">
            <a:off x="3448050" y="1924050"/>
            <a:ext cx="21907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Station history</a:t>
            </a:r>
          </a:p>
        </p:txBody>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1d9bc8ce64b3482b">
            <a:extLst>
              <a:ext uri="{96DAC541-7B7A-43D3-8B79-37D633B846F1}">
                <asvg:svgBlip xmlns:asvg="http://schemas.microsoft.com/office/drawing/2016/SVG/main" r:embed="Rc34c80a8c6674626"/>
              </a:ext>
            </a:extLst>
          </a:blip>
          <a:stretch xmlns:a="http://schemas.openxmlformats.org/drawingml/2006/main"/>
        </p:blipFill>
        <p:spPr>
          <a:xfrm xmlns:a="http://schemas.openxmlformats.org/drawingml/2006/main">
            <a:off x="4286250" y="2352675"/>
            <a:ext cx="514350" cy="5143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6084ACBC-1B88-4797-83AB-9908A1E22EAE}"/>
              </a:ext>
            </a:extLst>
          </p:cNvPr>
          <p:cNvSpPr>
            <a:spLocks xmlns:a="http://schemas.openxmlformats.org/drawingml/2006/main" noGrp="1"/>
          </p:cNvSpPr>
          <p:nvPr/>
        </p:nvSpPr>
        <p:spPr>
          <a:xfrm xmlns:a="http://schemas.openxmlformats.org/drawingml/2006/main">
            <a:off x="3429000" y="3000375"/>
            <a:ext cx="2228850" cy="5143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Spikes, drift and stuck values</a:t>
            </a:r>
          </a:p>
        </p:txBody>
      </p:sp>
      <p:sp>
        <p:nvSpPr>
          <p:cNvPr id="19" name="">
            <a:extLst xmlns:a="http://schemas.openxmlformats.org/drawingml/2006/main">
              <a:ext uri="{FF2B5EF4-FFF2-40B4-BE49-F238E27FC236}">
                <a16:creationId xmlns:a16="http://schemas.microsoft.com/office/drawing/2014/main" id="{321A5BDA-A1CB-4F24-B3B2-F9EACED3E665}"/>
              </a:ext>
            </a:extLst>
          </p:cNvPr>
          <p:cNvSpPr>
            <a:spLocks xmlns:a="http://schemas.openxmlformats.org/drawingml/2006/main" noGrp="1"/>
          </p:cNvSpPr>
          <p:nvPr/>
        </p:nvSpPr>
        <p:spPr>
          <a:xfrm xmlns:a="http://schemas.openxmlformats.org/drawingml/2006/main">
            <a:off x="3257550" y="4029075"/>
            <a:ext cx="2571750" cy="1828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5240">
            <a:solidFill>
              <a:srgbClr val="168B83"/>
            </a:solidFill>
          </a:ln>
        </p:spPr>
      </p:sp>
      <p:sp>
        <p:nvSpPr>
          <p:cNvPr id="20" name="">
            <a:extLst xmlns:a="http://schemas.openxmlformats.org/drawingml/2006/main">
              <a:ext uri="{FF2B5EF4-FFF2-40B4-BE49-F238E27FC236}">
                <a16:creationId xmlns:a16="http://schemas.microsoft.com/office/drawing/2014/main" id="{750A53AA-CD0A-4D60-AD90-D57442EB27A0}"/>
              </a:ext>
            </a:extLst>
          </p:cNvPr>
          <p:cNvSpPr>
            <a:spLocks xmlns:a="http://schemas.openxmlformats.org/drawingml/2006/main" noGrp="1"/>
          </p:cNvSpPr>
          <p:nvPr/>
        </p:nvSpPr>
        <p:spPr>
          <a:xfrm xmlns:a="http://schemas.openxmlformats.org/drawingml/2006/main">
            <a:off x="3352800" y="4124325"/>
            <a:ext cx="23812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21" name="">
            <a:extLst xmlns:a="http://schemas.openxmlformats.org/drawingml/2006/main">
              <a:ext uri="{FF2B5EF4-FFF2-40B4-BE49-F238E27FC236}">
                <a16:creationId xmlns:a16="http://schemas.microsoft.com/office/drawing/2014/main" id="{B097FF72-A802-46B9-8498-9C5F7757C5D1}"/>
              </a:ext>
            </a:extLst>
          </p:cNvPr>
          <p:cNvSpPr>
            <a:spLocks xmlns:a="http://schemas.openxmlformats.org/drawingml/2006/main" noGrp="1"/>
          </p:cNvSpPr>
          <p:nvPr/>
        </p:nvSpPr>
        <p:spPr>
          <a:xfrm xmlns:a="http://schemas.openxmlformats.org/drawingml/2006/main">
            <a:off x="3448050" y="4191000"/>
            <a:ext cx="21907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Virtual Buddy</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976fdb39bed64add">
            <a:extLst>
              <a:ext uri="{96DAC541-7B7A-43D3-8B79-37D633B846F1}">
                <asvg:svgBlip xmlns:asvg="http://schemas.microsoft.com/office/drawing/2016/SVG/main" r:embed="Rffd423d68d514b0d"/>
              </a:ext>
            </a:extLst>
          </a:blip>
          <a:stretch xmlns:a="http://schemas.openxmlformats.org/drawingml/2006/main"/>
        </p:blipFill>
        <p:spPr>
          <a:xfrm xmlns:a="http://schemas.openxmlformats.org/drawingml/2006/main">
            <a:off x="4286250" y="4619625"/>
            <a:ext cx="514350" cy="5143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02430058-E6E0-49B1-B995-49F9ACE18204}"/>
              </a:ext>
            </a:extLst>
          </p:cNvPr>
          <p:cNvSpPr>
            <a:spLocks xmlns:a="http://schemas.openxmlformats.org/drawingml/2006/main" noGrp="1"/>
          </p:cNvSpPr>
          <p:nvPr/>
        </p:nvSpPr>
        <p:spPr>
          <a:xfrm xmlns:a="http://schemas.openxmlformats.org/drawingml/2006/main">
            <a:off x="3429000" y="5267325"/>
            <a:ext cx="2228850" cy="5143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Trusted nearby stations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add weather context</a:t>
            </a:r>
          </a:p>
        </p:txBody>
      </p:sp>
      <p:sp>
        <p:nvSpPr>
          <p:cNvPr id="24" name="">
            <a:extLst xmlns:a="http://schemas.openxmlformats.org/drawingml/2006/main">
              <a:ext uri="{FF2B5EF4-FFF2-40B4-BE49-F238E27FC236}">
                <a16:creationId xmlns:a16="http://schemas.microsoft.com/office/drawing/2014/main" id="{F0CF1A7F-6295-4FE4-B5C5-78A018F5725F}"/>
              </a:ext>
            </a:extLst>
          </p:cNvPr>
          <p:cNvSpPr>
            <a:spLocks xmlns:a="http://schemas.openxmlformats.org/drawingml/2006/main" noGrp="1"/>
          </p:cNvSpPr>
          <p:nvPr/>
        </p:nvSpPr>
        <p:spPr>
          <a:xfrm xmlns:a="http://schemas.openxmlformats.org/drawingml/2006/main">
            <a:off x="6448425" y="2686050"/>
            <a:ext cx="2419350" cy="2447925"/>
          </a:xfrm>
          <a:prstGeom xmlns:a="http://schemas.openxmlformats.org/drawingml/2006/main" prst="roundRect">
            <a:avLst>
              <a:gd name="adj" fmla="val 6299"/>
            </a:avLst>
          </a:prstGeom>
          <a:solidFill xmlns:a="http://schemas.openxmlformats.org/drawingml/2006/main">
            <a:srgbClr val="FFFFFF"/>
          </a:solidFill>
          <a:ln xmlns:a="http://schemas.openxmlformats.org/drawingml/2006/main" w="15240">
            <a:solidFill>
              <a:srgbClr val="168B83"/>
            </a:solidFill>
          </a:ln>
        </p:spPr>
      </p:sp>
      <p:sp>
        <p:nvSpPr>
          <p:cNvPr id="25" name="">
            <a:extLst xmlns:a="http://schemas.openxmlformats.org/drawingml/2006/main">
              <a:ext uri="{FF2B5EF4-FFF2-40B4-BE49-F238E27FC236}">
                <a16:creationId xmlns:a16="http://schemas.microsoft.com/office/drawing/2014/main" id="{A8A825DD-5316-436F-86BA-442BFF25CDDD}"/>
              </a:ext>
            </a:extLst>
          </p:cNvPr>
          <p:cNvSpPr>
            <a:spLocks xmlns:a="http://schemas.openxmlformats.org/drawingml/2006/main" noGrp="1"/>
          </p:cNvSpPr>
          <p:nvPr/>
        </p:nvSpPr>
        <p:spPr>
          <a:xfrm xmlns:a="http://schemas.openxmlformats.org/drawingml/2006/main">
            <a:off x="6543675" y="2781300"/>
            <a:ext cx="22288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26" name="">
            <a:extLst xmlns:a="http://schemas.openxmlformats.org/drawingml/2006/main">
              <a:ext uri="{FF2B5EF4-FFF2-40B4-BE49-F238E27FC236}">
                <a16:creationId xmlns:a16="http://schemas.microsoft.com/office/drawing/2014/main" id="{8EE256C9-36A9-4E84-8848-29E802D2380B}"/>
              </a:ext>
            </a:extLst>
          </p:cNvPr>
          <p:cNvSpPr>
            <a:spLocks xmlns:a="http://schemas.openxmlformats.org/drawingml/2006/main" noGrp="1"/>
          </p:cNvSpPr>
          <p:nvPr/>
        </p:nvSpPr>
        <p:spPr>
          <a:xfrm xmlns:a="http://schemas.openxmlformats.org/drawingml/2006/main">
            <a:off x="6638925" y="2847975"/>
            <a:ext cx="20383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Evidence fusion</a:t>
            </a:r>
          </a:p>
        </p:txBody>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15d7f9aeeec34cc2">
            <a:extLst>
              <a:ext uri="{96DAC541-7B7A-43D3-8B79-37D633B846F1}">
                <asvg:svgBlip xmlns:asvg="http://schemas.microsoft.com/office/drawing/2016/SVG/main" r:embed="R10c53335e7914727"/>
              </a:ext>
            </a:extLst>
          </a:blip>
          <a:stretch xmlns:a="http://schemas.openxmlformats.org/drawingml/2006/main"/>
        </p:blipFill>
        <p:spPr>
          <a:xfrm xmlns:a="http://schemas.openxmlformats.org/drawingml/2006/main">
            <a:off x="7400925" y="3276600"/>
            <a:ext cx="514350" cy="51435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D42082FD-2B60-4C7E-B37C-01DA2304B697}"/>
              </a:ext>
            </a:extLst>
          </p:cNvPr>
          <p:cNvSpPr>
            <a:spLocks xmlns:a="http://schemas.openxmlformats.org/drawingml/2006/main" noGrp="1"/>
          </p:cNvSpPr>
          <p:nvPr/>
        </p:nvSpPr>
        <p:spPr>
          <a:xfrm xmlns:a="http://schemas.openxmlformats.org/drawingml/2006/main">
            <a:off x="6619875" y="3924300"/>
            <a:ext cx="2076450" cy="11334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Combine history, ML and</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physical consistency</a:t>
            </a:r>
          </a:p>
        </p:txBody>
      </p:sp>
      <p:cxnSp>
        <p:nvCxnSpPr>
          <p:cNvPr id="77" name=""/>
          <p:cNvCxnSpPr>
            <a:stCxn xmlns:a="http://schemas.openxmlformats.org/drawingml/2006/main" id="9" idx="3"/>
            <a:endCxn xmlns:a="http://schemas.openxmlformats.org/drawingml/2006/main" id="14" idx="1"/>
          </p:cNvCxnSpPr>
          <p:nvPr/>
        </p:nvCxnSpPr>
        <p:spPr>
          <a:xfrm xmlns:a="http://schemas.openxmlformats.org/drawingml/2006/main" flipV="1">
            <a:off x="2628900" y="2676525"/>
            <a:ext cx="628650" cy="1028700"/>
          </a:xfrm>
          <a:prstGeom xmlns:a="http://schemas.openxmlformats.org/drawingml/2006/main" prst="bentConnector3">
            <a:avLst>
              <a:gd name="adj1" fmla="val 50000"/>
            </a:avLst>
          </a:prstGeom>
          <a:ln xmlns:a="http://schemas.openxmlformats.org/drawingml/2006/main" w="20955">
            <a:solidFill>
              <a:srgbClr val="193C56"/>
            </a:solidFill>
            <a:tailEnd type="triangle" w="sm" len="sm"/>
          </a:ln>
        </p:spPr>
      </p:cxnSp>
      <p:cxnSp>
        <p:nvCxnSpPr>
          <p:cNvPr id="78" name=""/>
          <p:cNvCxnSpPr>
            <a:stCxn xmlns:a="http://schemas.openxmlformats.org/drawingml/2006/main" id="9" idx="3"/>
            <a:endCxn xmlns:a="http://schemas.openxmlformats.org/drawingml/2006/main" id="19" idx="1"/>
          </p:cNvCxnSpPr>
          <p:nvPr/>
        </p:nvCxnSpPr>
        <p:spPr>
          <a:xfrm xmlns:a="http://schemas.openxmlformats.org/drawingml/2006/main">
            <a:off x="2628900" y="3705225"/>
            <a:ext cx="628650" cy="1238250"/>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79" name=""/>
          <p:cNvCxnSpPr>
            <a:stCxn xmlns:a="http://schemas.openxmlformats.org/drawingml/2006/main" id="14" idx="3"/>
            <a:endCxn xmlns:a="http://schemas.openxmlformats.org/drawingml/2006/main" id="24" idx="1"/>
          </p:cNvCxnSpPr>
          <p:nvPr/>
        </p:nvCxnSpPr>
        <p:spPr>
          <a:xfrm xmlns:a="http://schemas.openxmlformats.org/drawingml/2006/main">
            <a:off x="5829300" y="2676525"/>
            <a:ext cx="619125" cy="1233488"/>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80" name=""/>
          <p:cNvCxnSpPr>
            <a:stCxn xmlns:a="http://schemas.openxmlformats.org/drawingml/2006/main" id="19" idx="3"/>
            <a:endCxn xmlns:a="http://schemas.openxmlformats.org/drawingml/2006/main" id="24" idx="1"/>
          </p:cNvCxnSpPr>
          <p:nvPr/>
        </p:nvCxnSpPr>
        <p:spPr>
          <a:xfrm xmlns:a="http://schemas.openxmlformats.org/drawingml/2006/main" flipV="1">
            <a:off x="5829300" y="3910013"/>
            <a:ext cx="619125" cy="1033463"/>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sp>
        <p:nvSpPr>
          <p:cNvPr id="33" name="">
            <a:extLst xmlns:a="http://schemas.openxmlformats.org/drawingml/2006/main">
              <a:ext uri="{FF2B5EF4-FFF2-40B4-BE49-F238E27FC236}">
                <a16:creationId xmlns:a16="http://schemas.microsoft.com/office/drawing/2014/main" id="{DDC682DA-21D4-47F4-A3CA-B898CBB275E9}"/>
              </a:ext>
            </a:extLst>
          </p:cNvPr>
          <p:cNvSpPr>
            <a:spLocks xmlns:a="http://schemas.openxmlformats.org/drawingml/2006/main" noGrp="1"/>
          </p:cNvSpPr>
          <p:nvPr/>
        </p:nvSpPr>
        <p:spPr>
          <a:xfrm xmlns:a="http://schemas.openxmlformats.org/drawingml/2006/main">
            <a:off x="9544050" y="1943100"/>
            <a:ext cx="2228850" cy="1028700"/>
          </a:xfrm>
          <a:prstGeom xmlns:a="http://schemas.openxmlformats.org/drawingml/2006/main" prst="roundRect">
            <a:avLst>
              <a:gd name="adj" fmla="val 14815"/>
            </a:avLst>
          </a:prstGeom>
          <a:noFill xmlns:a="http://schemas.openxmlformats.org/drawingml/2006/main"/>
          <a:ln xmlns:a="http://schemas.openxmlformats.org/drawingml/2006/main" w="15240">
            <a:solidFill>
              <a:srgbClr val="168B83"/>
            </a:solidFill>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bd05d7cf8cdf4946">
            <a:extLst>
              <a:ext uri="{96DAC541-7B7A-43D3-8B79-37D633B846F1}">
                <asvg:svgBlip xmlns:asvg="http://schemas.microsoft.com/office/drawing/2016/SVG/main" r:embed="Rcc80b3597e5c4782"/>
              </a:ext>
            </a:extLst>
          </a:blip>
          <a:stretch xmlns:a="http://schemas.openxmlformats.org/drawingml/2006/main"/>
        </p:blipFill>
        <p:spPr>
          <a:xfrm xmlns:a="http://schemas.openxmlformats.org/drawingml/2006/main">
            <a:off x="9677400" y="2076450"/>
            <a:ext cx="266700" cy="26670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064B4773-DA7A-423D-AD56-5AED241190A5}"/>
              </a:ext>
            </a:extLst>
          </p:cNvPr>
          <p:cNvSpPr>
            <a:spLocks xmlns:a="http://schemas.openxmlformats.org/drawingml/2006/main" noGrp="1"/>
          </p:cNvSpPr>
          <p:nvPr/>
        </p:nvSpPr>
        <p:spPr>
          <a:xfrm xmlns:a="http://schemas.openxmlformats.org/drawingml/2006/main">
            <a:off x="10048875" y="2066925"/>
            <a:ext cx="1571625"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Weather</a:t>
            </a:r>
          </a:p>
        </p:txBody>
      </p:sp>
      <p:sp>
        <p:nvSpPr>
          <p:cNvPr id="36" name="">
            <a:extLst xmlns:a="http://schemas.openxmlformats.org/drawingml/2006/main">
              <a:ext uri="{FF2B5EF4-FFF2-40B4-BE49-F238E27FC236}">
                <a16:creationId xmlns:a16="http://schemas.microsoft.com/office/drawing/2014/main" id="{6C527688-0354-4330-8105-291C113E55AF}"/>
              </a:ext>
            </a:extLst>
          </p:cNvPr>
          <p:cNvSpPr>
            <a:spLocks xmlns:a="http://schemas.openxmlformats.org/drawingml/2006/main" noGrp="1"/>
          </p:cNvSpPr>
          <p:nvPr/>
        </p:nvSpPr>
        <p:spPr>
          <a:xfrm xmlns:a="http://schemas.openxmlformats.org/drawingml/2006/main">
            <a:off x="9686925" y="2447925"/>
            <a:ext cx="1943100" cy="5048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Keep genuine extremes visible</a:t>
            </a:r>
          </a:p>
        </p:txBody>
      </p:sp>
      <p:cxnSp>
        <p:nvCxnSpPr>
          <p:cNvPr id="85" name=""/>
          <p:cNvCxnSpPr>
            <a:stCxn xmlns:a="http://schemas.openxmlformats.org/drawingml/2006/main" id="24" idx="3"/>
            <a:endCxn xmlns:a="http://schemas.openxmlformats.org/drawingml/2006/main" id="33" idx="1"/>
          </p:cNvCxnSpPr>
          <p:nvPr/>
        </p:nvCxnSpPr>
        <p:spPr>
          <a:xfrm xmlns:a="http://schemas.openxmlformats.org/drawingml/2006/main" flipV="1">
            <a:off x="8867775" y="2457450"/>
            <a:ext cx="676275" cy="1452563"/>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sp>
        <p:nvSpPr>
          <p:cNvPr id="38" name="">
            <a:extLst xmlns:a="http://schemas.openxmlformats.org/drawingml/2006/main">
              <a:ext uri="{FF2B5EF4-FFF2-40B4-BE49-F238E27FC236}">
                <a16:creationId xmlns:a16="http://schemas.microsoft.com/office/drawing/2014/main" id="{632CF5BB-ABB7-4EF4-BE98-85EF29A83DDA}"/>
              </a:ext>
            </a:extLst>
          </p:cNvPr>
          <p:cNvSpPr>
            <a:spLocks xmlns:a="http://schemas.openxmlformats.org/drawingml/2006/main" noGrp="1"/>
          </p:cNvSpPr>
          <p:nvPr/>
        </p:nvSpPr>
        <p:spPr>
          <a:xfrm xmlns:a="http://schemas.openxmlformats.org/drawingml/2006/main">
            <a:off x="9544050" y="3352800"/>
            <a:ext cx="2228850" cy="1028700"/>
          </a:xfrm>
          <a:prstGeom xmlns:a="http://schemas.openxmlformats.org/drawingml/2006/main" prst="roundRect">
            <a:avLst>
              <a:gd name="adj" fmla="val 14815"/>
            </a:avLst>
          </a:prstGeom>
          <a:noFill xmlns:a="http://schemas.openxmlformats.org/drawingml/2006/main"/>
          <a:ln xmlns:a="http://schemas.openxmlformats.org/drawingml/2006/main" w="15240">
            <a:solidFill>
              <a:srgbClr val="193C56"/>
            </a:solidFill>
          </a:ln>
        </p:spPr>
      </p:sp>
      <p:pic>
        <p:nvPicPr>
          <p:cNvPr id="87" name=""/>
          <p:cNvPicPr>
            <a:picLocks xmlns:a="http://schemas.openxmlformats.org/drawingml/2006/main" noChangeAspect="1"/>
          </p:cNvPicPr>
          <p:nvPr/>
        </p:nvPicPr>
        <p:blipFill>
          <a:blip xmlns:r="http://schemas.openxmlformats.org/officeDocument/2006/relationships" xmlns:a="http://schemas.openxmlformats.org/drawingml/2006/main" r:embed="R8788f19128d04426">
            <a:extLst>
              <a:ext uri="{96DAC541-7B7A-43D3-8B79-37D633B846F1}">
                <asvg:svgBlip xmlns:asvg="http://schemas.microsoft.com/office/drawing/2016/SVG/main" r:embed="R9accf76601b44585"/>
              </a:ext>
            </a:extLst>
          </a:blip>
          <a:stretch xmlns:a="http://schemas.openxmlformats.org/drawingml/2006/main"/>
        </p:blipFill>
        <p:spPr>
          <a:xfrm xmlns:a="http://schemas.openxmlformats.org/drawingml/2006/main">
            <a:off x="9677400" y="3486150"/>
            <a:ext cx="266700" cy="26670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E38F86B1-C66A-4377-A48B-C27B19C08DDB}"/>
              </a:ext>
            </a:extLst>
          </p:cNvPr>
          <p:cNvSpPr>
            <a:spLocks xmlns:a="http://schemas.openxmlformats.org/drawingml/2006/main" noGrp="1"/>
          </p:cNvSpPr>
          <p:nvPr/>
        </p:nvSpPr>
        <p:spPr>
          <a:xfrm xmlns:a="http://schemas.openxmlformats.org/drawingml/2006/main">
            <a:off x="10048875" y="3476625"/>
            <a:ext cx="1571625"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Fault</a:t>
            </a:r>
          </a:p>
        </p:txBody>
      </p:sp>
      <p:sp>
        <p:nvSpPr>
          <p:cNvPr id="41" name="">
            <a:extLst xmlns:a="http://schemas.openxmlformats.org/drawingml/2006/main">
              <a:ext uri="{FF2B5EF4-FFF2-40B4-BE49-F238E27FC236}">
                <a16:creationId xmlns:a16="http://schemas.microsoft.com/office/drawing/2014/main" id="{06CB8188-9233-4C65-85F4-665D9D5CC834}"/>
              </a:ext>
            </a:extLst>
          </p:cNvPr>
          <p:cNvSpPr>
            <a:spLocks xmlns:a="http://schemas.openxmlformats.org/drawingml/2006/main" noGrp="1"/>
          </p:cNvSpPr>
          <p:nvPr/>
        </p:nvSpPr>
        <p:spPr>
          <a:xfrm xmlns:a="http://schemas.openxmlformats.org/drawingml/2006/main">
            <a:off x="9686925" y="3857625"/>
            <a:ext cx="1943100" cy="5048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Investigate sensor or data issue</a:t>
            </a:r>
          </a:p>
        </p:txBody>
      </p:sp>
      <p:cxnSp>
        <p:nvCxnSpPr>
          <p:cNvPr id="90" name=""/>
          <p:cNvCxnSpPr>
            <a:stCxn xmlns:a="http://schemas.openxmlformats.org/drawingml/2006/main" id="24" idx="3"/>
            <a:endCxn xmlns:a="http://schemas.openxmlformats.org/drawingml/2006/main" id="38" idx="1"/>
          </p:cNvCxnSpPr>
          <p:nvPr/>
        </p:nvCxnSpPr>
        <p:spPr>
          <a:xfrm xmlns:a="http://schemas.openxmlformats.org/drawingml/2006/main" flipV="1">
            <a:off x="8867775" y="3867150"/>
            <a:ext cx="676275" cy="42863"/>
          </a:xfrm>
          <a:prstGeom xmlns:a="http://schemas.openxmlformats.org/drawingml/2006/main" prst="bentConnector3">
            <a:avLst>
              <a:gd name="adj1" fmla="val 50000"/>
            </a:avLst>
          </a:prstGeom>
          <a:ln xmlns:a="http://schemas.openxmlformats.org/drawingml/2006/main" w="20955">
            <a:solidFill>
              <a:srgbClr val="193C56"/>
            </a:solidFill>
            <a:tailEnd type="triangle" w="sm" len="sm"/>
          </a:ln>
        </p:spPr>
      </p:cxnSp>
      <p:sp>
        <p:nvSpPr>
          <p:cNvPr id="43" name="">
            <a:extLst xmlns:a="http://schemas.openxmlformats.org/drawingml/2006/main">
              <a:ext uri="{FF2B5EF4-FFF2-40B4-BE49-F238E27FC236}">
                <a16:creationId xmlns:a16="http://schemas.microsoft.com/office/drawing/2014/main" id="{50981B66-C88F-4937-8EDF-8CC83380B42D}"/>
              </a:ext>
            </a:extLst>
          </p:cNvPr>
          <p:cNvSpPr>
            <a:spLocks xmlns:a="http://schemas.openxmlformats.org/drawingml/2006/main" noGrp="1"/>
          </p:cNvSpPr>
          <p:nvPr/>
        </p:nvSpPr>
        <p:spPr>
          <a:xfrm xmlns:a="http://schemas.openxmlformats.org/drawingml/2006/main">
            <a:off x="9544050" y="4762500"/>
            <a:ext cx="2228850" cy="1028700"/>
          </a:xfrm>
          <a:prstGeom xmlns:a="http://schemas.openxmlformats.org/drawingml/2006/main" prst="roundRect">
            <a:avLst>
              <a:gd name="adj" fmla="val 14815"/>
            </a:avLst>
          </a:prstGeom>
          <a:noFill xmlns:a="http://schemas.openxmlformats.org/drawingml/2006/main"/>
          <a:ln xmlns:a="http://schemas.openxmlformats.org/drawingml/2006/main" w="15240">
            <a:solidFill>
              <a:srgbClr val="D69A24"/>
            </a:solidFill>
          </a:ln>
        </p:spPr>
      </p:sp>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c9fe5985d0cf498e">
            <a:extLst>
              <a:ext uri="{96DAC541-7B7A-43D3-8B79-37D633B846F1}">
                <asvg:svgBlip xmlns:asvg="http://schemas.microsoft.com/office/drawing/2016/SVG/main" r:embed="R37132ad8daf74dd4"/>
              </a:ext>
            </a:extLst>
          </a:blip>
          <a:stretch xmlns:a="http://schemas.openxmlformats.org/drawingml/2006/main"/>
        </p:blipFill>
        <p:spPr>
          <a:xfrm xmlns:a="http://schemas.openxmlformats.org/drawingml/2006/main">
            <a:off x="9677400" y="4895850"/>
            <a:ext cx="266700" cy="26670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D639326E-2862-4B48-9E52-269C44670ED6}"/>
              </a:ext>
            </a:extLst>
          </p:cNvPr>
          <p:cNvSpPr>
            <a:spLocks xmlns:a="http://schemas.openxmlformats.org/drawingml/2006/main" noGrp="1"/>
          </p:cNvSpPr>
          <p:nvPr/>
        </p:nvSpPr>
        <p:spPr>
          <a:xfrm xmlns:a="http://schemas.openxmlformats.org/drawingml/2006/main">
            <a:off x="10048875" y="4886325"/>
            <a:ext cx="1571625"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Uncertain</a:t>
            </a:r>
          </a:p>
        </p:txBody>
      </p:sp>
      <p:sp>
        <p:nvSpPr>
          <p:cNvPr id="46" name="">
            <a:extLst xmlns:a="http://schemas.openxmlformats.org/drawingml/2006/main">
              <a:ext uri="{FF2B5EF4-FFF2-40B4-BE49-F238E27FC236}">
                <a16:creationId xmlns:a16="http://schemas.microsoft.com/office/drawing/2014/main" id="{8CA59254-7952-45B9-B437-4AC65C5B48C7}"/>
              </a:ext>
            </a:extLst>
          </p:cNvPr>
          <p:cNvSpPr>
            <a:spLocks xmlns:a="http://schemas.openxmlformats.org/drawingml/2006/main" noGrp="1"/>
          </p:cNvSpPr>
          <p:nvPr/>
        </p:nvSpPr>
        <p:spPr>
          <a:xfrm xmlns:a="http://schemas.openxmlformats.org/drawingml/2006/main">
            <a:off x="9686925" y="5267325"/>
            <a:ext cx="1943100" cy="5048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Request human review</a:t>
            </a:r>
          </a:p>
        </p:txBody>
      </p:sp>
      <p:cxnSp>
        <p:nvCxnSpPr>
          <p:cNvPr id="95" name=""/>
          <p:cNvCxnSpPr>
            <a:stCxn xmlns:a="http://schemas.openxmlformats.org/drawingml/2006/main" id="24" idx="3"/>
            <a:endCxn xmlns:a="http://schemas.openxmlformats.org/drawingml/2006/main" id="43" idx="1"/>
          </p:cNvCxnSpPr>
          <p:nvPr/>
        </p:nvCxnSpPr>
        <p:spPr>
          <a:xfrm xmlns:a="http://schemas.openxmlformats.org/drawingml/2006/main">
            <a:off x="8867775" y="3910013"/>
            <a:ext cx="676275" cy="1366838"/>
          </a:xfrm>
          <a:prstGeom xmlns:a="http://schemas.openxmlformats.org/drawingml/2006/main" prst="bentConnector3">
            <a:avLst>
              <a:gd name="adj1" fmla="val 50000"/>
            </a:avLst>
          </a:prstGeom>
          <a:ln xmlns:a="http://schemas.openxmlformats.org/drawingml/2006/main" w="20955">
            <a:solidFill>
              <a:srgbClr val="D69A24"/>
            </a:solidFill>
            <a:tailEnd type="triangle" w="sm" len="sm"/>
          </a:ln>
        </p:spPr>
      </p:cxnSp>
      <p:sp>
        <p:nvSpPr>
          <p:cNvPr id="48" name="">
            <a:extLst xmlns:a="http://schemas.openxmlformats.org/drawingml/2006/main">
              <a:ext uri="{FF2B5EF4-FFF2-40B4-BE49-F238E27FC236}">
                <a16:creationId xmlns:a16="http://schemas.microsoft.com/office/drawing/2014/main" id="{04270B83-A8B5-47E3-9DDE-E17485FBF709}"/>
              </a:ext>
            </a:extLst>
          </p:cNvPr>
          <p:cNvSpPr>
            <a:spLocks xmlns:a="http://schemas.openxmlformats.org/drawingml/2006/main" noGrp="1"/>
          </p:cNvSpPr>
          <p:nvPr/>
        </p:nvSpPr>
        <p:spPr>
          <a:xfrm xmlns:a="http://schemas.openxmlformats.org/drawingml/2006/main">
            <a:off x="419100" y="6124575"/>
            <a:ext cx="1123950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168B83"/>
                </a:solidFill>
                <a:latin typeface="Arial"/>
                <a:ea typeface="Arial"/>
                <a:cs typeface="Arial"/>
              </a:defRPr>
            </a:pPr>
            <a:r>
              <a:rPr sz="1425" b="0">
                <a:solidFill>
                  <a:srgbClr val="168B83"/>
                </a:solidFill>
                <a:latin typeface="Arial"/>
                <a:ea typeface="Arial"/>
                <a:cs typeface="Arial"/>
              </a:rPr>
              <a:t>Original observations stay intact. Operators review proposed corrections separately.</a:t>
            </a:r>
          </a:p>
        </p:txBody>
      </p:sp>
    </p:spTree>
    <p:extLst>
      <p:ext uri="{BB962C8B-B14F-4D97-AF65-F5344CB8AC3E}">
        <p14:creationId xmlns:p14="http://schemas.microsoft.com/office/powerpoint/2010/main" val="12324513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5EF7983C-5EAB-4793-A6FC-5E0574C594DC}"/>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7C52BE4E-43E4-4D1C-AE65-CC537E505CA6}"/>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TECHNICAL APPROACH</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99ad245602064a79"/>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506522B-D56C-49A8-9760-CC612B4FD6F0}"/>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FD864031-3A45-4531-BB13-F6038C838A5C}"/>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6" name="">
            <a:extLst xmlns:a="http://schemas.openxmlformats.org/drawingml/2006/main">
              <a:ext uri="{FF2B5EF4-FFF2-40B4-BE49-F238E27FC236}">
                <a16:creationId xmlns:a16="http://schemas.microsoft.com/office/drawing/2014/main" id="{C719D164-CDDF-4D74-BB9C-A5EA5D9E1EF4}"/>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7" name="">
            <a:extLst xmlns:a="http://schemas.openxmlformats.org/drawingml/2006/main">
              <a:ext uri="{FF2B5EF4-FFF2-40B4-BE49-F238E27FC236}">
                <a16:creationId xmlns:a16="http://schemas.microsoft.com/office/drawing/2014/main" id="{335A033D-CAFA-4720-9576-D8EB56B688B8}"/>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2D6B8AC9-BB57-4164-8CF4-9CCC231DBFB2}"/>
              </a:ext>
            </a:extLst>
          </p:cNvPr>
          <p:cNvSpPr>
            <a:spLocks xmlns:a="http://schemas.openxmlformats.org/drawingml/2006/main" noGrp="1"/>
          </p:cNvSpPr>
          <p:nvPr/>
        </p:nvSpPr>
        <p:spPr>
          <a:xfrm xmlns:a="http://schemas.openxmlformats.org/drawingml/2006/main">
            <a:off x="381000" y="1895475"/>
            <a:ext cx="2047875" cy="3105150"/>
          </a:xfrm>
          <a:prstGeom xmlns:a="http://schemas.openxmlformats.org/drawingml/2006/main" prst="roundRect">
            <a:avLst>
              <a:gd name="adj" fmla="val 7442"/>
            </a:avLst>
          </a:prstGeom>
          <a:solidFill xmlns:a="http://schemas.openxmlformats.org/drawingml/2006/main">
            <a:srgbClr val="FFFFFF"/>
          </a:solidFill>
          <a:ln xmlns:a="http://schemas.openxmlformats.org/drawingml/2006/main" w="15240">
            <a:solidFill>
              <a:srgbClr val="193C56"/>
            </a:solidFill>
          </a:ln>
        </p:spPr>
      </p:sp>
      <p:sp>
        <p:nvSpPr>
          <p:cNvPr id="9" name="">
            <a:extLst xmlns:a="http://schemas.openxmlformats.org/drawingml/2006/main">
              <a:ext uri="{FF2B5EF4-FFF2-40B4-BE49-F238E27FC236}">
                <a16:creationId xmlns:a16="http://schemas.microsoft.com/office/drawing/2014/main" id="{0FD131BA-F0C6-4095-9085-8F89DA741AAC}"/>
              </a:ext>
            </a:extLst>
          </p:cNvPr>
          <p:cNvSpPr>
            <a:spLocks xmlns:a="http://schemas.openxmlformats.org/drawingml/2006/main" noGrp="1"/>
          </p:cNvSpPr>
          <p:nvPr/>
        </p:nvSpPr>
        <p:spPr>
          <a:xfrm xmlns:a="http://schemas.openxmlformats.org/drawingml/2006/main">
            <a:off x="476250" y="1990725"/>
            <a:ext cx="1857375" cy="361950"/>
          </a:xfrm>
          <a:prstGeom xmlns:a="http://schemas.openxmlformats.org/drawingml/2006/main" prst="roundRect">
            <a:avLst>
              <a:gd name="adj" fmla="val 42105"/>
            </a:avLst>
          </a:prstGeom>
          <a:solidFill xmlns:a="http://schemas.openxmlformats.org/drawingml/2006/main">
            <a:srgbClr val="FFF7E6"/>
          </a:solidFill>
          <a:ln xmlns:a="http://schemas.openxmlformats.org/drawingml/2006/main" w="15240">
            <a:noFill/>
          </a:ln>
        </p:spPr>
      </p:sp>
      <p:sp>
        <p:nvSpPr>
          <p:cNvPr id="10" name="">
            <a:extLst xmlns:a="http://schemas.openxmlformats.org/drawingml/2006/main">
              <a:ext uri="{FF2B5EF4-FFF2-40B4-BE49-F238E27FC236}">
                <a16:creationId xmlns:a16="http://schemas.microsoft.com/office/drawing/2014/main" id="{04DAA5FF-8E3B-4CFB-AA97-63CD826F5E32}"/>
              </a:ext>
            </a:extLst>
          </p:cNvPr>
          <p:cNvSpPr>
            <a:spLocks xmlns:a="http://schemas.openxmlformats.org/drawingml/2006/main" noGrp="1"/>
          </p:cNvSpPr>
          <p:nvPr/>
        </p:nvSpPr>
        <p:spPr>
          <a:xfrm xmlns:a="http://schemas.openxmlformats.org/drawingml/2006/main">
            <a:off x="571500" y="2057400"/>
            <a:ext cx="1666875"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INPUT</a:t>
            </a:r>
          </a:p>
        </p:txBody>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6241bf9df4464409">
            <a:extLst>
              <a:ext uri="{96DAC541-7B7A-43D3-8B79-37D633B846F1}">
                <asvg:svgBlip xmlns:asvg="http://schemas.microsoft.com/office/drawing/2016/SVG/main" r:embed="R81872ae877494bed"/>
              </a:ext>
            </a:extLst>
          </a:blip>
          <a:stretch xmlns:a="http://schemas.openxmlformats.org/drawingml/2006/main"/>
        </p:blipFill>
        <p:spPr>
          <a:xfrm xmlns:a="http://schemas.openxmlformats.org/drawingml/2006/main">
            <a:off x="1147763" y="2486025"/>
            <a:ext cx="514350" cy="5143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4675E4C-3864-4AF2-8E46-8BE907726B51}"/>
              </a:ext>
            </a:extLst>
          </p:cNvPr>
          <p:cNvSpPr>
            <a:spLocks xmlns:a="http://schemas.openxmlformats.org/drawingml/2006/main" noGrp="1"/>
          </p:cNvSpPr>
          <p:nvPr/>
        </p:nvSpPr>
        <p:spPr>
          <a:xfrm xmlns:a="http://schemas.openxmlformats.org/drawingml/2006/main">
            <a:off x="552450" y="3133725"/>
            <a:ext cx="1704975" cy="1790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Temperature</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Pressure</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Relative humidity</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Station ID + timestamp</a:t>
            </a:r>
          </a:p>
        </p:txBody>
      </p:sp>
      <p:sp>
        <p:nvSpPr>
          <p:cNvPr id="13" name="">
            <a:extLst xmlns:a="http://schemas.openxmlformats.org/drawingml/2006/main">
              <a:ext uri="{FF2B5EF4-FFF2-40B4-BE49-F238E27FC236}">
                <a16:creationId xmlns:a16="http://schemas.microsoft.com/office/drawing/2014/main" id="{BB0DBD20-C3E4-421F-9D9F-D2317572ABA8}"/>
              </a:ext>
            </a:extLst>
          </p:cNvPr>
          <p:cNvSpPr>
            <a:spLocks xmlns:a="http://schemas.openxmlformats.org/drawingml/2006/main" noGrp="1"/>
          </p:cNvSpPr>
          <p:nvPr/>
        </p:nvSpPr>
        <p:spPr>
          <a:xfrm xmlns:a="http://schemas.openxmlformats.org/drawingml/2006/main">
            <a:off x="2886075" y="2114550"/>
            <a:ext cx="1943100" cy="260032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15240">
            <a:solidFill>
              <a:srgbClr val="193C56"/>
            </a:solidFill>
          </a:ln>
        </p:spPr>
      </p:sp>
      <p:sp>
        <p:nvSpPr>
          <p:cNvPr id="14" name="">
            <a:extLst xmlns:a="http://schemas.openxmlformats.org/drawingml/2006/main">
              <a:ext uri="{FF2B5EF4-FFF2-40B4-BE49-F238E27FC236}">
                <a16:creationId xmlns:a16="http://schemas.microsoft.com/office/drawing/2014/main" id="{1D2E1680-CB08-4EAB-8605-D4684BACABAF}"/>
              </a:ext>
            </a:extLst>
          </p:cNvPr>
          <p:cNvSpPr>
            <a:spLocks xmlns:a="http://schemas.openxmlformats.org/drawingml/2006/main" noGrp="1"/>
          </p:cNvSpPr>
          <p:nvPr/>
        </p:nvSpPr>
        <p:spPr>
          <a:xfrm xmlns:a="http://schemas.openxmlformats.org/drawingml/2006/main">
            <a:off x="2981325" y="2209800"/>
            <a:ext cx="1752600" cy="361950"/>
          </a:xfrm>
          <a:prstGeom xmlns:a="http://schemas.openxmlformats.org/drawingml/2006/main" prst="roundRect">
            <a:avLst>
              <a:gd name="adj" fmla="val 42105"/>
            </a:avLst>
          </a:prstGeom>
          <a:solidFill xmlns:a="http://schemas.openxmlformats.org/drawingml/2006/main">
            <a:srgbClr val="FFF7E6"/>
          </a:solidFill>
          <a:ln xmlns:a="http://schemas.openxmlformats.org/drawingml/2006/main" w="15240">
            <a:noFill/>
          </a:ln>
        </p:spPr>
      </p:sp>
      <p:sp>
        <p:nvSpPr>
          <p:cNvPr id="15" name="">
            <a:extLst xmlns:a="http://schemas.openxmlformats.org/drawingml/2006/main">
              <a:ext uri="{FF2B5EF4-FFF2-40B4-BE49-F238E27FC236}">
                <a16:creationId xmlns:a16="http://schemas.microsoft.com/office/drawing/2014/main" id="{E9015458-0CDA-4AB0-A38C-14EF4A1A8C46}"/>
              </a:ext>
            </a:extLst>
          </p:cNvPr>
          <p:cNvSpPr>
            <a:spLocks xmlns:a="http://schemas.openxmlformats.org/drawingml/2006/main" noGrp="1"/>
          </p:cNvSpPr>
          <p:nvPr/>
        </p:nvSpPr>
        <p:spPr>
          <a:xfrm xmlns:a="http://schemas.openxmlformats.org/drawingml/2006/main">
            <a:off x="3076575" y="2276475"/>
            <a:ext cx="15621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Validation</a:t>
            </a:r>
          </a:p>
        </p:txBody>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ef6241577bc54dfc">
            <a:extLst>
              <a:ext uri="{96DAC541-7B7A-43D3-8B79-37D633B846F1}">
                <asvg:svgBlip xmlns:asvg="http://schemas.microsoft.com/office/drawing/2016/SVG/main" r:embed="Rd5637dd955514dae"/>
              </a:ext>
            </a:extLst>
          </a:blip>
          <a:stretch xmlns:a="http://schemas.openxmlformats.org/drawingml/2006/main"/>
        </p:blipFill>
        <p:spPr>
          <a:xfrm xmlns:a="http://schemas.openxmlformats.org/drawingml/2006/main">
            <a:off x="3600450" y="2705100"/>
            <a:ext cx="514350" cy="5143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04119134-805D-4BAC-96E6-5808A09D80D4}"/>
              </a:ext>
            </a:extLst>
          </p:cNvPr>
          <p:cNvSpPr>
            <a:spLocks xmlns:a="http://schemas.openxmlformats.org/drawingml/2006/main" noGrp="1"/>
          </p:cNvSpPr>
          <p:nvPr/>
        </p:nvSpPr>
        <p:spPr>
          <a:xfrm xmlns:a="http://schemas.openxmlformats.org/drawingml/2006/main">
            <a:off x="3057525" y="3352800"/>
            <a:ext cx="1600200" cy="12858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Time + schema</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Handle data gaps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Save raw values</a:t>
            </a:r>
          </a:p>
        </p:txBody>
      </p:sp>
      <p:sp>
        <p:nvSpPr>
          <p:cNvPr id="18" name="">
            <a:extLst xmlns:a="http://schemas.openxmlformats.org/drawingml/2006/main">
              <a:ext uri="{FF2B5EF4-FFF2-40B4-BE49-F238E27FC236}">
                <a16:creationId xmlns:a16="http://schemas.microsoft.com/office/drawing/2014/main" id="{EC808D9B-470D-4963-9E3F-1D6C7DCC1396}"/>
              </a:ext>
            </a:extLst>
          </p:cNvPr>
          <p:cNvSpPr>
            <a:spLocks xmlns:a="http://schemas.openxmlformats.org/drawingml/2006/main" noGrp="1"/>
          </p:cNvSpPr>
          <p:nvPr/>
        </p:nvSpPr>
        <p:spPr>
          <a:xfrm xmlns:a="http://schemas.openxmlformats.org/drawingml/2006/main">
            <a:off x="5286375" y="1171575"/>
            <a:ext cx="2381250" cy="2066925"/>
          </a:xfrm>
          <a:prstGeom xmlns:a="http://schemas.openxmlformats.org/drawingml/2006/main" prst="roundRect">
            <a:avLst>
              <a:gd name="adj" fmla="val 7373"/>
            </a:avLst>
          </a:prstGeom>
          <a:solidFill xmlns:a="http://schemas.openxmlformats.org/drawingml/2006/main">
            <a:srgbClr val="FFFFFF"/>
          </a:solidFill>
          <a:ln xmlns:a="http://schemas.openxmlformats.org/drawingml/2006/main" w="15240">
            <a:solidFill>
              <a:srgbClr val="168B83"/>
            </a:solidFill>
          </a:ln>
        </p:spPr>
      </p:sp>
      <p:sp>
        <p:nvSpPr>
          <p:cNvPr id="19" name="">
            <a:extLst xmlns:a="http://schemas.openxmlformats.org/drawingml/2006/main">
              <a:ext uri="{FF2B5EF4-FFF2-40B4-BE49-F238E27FC236}">
                <a16:creationId xmlns:a16="http://schemas.microsoft.com/office/drawing/2014/main" id="{7CE943CB-454D-4CCD-9B2B-EA6A59B0C8AC}"/>
              </a:ext>
            </a:extLst>
          </p:cNvPr>
          <p:cNvSpPr>
            <a:spLocks xmlns:a="http://schemas.openxmlformats.org/drawingml/2006/main" noGrp="1"/>
          </p:cNvSpPr>
          <p:nvPr/>
        </p:nvSpPr>
        <p:spPr>
          <a:xfrm xmlns:a="http://schemas.openxmlformats.org/drawingml/2006/main">
            <a:off x="5381625" y="1266825"/>
            <a:ext cx="21907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20" name="">
            <a:extLst xmlns:a="http://schemas.openxmlformats.org/drawingml/2006/main">
              <a:ext uri="{FF2B5EF4-FFF2-40B4-BE49-F238E27FC236}">
                <a16:creationId xmlns:a16="http://schemas.microsoft.com/office/drawing/2014/main" id="{DCE73D2E-42B4-407B-BC8F-A1E17B26940A}"/>
              </a:ext>
            </a:extLst>
          </p:cNvPr>
          <p:cNvSpPr>
            <a:spLocks xmlns:a="http://schemas.openxmlformats.org/drawingml/2006/main" noGrp="1"/>
          </p:cNvSpPr>
          <p:nvPr/>
        </p:nvSpPr>
        <p:spPr>
          <a:xfrm xmlns:a="http://schemas.openxmlformats.org/drawingml/2006/main">
            <a:off x="5476875" y="1333500"/>
            <a:ext cx="20002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Temporal + ML</a:t>
            </a:r>
          </a:p>
        </p:txBody>
      </p:sp>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4515330312a94276">
            <a:extLst>
              <a:ext uri="{96DAC541-7B7A-43D3-8B79-37D633B846F1}">
                <asvg:svgBlip xmlns:asvg="http://schemas.microsoft.com/office/drawing/2016/SVG/main" r:embed="Rb8c1894f6d824583"/>
              </a:ext>
            </a:extLst>
          </a:blip>
          <a:stretch xmlns:a="http://schemas.openxmlformats.org/drawingml/2006/main"/>
        </p:blipFill>
        <p:spPr>
          <a:xfrm xmlns:a="http://schemas.openxmlformats.org/drawingml/2006/main">
            <a:off x="6219825" y="1762125"/>
            <a:ext cx="514350" cy="5143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5308D739-8331-4B54-AB5D-2177AA40AF2A}"/>
              </a:ext>
            </a:extLst>
          </p:cNvPr>
          <p:cNvSpPr>
            <a:spLocks xmlns:a="http://schemas.openxmlformats.org/drawingml/2006/main" noGrp="1"/>
          </p:cNvSpPr>
          <p:nvPr/>
        </p:nvSpPr>
        <p:spPr>
          <a:xfrm xmlns:a="http://schemas.openxmlformats.org/drawingml/2006/main">
            <a:off x="5457825" y="2409825"/>
            <a:ext cx="2038350" cy="7524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Causal history features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Isolation Forest score</a:t>
            </a:r>
          </a:p>
        </p:txBody>
      </p:sp>
      <p:sp>
        <p:nvSpPr>
          <p:cNvPr id="23" name="">
            <a:extLst xmlns:a="http://schemas.openxmlformats.org/drawingml/2006/main">
              <a:ext uri="{FF2B5EF4-FFF2-40B4-BE49-F238E27FC236}">
                <a16:creationId xmlns:a16="http://schemas.microsoft.com/office/drawing/2014/main" id="{BC496414-C31C-4270-98F7-FB5E6288633D}"/>
              </a:ext>
            </a:extLst>
          </p:cNvPr>
          <p:cNvSpPr>
            <a:spLocks xmlns:a="http://schemas.openxmlformats.org/drawingml/2006/main" noGrp="1"/>
          </p:cNvSpPr>
          <p:nvPr/>
        </p:nvSpPr>
        <p:spPr>
          <a:xfrm xmlns:a="http://schemas.openxmlformats.org/drawingml/2006/main">
            <a:off x="5286375" y="3657600"/>
            <a:ext cx="2381250" cy="2066925"/>
          </a:xfrm>
          <a:prstGeom xmlns:a="http://schemas.openxmlformats.org/drawingml/2006/main" prst="roundRect">
            <a:avLst>
              <a:gd name="adj" fmla="val 7373"/>
            </a:avLst>
          </a:prstGeom>
          <a:solidFill xmlns:a="http://schemas.openxmlformats.org/drawingml/2006/main">
            <a:srgbClr val="FFFFFF"/>
          </a:solidFill>
          <a:ln xmlns:a="http://schemas.openxmlformats.org/drawingml/2006/main" w="15240">
            <a:solidFill>
              <a:srgbClr val="168B83"/>
            </a:solidFill>
          </a:ln>
        </p:spPr>
      </p:sp>
      <p:sp>
        <p:nvSpPr>
          <p:cNvPr id="24" name="">
            <a:extLst xmlns:a="http://schemas.openxmlformats.org/drawingml/2006/main">
              <a:ext uri="{FF2B5EF4-FFF2-40B4-BE49-F238E27FC236}">
                <a16:creationId xmlns:a16="http://schemas.microsoft.com/office/drawing/2014/main" id="{7A192E45-4556-40B4-B589-3A5E05D02259}"/>
              </a:ext>
            </a:extLst>
          </p:cNvPr>
          <p:cNvSpPr>
            <a:spLocks xmlns:a="http://schemas.openxmlformats.org/drawingml/2006/main" noGrp="1"/>
          </p:cNvSpPr>
          <p:nvPr/>
        </p:nvSpPr>
        <p:spPr>
          <a:xfrm xmlns:a="http://schemas.openxmlformats.org/drawingml/2006/main">
            <a:off x="5381625" y="3752850"/>
            <a:ext cx="21907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25" name="">
            <a:extLst xmlns:a="http://schemas.openxmlformats.org/drawingml/2006/main">
              <a:ext uri="{FF2B5EF4-FFF2-40B4-BE49-F238E27FC236}">
                <a16:creationId xmlns:a16="http://schemas.microsoft.com/office/drawing/2014/main" id="{B565444C-9D1E-4792-9D42-7BDF176A6D45}"/>
              </a:ext>
            </a:extLst>
          </p:cNvPr>
          <p:cNvSpPr>
            <a:spLocks xmlns:a="http://schemas.openxmlformats.org/drawingml/2006/main" noGrp="1"/>
          </p:cNvSpPr>
          <p:nvPr/>
        </p:nvSpPr>
        <p:spPr>
          <a:xfrm xmlns:a="http://schemas.openxmlformats.org/drawingml/2006/main">
            <a:off x="5476875" y="3819525"/>
            <a:ext cx="20002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Physics + peers</a:t>
            </a: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b62fe35651844606">
            <a:extLst>
              <a:ext uri="{96DAC541-7B7A-43D3-8B79-37D633B846F1}">
                <asvg:svgBlip xmlns:asvg="http://schemas.microsoft.com/office/drawing/2016/SVG/main" r:embed="R0916a6591fcd470b"/>
              </a:ext>
            </a:extLst>
          </a:blip>
          <a:stretch xmlns:a="http://schemas.openxmlformats.org/drawingml/2006/main"/>
        </p:blipFill>
        <p:spPr>
          <a:xfrm xmlns:a="http://schemas.openxmlformats.org/drawingml/2006/main">
            <a:off x="6219825" y="4248150"/>
            <a:ext cx="514350" cy="5143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11DC028D-5FD0-4F29-A1E2-E8A7A1AC1558}"/>
              </a:ext>
            </a:extLst>
          </p:cNvPr>
          <p:cNvSpPr>
            <a:spLocks xmlns:a="http://schemas.openxmlformats.org/drawingml/2006/main" noGrp="1"/>
          </p:cNvSpPr>
          <p:nvPr/>
        </p:nvSpPr>
        <p:spPr>
          <a:xfrm xmlns:a="http://schemas.openxmlformats.org/drawingml/2006/main">
            <a:off x="5457825" y="4895850"/>
            <a:ext cx="2038350" cy="7524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T/P/RH relationships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Trusted station comparison</a:t>
            </a:r>
          </a:p>
        </p:txBody>
      </p:sp>
      <p:sp>
        <p:nvSpPr>
          <p:cNvPr id="28" name="">
            <a:extLst xmlns:a="http://schemas.openxmlformats.org/drawingml/2006/main">
              <a:ext uri="{FF2B5EF4-FFF2-40B4-BE49-F238E27FC236}">
                <a16:creationId xmlns:a16="http://schemas.microsoft.com/office/drawing/2014/main" id="{04EBC864-EF45-4619-AA06-0FAC9ADAC3F4}"/>
              </a:ext>
            </a:extLst>
          </p:cNvPr>
          <p:cNvSpPr>
            <a:spLocks xmlns:a="http://schemas.openxmlformats.org/drawingml/2006/main" noGrp="1"/>
          </p:cNvSpPr>
          <p:nvPr/>
        </p:nvSpPr>
        <p:spPr>
          <a:xfrm xmlns:a="http://schemas.openxmlformats.org/drawingml/2006/main">
            <a:off x="8153400" y="2190750"/>
            <a:ext cx="1657350" cy="2600325"/>
          </a:xfrm>
          <a:prstGeom xmlns:a="http://schemas.openxmlformats.org/drawingml/2006/main" prst="roundRect">
            <a:avLst>
              <a:gd name="adj" fmla="val 9195"/>
            </a:avLst>
          </a:prstGeom>
          <a:solidFill xmlns:a="http://schemas.openxmlformats.org/drawingml/2006/main">
            <a:srgbClr val="FFFFFF"/>
          </a:solidFill>
          <a:ln xmlns:a="http://schemas.openxmlformats.org/drawingml/2006/main" w="15240">
            <a:solidFill>
              <a:srgbClr val="168B83"/>
            </a:solidFill>
          </a:ln>
        </p:spPr>
      </p:sp>
      <p:sp>
        <p:nvSpPr>
          <p:cNvPr id="29" name="">
            <a:extLst xmlns:a="http://schemas.openxmlformats.org/drawingml/2006/main">
              <a:ext uri="{FF2B5EF4-FFF2-40B4-BE49-F238E27FC236}">
                <a16:creationId xmlns:a16="http://schemas.microsoft.com/office/drawing/2014/main" id="{4F77363C-2B34-49C0-BFA6-6A3413D711D8}"/>
              </a:ext>
            </a:extLst>
          </p:cNvPr>
          <p:cNvSpPr>
            <a:spLocks xmlns:a="http://schemas.openxmlformats.org/drawingml/2006/main" noGrp="1"/>
          </p:cNvSpPr>
          <p:nvPr/>
        </p:nvSpPr>
        <p:spPr>
          <a:xfrm xmlns:a="http://schemas.openxmlformats.org/drawingml/2006/main">
            <a:off x="8248650" y="2286000"/>
            <a:ext cx="14668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30" name="">
            <a:extLst xmlns:a="http://schemas.openxmlformats.org/drawingml/2006/main">
              <a:ext uri="{FF2B5EF4-FFF2-40B4-BE49-F238E27FC236}">
                <a16:creationId xmlns:a16="http://schemas.microsoft.com/office/drawing/2014/main" id="{F128C537-3504-4BBE-935B-F886B268799B}"/>
              </a:ext>
            </a:extLst>
          </p:cNvPr>
          <p:cNvSpPr>
            <a:spLocks xmlns:a="http://schemas.openxmlformats.org/drawingml/2006/main" noGrp="1"/>
          </p:cNvSpPr>
          <p:nvPr/>
        </p:nvSpPr>
        <p:spPr>
          <a:xfrm xmlns:a="http://schemas.openxmlformats.org/drawingml/2006/main">
            <a:off x="8343900" y="2352675"/>
            <a:ext cx="12763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Decision</a:t>
            </a:r>
          </a:p>
        </p:txBody>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9bd8fd7ba179426f">
            <a:extLst>
              <a:ext uri="{96DAC541-7B7A-43D3-8B79-37D633B846F1}">
                <asvg:svgBlip xmlns:asvg="http://schemas.microsoft.com/office/drawing/2016/SVG/main" r:embed="R90aa1da658f34da0"/>
              </a:ext>
            </a:extLst>
          </a:blip>
          <a:stretch xmlns:a="http://schemas.openxmlformats.org/drawingml/2006/main"/>
        </p:blipFill>
        <p:spPr>
          <a:xfrm xmlns:a="http://schemas.openxmlformats.org/drawingml/2006/main">
            <a:off x="8724900" y="2781300"/>
            <a:ext cx="514350" cy="51435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192956F8-8726-4FD7-A6D3-619BADB02A21}"/>
              </a:ext>
            </a:extLst>
          </p:cNvPr>
          <p:cNvSpPr>
            <a:spLocks xmlns:a="http://schemas.openxmlformats.org/drawingml/2006/main" noGrp="1"/>
          </p:cNvSpPr>
          <p:nvPr/>
        </p:nvSpPr>
        <p:spPr>
          <a:xfrm xmlns:a="http://schemas.openxmlformats.org/drawingml/2006/main">
            <a:off x="8324850" y="3429000"/>
            <a:ext cx="1314450" cy="12858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Combine checks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Explain cause</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Flag uncertainty</a:t>
            </a:r>
          </a:p>
        </p:txBody>
      </p:sp>
      <p:sp>
        <p:nvSpPr>
          <p:cNvPr id="33" name="">
            <a:extLst xmlns:a="http://schemas.openxmlformats.org/drawingml/2006/main">
              <a:ext uri="{FF2B5EF4-FFF2-40B4-BE49-F238E27FC236}">
                <a16:creationId xmlns:a16="http://schemas.microsoft.com/office/drawing/2014/main" id="{FF613F17-D601-4CBA-8432-3B6615E45A81}"/>
              </a:ext>
            </a:extLst>
          </p:cNvPr>
          <p:cNvSpPr>
            <a:spLocks xmlns:a="http://schemas.openxmlformats.org/drawingml/2006/main" noGrp="1"/>
          </p:cNvSpPr>
          <p:nvPr/>
        </p:nvSpPr>
        <p:spPr>
          <a:xfrm xmlns:a="http://schemas.openxmlformats.org/drawingml/2006/main">
            <a:off x="10287000" y="2190750"/>
            <a:ext cx="1524000" cy="2600325"/>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5240">
            <a:solidFill>
              <a:srgbClr val="D69A24"/>
            </a:solidFill>
          </a:ln>
        </p:spPr>
      </p:sp>
      <p:sp>
        <p:nvSpPr>
          <p:cNvPr id="34" name="">
            <a:extLst xmlns:a="http://schemas.openxmlformats.org/drawingml/2006/main">
              <a:ext uri="{FF2B5EF4-FFF2-40B4-BE49-F238E27FC236}">
                <a16:creationId xmlns:a16="http://schemas.microsoft.com/office/drawing/2014/main" id="{FF3E824C-6921-494A-958D-BFE7D90E2E29}"/>
              </a:ext>
            </a:extLst>
          </p:cNvPr>
          <p:cNvSpPr>
            <a:spLocks xmlns:a="http://schemas.openxmlformats.org/drawingml/2006/main" noGrp="1"/>
          </p:cNvSpPr>
          <p:nvPr/>
        </p:nvSpPr>
        <p:spPr>
          <a:xfrm xmlns:a="http://schemas.openxmlformats.org/drawingml/2006/main">
            <a:off x="10382250" y="2286000"/>
            <a:ext cx="1333500" cy="361950"/>
          </a:xfrm>
          <a:prstGeom xmlns:a="http://schemas.openxmlformats.org/drawingml/2006/main" prst="roundRect">
            <a:avLst>
              <a:gd name="adj" fmla="val 42105"/>
            </a:avLst>
          </a:prstGeom>
          <a:solidFill xmlns:a="http://schemas.openxmlformats.org/drawingml/2006/main">
            <a:srgbClr val="FFF7E6"/>
          </a:solidFill>
          <a:ln xmlns:a="http://schemas.openxmlformats.org/drawingml/2006/main" w="15240">
            <a:noFill/>
          </a:ln>
        </p:spPr>
      </p:sp>
      <p:sp>
        <p:nvSpPr>
          <p:cNvPr id="35" name="">
            <a:extLst xmlns:a="http://schemas.openxmlformats.org/drawingml/2006/main">
              <a:ext uri="{FF2B5EF4-FFF2-40B4-BE49-F238E27FC236}">
                <a16:creationId xmlns:a16="http://schemas.microsoft.com/office/drawing/2014/main" id="{7A212773-58A4-46FC-9158-DDA4C673C01E}"/>
              </a:ext>
            </a:extLst>
          </p:cNvPr>
          <p:cNvSpPr>
            <a:spLocks xmlns:a="http://schemas.openxmlformats.org/drawingml/2006/main" noGrp="1"/>
          </p:cNvSpPr>
          <p:nvPr/>
        </p:nvSpPr>
        <p:spPr>
          <a:xfrm xmlns:a="http://schemas.openxmlformats.org/drawingml/2006/main">
            <a:off x="10477500" y="2352675"/>
            <a:ext cx="11430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OUTPUT</a:t>
            </a:r>
          </a:p>
        </p:txBody>
      </p:sp>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d83aa5f9e9224da3">
            <a:extLst>
              <a:ext uri="{96DAC541-7B7A-43D3-8B79-37D633B846F1}">
                <asvg:svgBlip xmlns:asvg="http://schemas.microsoft.com/office/drawing/2016/SVG/main" r:embed="Rf07196b12c494f24"/>
              </a:ext>
            </a:extLst>
          </a:blip>
          <a:stretch xmlns:a="http://schemas.openxmlformats.org/drawingml/2006/main"/>
        </p:blipFill>
        <p:spPr>
          <a:xfrm xmlns:a="http://schemas.openxmlformats.org/drawingml/2006/main">
            <a:off x="10791825" y="2781300"/>
            <a:ext cx="514350" cy="514350"/>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7D459721-FD0C-4EF4-BC22-7F938CFB86C5}"/>
              </a:ext>
            </a:extLst>
          </p:cNvPr>
          <p:cNvSpPr>
            <a:spLocks xmlns:a="http://schemas.openxmlformats.org/drawingml/2006/main" noGrp="1"/>
          </p:cNvSpPr>
          <p:nvPr/>
        </p:nvSpPr>
        <p:spPr>
          <a:xfrm xmlns:a="http://schemas.openxmlformats.org/drawingml/2006/main">
            <a:off x="10458450" y="3429000"/>
            <a:ext cx="1181100" cy="12858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Map + reports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Incidents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Human review</a:t>
            </a:r>
          </a:p>
        </p:txBody>
      </p:sp>
      <p:cxnSp>
        <p:nvCxnSpPr>
          <p:cNvPr id="98" name=""/>
          <p:cNvCxnSpPr>
            <a:stCxn xmlns:a="http://schemas.openxmlformats.org/drawingml/2006/main" id="8" idx="3"/>
            <a:endCxn xmlns:a="http://schemas.openxmlformats.org/drawingml/2006/main" id="13" idx="1"/>
          </p:cNvCxnSpPr>
          <p:nvPr/>
        </p:nvCxnSpPr>
        <p:spPr>
          <a:xfrm xmlns:a="http://schemas.openxmlformats.org/drawingml/2006/main" flipV="1">
            <a:off x="2428875" y="3414713"/>
            <a:ext cx="457200" cy="33338"/>
          </a:xfrm>
          <a:prstGeom xmlns:a="http://schemas.openxmlformats.org/drawingml/2006/main" prst="straightConnector1">
            <a:avLst/>
          </a:prstGeom>
          <a:ln xmlns:a="http://schemas.openxmlformats.org/drawingml/2006/main" w="20955">
            <a:solidFill>
              <a:srgbClr val="193C56"/>
            </a:solidFill>
            <a:tailEnd type="triangle" w="sm" len="sm"/>
          </a:ln>
        </p:spPr>
      </p:cxnSp>
      <p:cxnSp>
        <p:nvCxnSpPr>
          <p:cNvPr id="99" name=""/>
          <p:cNvCxnSpPr>
            <a:stCxn xmlns:a="http://schemas.openxmlformats.org/drawingml/2006/main" id="13" idx="3"/>
            <a:endCxn xmlns:a="http://schemas.openxmlformats.org/drawingml/2006/main" id="18" idx="1"/>
          </p:cNvCxnSpPr>
          <p:nvPr/>
        </p:nvCxnSpPr>
        <p:spPr>
          <a:xfrm xmlns:a="http://schemas.openxmlformats.org/drawingml/2006/main" flipV="1">
            <a:off x="4829175" y="2205038"/>
            <a:ext cx="457200" cy="1209675"/>
          </a:xfrm>
          <a:prstGeom xmlns:a="http://schemas.openxmlformats.org/drawingml/2006/main" prst="bentConnector3">
            <a:avLst>
              <a:gd name="adj1" fmla="val 50000"/>
            </a:avLst>
          </a:prstGeom>
          <a:ln xmlns:a="http://schemas.openxmlformats.org/drawingml/2006/main" w="20955">
            <a:solidFill>
              <a:srgbClr val="193C56"/>
            </a:solidFill>
            <a:tailEnd type="triangle" w="sm" len="sm"/>
          </a:ln>
        </p:spPr>
      </p:cxnSp>
      <p:cxnSp>
        <p:nvCxnSpPr>
          <p:cNvPr id="100" name=""/>
          <p:cNvCxnSpPr>
            <a:stCxn xmlns:a="http://schemas.openxmlformats.org/drawingml/2006/main" id="13" idx="3"/>
            <a:endCxn xmlns:a="http://schemas.openxmlformats.org/drawingml/2006/main" id="23" idx="1"/>
          </p:cNvCxnSpPr>
          <p:nvPr/>
        </p:nvCxnSpPr>
        <p:spPr>
          <a:xfrm xmlns:a="http://schemas.openxmlformats.org/drawingml/2006/main">
            <a:off x="4829175" y="3414713"/>
            <a:ext cx="457200" cy="1276350"/>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101" name=""/>
          <p:cNvCxnSpPr>
            <a:stCxn xmlns:a="http://schemas.openxmlformats.org/drawingml/2006/main" id="18" idx="3"/>
            <a:endCxn xmlns:a="http://schemas.openxmlformats.org/drawingml/2006/main" id="28" idx="1"/>
          </p:cNvCxnSpPr>
          <p:nvPr/>
        </p:nvCxnSpPr>
        <p:spPr>
          <a:xfrm xmlns:a="http://schemas.openxmlformats.org/drawingml/2006/main">
            <a:off x="7667625" y="2205038"/>
            <a:ext cx="485775" cy="1285875"/>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102" name=""/>
          <p:cNvCxnSpPr>
            <a:stCxn xmlns:a="http://schemas.openxmlformats.org/drawingml/2006/main" id="23" idx="3"/>
            <a:endCxn xmlns:a="http://schemas.openxmlformats.org/drawingml/2006/main" id="28" idx="1"/>
          </p:cNvCxnSpPr>
          <p:nvPr/>
        </p:nvCxnSpPr>
        <p:spPr>
          <a:xfrm xmlns:a="http://schemas.openxmlformats.org/drawingml/2006/main" flipV="1">
            <a:off x="7667625" y="3490913"/>
            <a:ext cx="485775" cy="1200150"/>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103" name=""/>
          <p:cNvCxnSpPr>
            <a:stCxn xmlns:a="http://schemas.openxmlformats.org/drawingml/2006/main" id="28" idx="3"/>
            <a:endCxn xmlns:a="http://schemas.openxmlformats.org/drawingml/2006/main" id="33" idx="1"/>
          </p:cNvCxnSpPr>
          <p:nvPr/>
        </p:nvCxnSpPr>
        <p:spPr>
          <a:xfrm xmlns:a="http://schemas.openxmlformats.org/drawingml/2006/main">
            <a:off x="9810750" y="3490913"/>
            <a:ext cx="476250" cy="0"/>
          </a:xfrm>
          <a:prstGeom xmlns:a="http://schemas.openxmlformats.org/drawingml/2006/main" prst="straightConnector1">
            <a:avLst/>
          </a:prstGeom>
          <a:ln xmlns:a="http://schemas.openxmlformats.org/drawingml/2006/main" w="20955">
            <a:solidFill>
              <a:srgbClr val="D69A24"/>
            </a:solidFill>
            <a:tailEnd type="triangle" w="sm" len="sm"/>
          </a:ln>
        </p:spPr>
      </p:cxnSp>
      <p:sp>
        <p:nvSpPr>
          <p:cNvPr id="44" name="">
            <a:extLst xmlns:a="http://schemas.openxmlformats.org/drawingml/2006/main">
              <a:ext uri="{FF2B5EF4-FFF2-40B4-BE49-F238E27FC236}">
                <a16:creationId xmlns:a16="http://schemas.microsoft.com/office/drawing/2014/main" id="{88D5B2FE-3B45-47B1-AC56-3889ECAC50A3}"/>
              </a:ext>
            </a:extLst>
          </p:cNvPr>
          <p:cNvSpPr>
            <a:spLocks xmlns:a="http://schemas.openxmlformats.org/drawingml/2006/main" noGrp="1"/>
          </p:cNvSpPr>
          <p:nvPr/>
        </p:nvSpPr>
        <p:spPr>
          <a:xfrm xmlns:a="http://schemas.openxmlformats.org/drawingml/2006/main">
            <a:off x="2447925" y="3057525"/>
            <a:ext cx="571500" cy="2381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193C56"/>
                </a:solidFill>
                <a:latin typeface="Arial"/>
                <a:ea typeface="Arial"/>
                <a:cs typeface="Arial"/>
              </a:defRPr>
            </a:pPr>
            <a:r>
              <a:rPr sz="900" b="0">
                <a:solidFill>
                  <a:srgbClr val="193C56"/>
                </a:solidFill>
                <a:latin typeface="Arial"/>
                <a:ea typeface="Arial"/>
                <a:cs typeface="Arial"/>
              </a:rPr>
              <a:t>Readings</a:t>
            </a:r>
          </a:p>
        </p:txBody>
      </p:sp>
      <p:sp>
        <p:nvSpPr>
          <p:cNvPr id="45" name="">
            <a:extLst xmlns:a="http://schemas.openxmlformats.org/drawingml/2006/main">
              <a:ext uri="{FF2B5EF4-FFF2-40B4-BE49-F238E27FC236}">
                <a16:creationId xmlns:a16="http://schemas.microsoft.com/office/drawing/2014/main" id="{8050AAC9-6259-4043-A368-71B7D88846DE}"/>
              </a:ext>
            </a:extLst>
          </p:cNvPr>
          <p:cNvSpPr>
            <a:spLocks xmlns:a="http://schemas.openxmlformats.org/drawingml/2006/main" noGrp="1"/>
          </p:cNvSpPr>
          <p:nvPr/>
        </p:nvSpPr>
        <p:spPr>
          <a:xfrm xmlns:a="http://schemas.openxmlformats.org/drawingml/2006/main">
            <a:off x="7667625" y="3181350"/>
            <a:ext cx="619125" cy="2381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168B83"/>
                </a:solidFill>
                <a:latin typeface="Arial"/>
                <a:ea typeface="Arial"/>
                <a:cs typeface="Arial"/>
              </a:defRPr>
            </a:pPr>
            <a:r>
              <a:rPr sz="900" b="0">
                <a:solidFill>
                  <a:srgbClr val="168B83"/>
                </a:solidFill>
                <a:latin typeface="Arial"/>
                <a:ea typeface="Arial"/>
                <a:cs typeface="Arial"/>
              </a:rPr>
              <a:t>Evidence</a:t>
            </a:r>
          </a:p>
        </p:txBody>
      </p:sp>
      <p:sp>
        <p:nvSpPr>
          <p:cNvPr id="46" name="">
            <a:extLst xmlns:a="http://schemas.openxmlformats.org/drawingml/2006/main">
              <a:ext uri="{FF2B5EF4-FFF2-40B4-BE49-F238E27FC236}">
                <a16:creationId xmlns:a16="http://schemas.microsoft.com/office/drawing/2014/main" id="{FD424E4E-1398-4A51-9B7F-2BF8E51561CA}"/>
              </a:ext>
            </a:extLst>
          </p:cNvPr>
          <p:cNvSpPr>
            <a:spLocks xmlns:a="http://schemas.openxmlformats.org/drawingml/2006/main" noGrp="1"/>
          </p:cNvSpPr>
          <p:nvPr/>
        </p:nvSpPr>
        <p:spPr>
          <a:xfrm xmlns:a="http://schemas.openxmlformats.org/drawingml/2006/main">
            <a:off x="8058150" y="5153025"/>
            <a:ext cx="3810000" cy="6191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67B"/>
                </a:solidFill>
                <a:latin typeface="Arial"/>
                <a:ea typeface="Arial"/>
                <a:cs typeface="Arial"/>
              </a:defRPr>
            </a:pPr>
            <a:r>
              <a:rPr sz="1425" b="0">
                <a:solidFill>
                  <a:srgbClr val="52667B"/>
                </a:solidFill>
                <a:latin typeface="Arial"/>
                <a:ea typeface="Arial"/>
                <a:cs typeface="Arial"/>
              </a:rPr>
              <a:t>Healthy / Weather / Sensor fault</a:t>
            </a:r>
          </a:p>
          <a:p xmlns:a="http://schemas.openxmlformats.org/drawingml/2006/main">
            <a:pPr algn="l">
              <a:defRPr sz="1425" b="0">
                <a:solidFill>
                  <a:srgbClr val="52667B"/>
                </a:solidFill>
                <a:latin typeface="Arial"/>
                <a:ea typeface="Arial"/>
                <a:cs typeface="Arial"/>
              </a:defRPr>
            </a:pPr>
            <a:r>
              <a:rPr sz="1425" b="0">
                <a:solidFill>
                  <a:srgbClr val="52667B"/>
                </a:solidFill>
                <a:latin typeface="Arial"/>
                <a:ea typeface="Arial"/>
                <a:cs typeface="Arial"/>
              </a:rPr>
              <a:t>Data issue / Complex / Needs review</a:t>
            </a:r>
          </a:p>
        </p:txBody>
      </p:sp>
      <p:sp>
        <p:nvSpPr>
          <p:cNvPr id="47" name="">
            <a:extLst xmlns:a="http://schemas.openxmlformats.org/drawingml/2006/main">
              <a:ext uri="{FF2B5EF4-FFF2-40B4-BE49-F238E27FC236}">
                <a16:creationId xmlns:a16="http://schemas.microsoft.com/office/drawing/2014/main" id="{1846FA00-114F-4CA5-88DE-CC38071DF420}"/>
              </a:ext>
            </a:extLst>
          </p:cNvPr>
          <p:cNvSpPr>
            <a:spLocks xmlns:a="http://schemas.openxmlformats.org/drawingml/2006/main" noGrp="1"/>
          </p:cNvSpPr>
          <p:nvPr/>
        </p:nvSpPr>
        <p:spPr>
          <a:xfrm xmlns:a="http://schemas.openxmlformats.org/drawingml/2006/main">
            <a:off x="381000" y="5915025"/>
            <a:ext cx="11430000" cy="466725"/>
          </a:xfrm>
          <a:prstGeom xmlns:a="http://schemas.openxmlformats.org/drawingml/2006/main" prst="roundRect">
            <a:avLst>
              <a:gd name="adj" fmla="val 32653"/>
            </a:avLst>
          </a:prstGeom>
          <a:solidFill xmlns:a="http://schemas.openxmlformats.org/drawingml/2006/main">
            <a:srgbClr val="EEF5FD"/>
          </a:solidFill>
          <a:ln xmlns:a="http://schemas.openxmlformats.org/drawingml/2006/main" w="15240">
            <a:noFill/>
          </a:ln>
        </p:spPr>
      </p:sp>
      <p:pic>
        <p:nvPicPr>
          <p:cNvPr id="108" name=""/>
          <p:cNvPicPr>
            <a:picLocks xmlns:a="http://schemas.openxmlformats.org/drawingml/2006/main" noChangeAspect="1"/>
          </p:cNvPicPr>
          <p:nvPr/>
        </p:nvPicPr>
        <p:blipFill>
          <a:blip xmlns:r="http://schemas.openxmlformats.org/officeDocument/2006/relationships" xmlns:a="http://schemas.openxmlformats.org/drawingml/2006/main" r:embed="R47ece5ffcdc44b95">
            <a:extLst>
              <a:ext uri="{96DAC541-7B7A-43D3-8B79-37D633B846F1}">
                <asvg:svgBlip xmlns:asvg="http://schemas.microsoft.com/office/drawing/2016/SVG/main" r:embed="R81421971f0794a31"/>
              </a:ext>
            </a:extLst>
          </a:blip>
          <a:stretch xmlns:a="http://schemas.openxmlformats.org/drawingml/2006/main"/>
        </p:blipFill>
        <p:spPr>
          <a:xfrm xmlns:a="http://schemas.openxmlformats.org/drawingml/2006/main">
            <a:off x="1762125" y="6010275"/>
            <a:ext cx="266700" cy="266700"/>
          </a:xfrm>
          <a:prstGeom xmlns:a="http://schemas.openxmlformats.org/drawingml/2006/main" prst="rect">
            <a:avLst/>
          </a:prstGeom>
        </p:spPr>
      </p:pic>
      <p:sp>
        <p:nvSpPr>
          <p:cNvPr id="49" name="">
            <a:extLst xmlns:a="http://schemas.openxmlformats.org/drawingml/2006/main">
              <a:ext uri="{FF2B5EF4-FFF2-40B4-BE49-F238E27FC236}">
                <a16:creationId xmlns:a16="http://schemas.microsoft.com/office/drawing/2014/main" id="{6D9859E5-28C5-46BB-A830-2C1DF8E0394D}"/>
              </a:ext>
            </a:extLst>
          </p:cNvPr>
          <p:cNvSpPr>
            <a:spLocks xmlns:a="http://schemas.openxmlformats.org/drawingml/2006/main" noGrp="1"/>
          </p:cNvSpPr>
          <p:nvPr/>
        </p:nvSpPr>
        <p:spPr>
          <a:xfrm xmlns:a="http://schemas.openxmlformats.org/drawingml/2006/main">
            <a:off x="21050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React</a:t>
            </a:r>
          </a:p>
        </p:txBody>
      </p:sp>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afbc8b2607924018">
            <a:extLst>
              <a:ext uri="{96DAC541-7B7A-43D3-8B79-37D633B846F1}">
                <asvg:svgBlip xmlns:asvg="http://schemas.microsoft.com/office/drawing/2016/SVG/main" r:embed="R6a42063c08d94ccc"/>
              </a:ext>
            </a:extLst>
          </a:blip>
          <a:stretch xmlns:a="http://schemas.openxmlformats.org/drawingml/2006/main"/>
        </p:blipFill>
        <p:spPr>
          <a:xfrm xmlns:a="http://schemas.openxmlformats.org/drawingml/2006/main">
            <a:off x="3400425" y="6010275"/>
            <a:ext cx="266700" cy="266700"/>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3E5C3C89-4FE1-45EB-ADAC-A7B536AEC58B}"/>
              </a:ext>
            </a:extLst>
          </p:cNvPr>
          <p:cNvSpPr>
            <a:spLocks xmlns:a="http://schemas.openxmlformats.org/drawingml/2006/main" noGrp="1"/>
          </p:cNvSpPr>
          <p:nvPr/>
        </p:nvSpPr>
        <p:spPr>
          <a:xfrm xmlns:a="http://schemas.openxmlformats.org/drawingml/2006/main">
            <a:off x="37433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Three.js</a:t>
            </a:r>
          </a:p>
        </p:txBody>
      </p:sp>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6768b36dc873436d">
            <a:extLst>
              <a:ext uri="{96DAC541-7B7A-43D3-8B79-37D633B846F1}">
                <asvg:svgBlip xmlns:asvg="http://schemas.microsoft.com/office/drawing/2016/SVG/main" r:embed="Rbcbe178dc9f44245"/>
              </a:ext>
            </a:extLst>
          </a:blip>
          <a:stretch xmlns:a="http://schemas.openxmlformats.org/drawingml/2006/main"/>
        </p:blipFill>
        <p:spPr>
          <a:xfrm xmlns:a="http://schemas.openxmlformats.org/drawingml/2006/main">
            <a:off x="5038725" y="6010275"/>
            <a:ext cx="266700" cy="266700"/>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C81AD739-42DA-4717-A747-9F464B7E14F0}"/>
              </a:ext>
            </a:extLst>
          </p:cNvPr>
          <p:cNvSpPr>
            <a:spLocks xmlns:a="http://schemas.openxmlformats.org/drawingml/2006/main" noGrp="1"/>
          </p:cNvSpPr>
          <p:nvPr/>
        </p:nvSpPr>
        <p:spPr>
          <a:xfrm xmlns:a="http://schemas.openxmlformats.org/drawingml/2006/main">
            <a:off x="53816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FastAPI</a:t>
            </a:r>
          </a:p>
        </p:txBody>
      </p:sp>
      <p:pic>
        <p:nvPicPr>
          <p:cNvPr id="114" name=""/>
          <p:cNvPicPr>
            <a:picLocks xmlns:a="http://schemas.openxmlformats.org/drawingml/2006/main" noChangeAspect="1"/>
          </p:cNvPicPr>
          <p:nvPr/>
        </p:nvPicPr>
        <p:blipFill>
          <a:blip xmlns:r="http://schemas.openxmlformats.org/officeDocument/2006/relationships" xmlns:a="http://schemas.openxmlformats.org/drawingml/2006/main" r:embed="Ra88504c384ab4bd9">
            <a:extLst>
              <a:ext uri="{96DAC541-7B7A-43D3-8B79-37D633B846F1}">
                <asvg:svgBlip xmlns:asvg="http://schemas.microsoft.com/office/drawing/2016/SVG/main" r:embed="Rf085494d8a1a4436"/>
              </a:ext>
            </a:extLst>
          </a:blip>
          <a:stretch xmlns:a="http://schemas.openxmlformats.org/drawingml/2006/main"/>
        </p:blipFill>
        <p:spPr>
          <a:xfrm xmlns:a="http://schemas.openxmlformats.org/drawingml/2006/main">
            <a:off x="6677025" y="6010275"/>
            <a:ext cx="266700" cy="266700"/>
          </a:xfrm>
          <a:prstGeom xmlns:a="http://schemas.openxmlformats.org/drawingml/2006/main" prst="rect">
            <a:avLst/>
          </a:prstGeom>
        </p:spPr>
      </p:pic>
      <p:sp>
        <p:nvSpPr>
          <p:cNvPr id="55" name="">
            <a:extLst xmlns:a="http://schemas.openxmlformats.org/drawingml/2006/main">
              <a:ext uri="{FF2B5EF4-FFF2-40B4-BE49-F238E27FC236}">
                <a16:creationId xmlns:a16="http://schemas.microsoft.com/office/drawing/2014/main" id="{F36C4BDC-7A65-4E44-88CF-9EAC97E917D9}"/>
              </a:ext>
            </a:extLst>
          </p:cNvPr>
          <p:cNvSpPr>
            <a:spLocks xmlns:a="http://schemas.openxmlformats.org/drawingml/2006/main" noGrp="1"/>
          </p:cNvSpPr>
          <p:nvPr/>
        </p:nvSpPr>
        <p:spPr>
          <a:xfrm xmlns:a="http://schemas.openxmlformats.org/drawingml/2006/main">
            <a:off x="70199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Python</a:t>
            </a:r>
          </a:p>
        </p:txBody>
      </p:sp>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4b5c422489dd4cad">
            <a:extLst>
              <a:ext uri="{96DAC541-7B7A-43D3-8B79-37D633B846F1}">
                <asvg:svgBlip xmlns:asvg="http://schemas.microsoft.com/office/drawing/2016/SVG/main" r:embed="R513dd12a3db64642"/>
              </a:ext>
            </a:extLst>
          </a:blip>
          <a:stretch xmlns:a="http://schemas.openxmlformats.org/drawingml/2006/main"/>
        </p:blipFill>
        <p:spPr>
          <a:xfrm xmlns:a="http://schemas.openxmlformats.org/drawingml/2006/main">
            <a:off x="8315325" y="6010275"/>
            <a:ext cx="266700" cy="266700"/>
          </a:xfrm>
          <a:prstGeom xmlns:a="http://schemas.openxmlformats.org/drawingml/2006/main" prst="rect">
            <a:avLst/>
          </a:prstGeom>
        </p:spPr>
      </p:pic>
      <p:sp>
        <p:nvSpPr>
          <p:cNvPr id="57" name="">
            <a:extLst xmlns:a="http://schemas.openxmlformats.org/drawingml/2006/main">
              <a:ext uri="{FF2B5EF4-FFF2-40B4-BE49-F238E27FC236}">
                <a16:creationId xmlns:a16="http://schemas.microsoft.com/office/drawing/2014/main" id="{7E0CDDA8-2EAB-4DBB-BFD2-69290C09B906}"/>
              </a:ext>
            </a:extLst>
          </p:cNvPr>
          <p:cNvSpPr>
            <a:spLocks xmlns:a="http://schemas.openxmlformats.org/drawingml/2006/main" noGrp="1"/>
          </p:cNvSpPr>
          <p:nvPr/>
        </p:nvSpPr>
        <p:spPr>
          <a:xfrm xmlns:a="http://schemas.openxmlformats.org/drawingml/2006/main">
            <a:off x="86582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SQLite</a:t>
            </a:r>
          </a:p>
        </p:txBody>
      </p:sp>
      <p:pic>
        <p:nvPicPr>
          <p:cNvPr id="118" name=""/>
          <p:cNvPicPr>
            <a:picLocks xmlns:a="http://schemas.openxmlformats.org/drawingml/2006/main" noChangeAspect="1"/>
          </p:cNvPicPr>
          <p:nvPr/>
        </p:nvPicPr>
        <p:blipFill>
          <a:blip xmlns:r="http://schemas.openxmlformats.org/officeDocument/2006/relationships" xmlns:a="http://schemas.openxmlformats.org/drawingml/2006/main" r:embed="Rb42e64eb81a14466">
            <a:extLst>
              <a:ext uri="{96DAC541-7B7A-43D3-8B79-37D633B846F1}">
                <asvg:svgBlip xmlns:asvg="http://schemas.microsoft.com/office/drawing/2016/SVG/main" r:embed="R8d64a16114784860"/>
              </a:ext>
            </a:extLst>
          </a:blip>
          <a:stretch xmlns:a="http://schemas.openxmlformats.org/drawingml/2006/main"/>
        </p:blipFill>
        <p:spPr>
          <a:xfrm xmlns:a="http://schemas.openxmlformats.org/drawingml/2006/main">
            <a:off x="9953625" y="6010275"/>
            <a:ext cx="266700" cy="266700"/>
          </a:xfrm>
          <a:prstGeom xmlns:a="http://schemas.openxmlformats.org/drawingml/2006/main" prst="rect">
            <a:avLst/>
          </a:prstGeom>
        </p:spPr>
      </p:pic>
      <p:sp>
        <p:nvSpPr>
          <p:cNvPr id="59" name="">
            <a:extLst xmlns:a="http://schemas.openxmlformats.org/drawingml/2006/main">
              <a:ext uri="{FF2B5EF4-FFF2-40B4-BE49-F238E27FC236}">
                <a16:creationId xmlns:a16="http://schemas.microsoft.com/office/drawing/2014/main" id="{5A98080A-253C-4B37-B418-E24AF0B71BCF}"/>
              </a:ext>
            </a:extLst>
          </p:cNvPr>
          <p:cNvSpPr>
            <a:spLocks xmlns:a="http://schemas.openxmlformats.org/drawingml/2006/main" noGrp="1"/>
          </p:cNvSpPr>
          <p:nvPr/>
        </p:nvSpPr>
        <p:spPr>
          <a:xfrm xmlns:a="http://schemas.openxmlformats.org/drawingml/2006/main">
            <a:off x="102965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scikit-learn</a:t>
            </a:r>
          </a:p>
        </p:txBody>
      </p:sp>
      <p:sp>
        <p:nvSpPr>
          <p:cNvPr id="60" name="">
            <a:extLst xmlns:a="http://schemas.openxmlformats.org/drawingml/2006/main">
              <a:ext uri="{FF2B5EF4-FFF2-40B4-BE49-F238E27FC236}">
                <a16:creationId xmlns:a16="http://schemas.microsoft.com/office/drawing/2014/main" id="{8FCDCAC1-430C-419E-B833-0BCDFF45F403}"/>
              </a:ext>
            </a:extLst>
          </p:cNvPr>
          <p:cNvSpPr>
            <a:spLocks xmlns:a="http://schemas.openxmlformats.org/drawingml/2006/main" noGrp="1"/>
          </p:cNvSpPr>
          <p:nvPr/>
        </p:nvSpPr>
        <p:spPr>
          <a:xfrm xmlns:a="http://schemas.openxmlformats.org/drawingml/2006/main">
            <a:off x="523875" y="6076950"/>
            <a:ext cx="114300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168B83"/>
                </a:solidFill>
                <a:latin typeface="Arial"/>
                <a:ea typeface="Arial"/>
                <a:cs typeface="Arial"/>
              </a:defRPr>
            </a:pPr>
            <a:r>
              <a:rPr sz="1125" b="1">
                <a:solidFill>
                  <a:srgbClr val="168B83"/>
                </a:solidFill>
                <a:latin typeface="Arial"/>
                <a:ea typeface="Arial"/>
                <a:cs typeface="Arial"/>
              </a:rPr>
              <a:t>TECH STACK</a:t>
            </a:r>
          </a:p>
        </p:txBody>
      </p:sp>
    </p:spTree>
    <p:extLst>
      <p:ext uri="{BB962C8B-B14F-4D97-AF65-F5344CB8AC3E}">
        <p14:creationId xmlns:p14="http://schemas.microsoft.com/office/powerpoint/2010/main" val="12417794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60610A3-A84C-491D-A276-5FC2E8FCE718}"/>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CD5D4E97-5548-462B-8CCB-F5E3E7C79D12}"/>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FEASIBILITY &amp; VIABILITY</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4d6a260b02784d15"/>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2617721-A9BF-4E06-AED2-36122A168BE5}"/>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E542CA4C-5794-42B2-A7C9-1123DDE2604F}"/>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6" name="">
            <a:extLst xmlns:a="http://schemas.openxmlformats.org/drawingml/2006/main">
              <a:ext uri="{FF2B5EF4-FFF2-40B4-BE49-F238E27FC236}">
                <a16:creationId xmlns:a16="http://schemas.microsoft.com/office/drawing/2014/main" id="{AE1CB333-AF0F-474A-999F-32806D591739}"/>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7" name="">
            <a:extLst xmlns:a="http://schemas.openxmlformats.org/drawingml/2006/main">
              <a:ext uri="{FF2B5EF4-FFF2-40B4-BE49-F238E27FC236}">
                <a16:creationId xmlns:a16="http://schemas.microsoft.com/office/drawing/2014/main" id="{15CEC979-2640-41E9-BFF9-A5BE2D7D7099}"/>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04</a:t>
            </a:r>
          </a:p>
        </p:txBody>
      </p:sp>
      <p:sp>
        <p:nvSpPr>
          <p:cNvPr id="8" name="">
            <a:extLst xmlns:a="http://schemas.openxmlformats.org/drawingml/2006/main">
              <a:ext uri="{FF2B5EF4-FFF2-40B4-BE49-F238E27FC236}">
                <a16:creationId xmlns:a16="http://schemas.microsoft.com/office/drawing/2014/main" id="{6E499441-10AB-40B0-B2F9-434CB75CFE39}"/>
              </a:ext>
            </a:extLst>
          </p:cNvPr>
          <p:cNvSpPr>
            <a:spLocks xmlns:a="http://schemas.openxmlformats.org/drawingml/2006/main" noGrp="1"/>
          </p:cNvSpPr>
          <p:nvPr/>
        </p:nvSpPr>
        <p:spPr>
          <a:xfrm xmlns:a="http://schemas.openxmlformats.org/drawingml/2006/main">
            <a:off x="419100" y="1247775"/>
            <a:ext cx="4953000" cy="3810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68B83"/>
                </a:solidFill>
                <a:latin typeface="Arial"/>
                <a:ea typeface="Arial"/>
                <a:cs typeface="Arial"/>
              </a:defRPr>
            </a:pPr>
            <a:r>
              <a:rPr sz="2100" b="1">
                <a:solidFill>
                  <a:srgbClr val="168B83"/>
                </a:solidFill>
                <a:latin typeface="Arial"/>
                <a:ea typeface="Arial"/>
                <a:cs typeface="Arial"/>
              </a:rPr>
              <a:t>Built and working</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e748dabe989d4f75">
            <a:extLst>
              <a:ext uri="{96DAC541-7B7A-43D3-8B79-37D633B846F1}">
                <asvg:svgBlip xmlns:asvg="http://schemas.microsoft.com/office/drawing/2016/SVG/main" r:embed="R8f5b7345530b48bc"/>
              </a:ext>
            </a:extLst>
          </a:blip>
          <a:stretch xmlns:a="http://schemas.openxmlformats.org/drawingml/2006/main"/>
        </p:blipFill>
        <p:spPr>
          <a:xfrm xmlns:a="http://schemas.openxmlformats.org/drawingml/2006/main">
            <a:off x="457200" y="1838325"/>
            <a:ext cx="342900" cy="3429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E16F5D7-5999-4299-9528-C049825D8BB9}"/>
              </a:ext>
            </a:extLst>
          </p:cNvPr>
          <p:cNvSpPr>
            <a:spLocks xmlns:a="http://schemas.openxmlformats.org/drawingml/2006/main" noGrp="1"/>
          </p:cNvSpPr>
          <p:nvPr/>
        </p:nvSpPr>
        <p:spPr>
          <a:xfrm xmlns:a="http://schemas.openxmlformats.org/drawingml/2006/main">
            <a:off x="981075" y="1800225"/>
            <a:ext cx="40957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Technical</a:t>
            </a:r>
          </a:p>
        </p:txBody>
      </p:sp>
      <p:sp>
        <p:nvSpPr>
          <p:cNvPr id="11" name="">
            <a:extLst xmlns:a="http://schemas.openxmlformats.org/drawingml/2006/main">
              <a:ext uri="{FF2B5EF4-FFF2-40B4-BE49-F238E27FC236}">
                <a16:creationId xmlns:a16="http://schemas.microsoft.com/office/drawing/2014/main" id="{65E36DEC-EA8C-4296-91B9-D079D0577C98}"/>
              </a:ext>
            </a:extLst>
          </p:cNvPr>
          <p:cNvSpPr>
            <a:spLocks xmlns:a="http://schemas.openxmlformats.org/drawingml/2006/main" noGrp="1"/>
          </p:cNvSpPr>
          <p:nvPr/>
        </p:nvSpPr>
        <p:spPr>
          <a:xfrm xmlns:a="http://schemas.openxmlformats.org/drawingml/2006/main">
            <a:off x="981075" y="2143125"/>
            <a:ext cx="4476750" cy="5810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Map, history, detection and review work</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together in a local prototype.</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c973cc97118d40fc">
            <a:extLst>
              <a:ext uri="{96DAC541-7B7A-43D3-8B79-37D633B846F1}">
                <asvg:svgBlip xmlns:asvg="http://schemas.microsoft.com/office/drawing/2016/SVG/main" r:embed="Rff32867711e04505"/>
              </a:ext>
            </a:extLst>
          </a:blip>
          <a:stretch xmlns:a="http://schemas.openxmlformats.org/drawingml/2006/main"/>
        </p:blipFill>
        <p:spPr>
          <a:xfrm xmlns:a="http://schemas.openxmlformats.org/drawingml/2006/main">
            <a:off x="457200" y="2867025"/>
            <a:ext cx="342900" cy="3429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E571C7E-39BD-4218-B592-5D43BC883888}"/>
              </a:ext>
            </a:extLst>
          </p:cNvPr>
          <p:cNvSpPr>
            <a:spLocks xmlns:a="http://schemas.openxmlformats.org/drawingml/2006/main" noGrp="1"/>
          </p:cNvSpPr>
          <p:nvPr/>
        </p:nvSpPr>
        <p:spPr>
          <a:xfrm xmlns:a="http://schemas.openxmlformats.org/drawingml/2006/main">
            <a:off x="981075" y="2828925"/>
            <a:ext cx="40957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Financial</a:t>
            </a:r>
          </a:p>
        </p:txBody>
      </p:sp>
      <p:sp>
        <p:nvSpPr>
          <p:cNvPr id="14" name="">
            <a:extLst xmlns:a="http://schemas.openxmlformats.org/drawingml/2006/main">
              <a:ext uri="{FF2B5EF4-FFF2-40B4-BE49-F238E27FC236}">
                <a16:creationId xmlns:a16="http://schemas.microsoft.com/office/drawing/2014/main" id="{5678D84A-26E8-47D5-8815-CA3BD6F43686}"/>
              </a:ext>
            </a:extLst>
          </p:cNvPr>
          <p:cNvSpPr>
            <a:spLocks xmlns:a="http://schemas.openxmlformats.org/drawingml/2006/main" noGrp="1"/>
          </p:cNvSpPr>
          <p:nvPr/>
        </p:nvSpPr>
        <p:spPr>
          <a:xfrm xmlns:a="http://schemas.openxmlformats.org/drawingml/2006/main">
            <a:off x="981075" y="3171825"/>
            <a:ext cx="4476750" cy="5810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Open-source tools reduce licensing needs.</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Hosting and support costs need a pilot.</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207baa0a583e4898">
            <a:extLst>
              <a:ext uri="{96DAC541-7B7A-43D3-8B79-37D633B846F1}">
                <asvg:svgBlip xmlns:asvg="http://schemas.microsoft.com/office/drawing/2016/SVG/main" r:embed="R1ea4bd584b8d4418"/>
              </a:ext>
            </a:extLst>
          </a:blip>
          <a:stretch xmlns:a="http://schemas.openxmlformats.org/drawingml/2006/main"/>
        </p:blipFill>
        <p:spPr>
          <a:xfrm xmlns:a="http://schemas.openxmlformats.org/drawingml/2006/main">
            <a:off x="457200" y="3895725"/>
            <a:ext cx="342900" cy="34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9448EC1F-35C1-43B2-9447-70A2A69C5794}"/>
              </a:ext>
            </a:extLst>
          </p:cNvPr>
          <p:cNvSpPr>
            <a:spLocks xmlns:a="http://schemas.openxmlformats.org/drawingml/2006/main" noGrp="1"/>
          </p:cNvSpPr>
          <p:nvPr/>
        </p:nvSpPr>
        <p:spPr>
          <a:xfrm xmlns:a="http://schemas.openxmlformats.org/drawingml/2006/main">
            <a:off x="981075" y="3857625"/>
            <a:ext cx="40957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Operational</a:t>
            </a:r>
          </a:p>
        </p:txBody>
      </p:sp>
      <p:sp>
        <p:nvSpPr>
          <p:cNvPr id="17" name="">
            <a:extLst xmlns:a="http://schemas.openxmlformats.org/drawingml/2006/main">
              <a:ext uri="{FF2B5EF4-FFF2-40B4-BE49-F238E27FC236}">
                <a16:creationId xmlns:a16="http://schemas.microsoft.com/office/drawing/2014/main" id="{0BF2912D-7302-4D9A-BA54-8DF64074D693}"/>
              </a:ext>
            </a:extLst>
          </p:cNvPr>
          <p:cNvSpPr>
            <a:spLocks xmlns:a="http://schemas.openxmlformats.org/drawingml/2006/main" noGrp="1"/>
          </p:cNvSpPr>
          <p:nvPr/>
        </p:nvSpPr>
        <p:spPr>
          <a:xfrm xmlns:a="http://schemas.openxmlformats.org/drawingml/2006/main">
            <a:off x="981075" y="4200525"/>
            <a:ext cx="4476750" cy="5810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Uses standard temperature, pressure and</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humidity inputs from weather stations.</a:t>
            </a:r>
          </a:p>
        </p:txBody>
      </p:sp>
      <p:sp>
        <p:nvSpPr>
          <p:cNvPr id="18" name="">
            <a:extLst xmlns:a="http://schemas.openxmlformats.org/drawingml/2006/main">
              <a:ext uri="{FF2B5EF4-FFF2-40B4-BE49-F238E27FC236}">
                <a16:creationId xmlns:a16="http://schemas.microsoft.com/office/drawing/2014/main" id="{49F7A3F4-9A23-4A33-9523-DB6EA43EE9D7}"/>
              </a:ext>
            </a:extLst>
          </p:cNvPr>
          <p:cNvSpPr>
            <a:spLocks xmlns:a="http://schemas.openxmlformats.org/drawingml/2006/main" noGrp="1"/>
          </p:cNvSpPr>
          <p:nvPr/>
        </p:nvSpPr>
        <p:spPr>
          <a:xfrm xmlns:a="http://schemas.openxmlformats.org/drawingml/2006/main">
            <a:off x="419100" y="4991100"/>
            <a:ext cx="51435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Fault recall in the synthetic test (%)</a:t>
            </a:r>
          </a:p>
        </p:txBody>
      </p:sp>
      <p:graphicFrame>
        <p:nvGraphicFramePr>
          <p:cNvPr id="62" name="Chart"/>
          <p:cNvGraphicFramePr/>
          <p:nvPr/>
        </p:nvGraphicFramePr>
        <p:xfrm>
          <a:off xmlns:a="http://schemas.openxmlformats.org/drawingml/2006/main" x="419100" y="5362575"/>
          <a:ext xmlns:a="http://schemas.openxmlformats.org/drawingml/2006/main" cx="4953000" cy="838200"/>
        </p:xfrm>
        <a:graphic xmlns:a="http://schemas.openxmlformats.org/drawingml/2006/main">
          <a:graphicData uri="http://schemas.openxmlformats.org/drawingml/2006/chart">
            <c:chart xmlns:r="http://schemas.openxmlformats.org/officeDocument/2006/relationships" xmlns:c="http://schemas.openxmlformats.org/drawingml/2006/chart" r:id="R5e4f70c54e0b4309"/>
          </a:graphicData>
        </a:graphic>
      </p:graphicFrame>
      <p:sp>
        <p:nvSpPr>
          <p:cNvPr id="20" name="">
            <a:extLst xmlns:a="http://schemas.openxmlformats.org/drawingml/2006/main">
              <a:ext uri="{FF2B5EF4-FFF2-40B4-BE49-F238E27FC236}">
                <a16:creationId xmlns:a16="http://schemas.microsoft.com/office/drawing/2014/main" id="{030FAD6B-EE66-4174-9FE6-BA36EE6F4A2F}"/>
              </a:ext>
            </a:extLst>
          </p:cNvPr>
          <p:cNvSpPr>
            <a:spLocks xmlns:a="http://schemas.openxmlformats.org/drawingml/2006/main" noGrp="1"/>
          </p:cNvSpPr>
          <p:nvPr/>
        </p:nvSpPr>
        <p:spPr>
          <a:xfrm xmlns:a="http://schemas.openxmlformats.org/drawingml/2006/main">
            <a:off x="419100" y="6210300"/>
            <a:ext cx="5334000" cy="2095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67B"/>
                </a:solidFill>
                <a:latin typeface="Arial"/>
                <a:ea typeface="Arial"/>
                <a:cs typeface="Arial"/>
              </a:defRPr>
            </a:pPr>
            <a:r>
              <a:rPr sz="1125" b="0">
                <a:solidFill>
                  <a:srgbClr val="52667B"/>
                </a:solidFill>
                <a:latin typeface="Arial"/>
                <a:ea typeface="Arial"/>
                <a:cs typeface="Arial"/>
              </a:rPr>
              <a:t>4,032 simulated observations / 24 unseen stations / 7 scenarios</a:t>
            </a:r>
          </a:p>
        </p:txBody>
      </p:sp>
      <p:sp>
        <p:nvSpPr>
          <p:cNvPr id="21" name="">
            <a:extLst xmlns:a="http://schemas.openxmlformats.org/drawingml/2006/main">
              <a:ext uri="{FF2B5EF4-FFF2-40B4-BE49-F238E27FC236}">
                <a16:creationId xmlns:a16="http://schemas.microsoft.com/office/drawing/2014/main" id="{329DC1C5-EBE5-4DBF-B0D9-DC75A4EDF37E}"/>
              </a:ext>
            </a:extLst>
          </p:cNvPr>
          <p:cNvSpPr>
            <a:spLocks xmlns:a="http://schemas.openxmlformats.org/drawingml/2006/main" noGrp="1"/>
          </p:cNvSpPr>
          <p:nvPr/>
        </p:nvSpPr>
        <p:spPr>
          <a:xfrm xmlns:a="http://schemas.openxmlformats.org/drawingml/2006/main">
            <a:off x="8105775" y="3133725"/>
            <a:ext cx="1704975" cy="1133475"/>
          </a:xfrm>
          <a:prstGeom xmlns:a="http://schemas.openxmlformats.org/drawingml/2006/main" prst="roundRect">
            <a:avLst>
              <a:gd name="adj" fmla="val 13445"/>
            </a:avLst>
          </a:prstGeom>
          <a:solidFill xmlns:a="http://schemas.openxmlformats.org/drawingml/2006/main">
            <a:srgbClr val="FFF7E6"/>
          </a:solidFill>
          <a:ln xmlns:a="http://schemas.openxmlformats.org/drawingml/2006/main" w="15240">
            <a:solidFill>
              <a:srgbClr val="D69A24"/>
            </a:solidFill>
          </a:ln>
        </p:spPr>
      </p:sp>
      <p:sp>
        <p:nvSpPr>
          <p:cNvPr id="22" name="">
            <a:extLst xmlns:a="http://schemas.openxmlformats.org/drawingml/2006/main">
              <a:ext uri="{FF2B5EF4-FFF2-40B4-BE49-F238E27FC236}">
                <a16:creationId xmlns:a16="http://schemas.microsoft.com/office/drawing/2014/main" id="{870966DB-C4B8-4ED5-90A1-91C3FEF8BDE7}"/>
              </a:ext>
            </a:extLst>
          </p:cNvPr>
          <p:cNvSpPr>
            <a:spLocks xmlns:a="http://schemas.openxmlformats.org/drawingml/2006/main" noGrp="1"/>
          </p:cNvSpPr>
          <p:nvPr/>
        </p:nvSpPr>
        <p:spPr>
          <a:xfrm xmlns:a="http://schemas.openxmlformats.org/drawingml/2006/main">
            <a:off x="8277225" y="3419475"/>
            <a:ext cx="1381125" cy="666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FIELD</a:t>
            </a:r>
          </a:p>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VALIDATION</a:t>
            </a:r>
          </a:p>
        </p:txBody>
      </p:sp>
      <p:sp>
        <p:nvSpPr>
          <p:cNvPr id="23" name="">
            <a:extLst xmlns:a="http://schemas.openxmlformats.org/drawingml/2006/main">
              <a:ext uri="{FF2B5EF4-FFF2-40B4-BE49-F238E27FC236}">
                <a16:creationId xmlns:a16="http://schemas.microsoft.com/office/drawing/2014/main" id="{8373E0C5-E02D-422D-8A4E-04FDCF28952B}"/>
              </a:ext>
            </a:extLst>
          </p:cNvPr>
          <p:cNvSpPr>
            <a:spLocks xmlns:a="http://schemas.openxmlformats.org/drawingml/2006/main" noGrp="1"/>
          </p:cNvSpPr>
          <p:nvPr/>
        </p:nvSpPr>
        <p:spPr>
          <a:xfrm xmlns:a="http://schemas.openxmlformats.org/drawingml/2006/main">
            <a:off x="6124575" y="1590675"/>
            <a:ext cx="1885950" cy="1362075"/>
          </a:xfrm>
          <a:prstGeom xmlns:a="http://schemas.openxmlformats.org/drawingml/2006/main" prst="roundRect">
            <a:avLst>
              <a:gd name="adj" fmla="val 11189"/>
            </a:avLst>
          </a:prstGeom>
          <a:solidFill xmlns:a="http://schemas.openxmlformats.org/drawingml/2006/main">
            <a:srgbClr val="FFFFFF"/>
          </a:solidFill>
          <a:ln xmlns:a="http://schemas.openxmlformats.org/drawingml/2006/main" w="15240">
            <a:solidFill>
              <a:srgbClr val="168B83"/>
            </a:solidFill>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0e7a9a9be6c14c05">
            <a:extLst>
              <a:ext uri="{96DAC541-7B7A-43D3-8B79-37D633B846F1}">
                <asvg:svgBlip xmlns:asvg="http://schemas.microsoft.com/office/drawing/2016/SVG/main" r:embed="R31ed6dd9afda4cd3"/>
              </a:ext>
            </a:extLst>
          </a:blip>
          <a:stretch xmlns:a="http://schemas.openxmlformats.org/drawingml/2006/main"/>
        </p:blipFill>
        <p:spPr>
          <a:xfrm xmlns:a="http://schemas.openxmlformats.org/drawingml/2006/main">
            <a:off x="6267450" y="1733550"/>
            <a:ext cx="247650" cy="24765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7107DA81-E2D2-4AAB-ACD3-57E260E695B6}"/>
              </a:ext>
            </a:extLst>
          </p:cNvPr>
          <p:cNvSpPr>
            <a:spLocks xmlns:a="http://schemas.openxmlformats.org/drawingml/2006/main" noGrp="1"/>
          </p:cNvSpPr>
          <p:nvPr/>
        </p:nvSpPr>
        <p:spPr>
          <a:xfrm xmlns:a="http://schemas.openxmlformats.org/drawingml/2006/main">
            <a:off x="6591300" y="1762125"/>
            <a:ext cx="1333500" cy="4667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7324D"/>
                </a:solidFill>
                <a:latin typeface="Arial"/>
                <a:ea typeface="Arial"/>
                <a:cs typeface="Arial"/>
              </a:defRPr>
            </a:pPr>
            <a:r>
              <a:rPr sz="1425" b="1">
                <a:solidFill>
                  <a:srgbClr val="17324D"/>
                </a:solidFill>
                <a:latin typeface="Arial"/>
                <a:ea typeface="Arial"/>
                <a:cs typeface="Arial"/>
              </a:rPr>
              <a:t>Real observations</a:t>
            </a:r>
          </a:p>
        </p:txBody>
      </p:sp>
      <p:sp>
        <p:nvSpPr>
          <p:cNvPr id="26" name="">
            <a:extLst xmlns:a="http://schemas.openxmlformats.org/drawingml/2006/main">
              <a:ext uri="{FF2B5EF4-FFF2-40B4-BE49-F238E27FC236}">
                <a16:creationId xmlns:a16="http://schemas.microsoft.com/office/drawing/2014/main" id="{1747C325-2ED9-404B-B038-6A2595FFB2BE}"/>
              </a:ext>
            </a:extLst>
          </p:cNvPr>
          <p:cNvSpPr>
            <a:spLocks xmlns:a="http://schemas.openxmlformats.org/drawingml/2006/main" noGrp="1"/>
          </p:cNvSpPr>
          <p:nvPr/>
        </p:nvSpPr>
        <p:spPr>
          <a:xfrm xmlns:a="http://schemas.openxmlformats.org/drawingml/2006/main">
            <a:off x="6267450" y="2324100"/>
            <a:ext cx="1619250" cy="571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Connect an authorised</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AWS feed.</a:t>
            </a:r>
          </a:p>
        </p:txBody>
      </p:sp>
      <p:cxnSp>
        <p:nvCxnSpPr>
          <p:cNvPr id="70" name=""/>
          <p:cNvCxnSpPr>
            <a:stCxn xmlns:a="http://schemas.openxmlformats.org/drawingml/2006/main" id="21" idx="0"/>
            <a:endCxn xmlns:a="http://schemas.openxmlformats.org/drawingml/2006/main" id="23" idx="2"/>
          </p:cNvCxnSpPr>
          <p:nvPr/>
        </p:nvCxnSpPr>
        <p:spPr>
          <a:xfrm xmlns:a="http://schemas.openxmlformats.org/drawingml/2006/main" flipH="1" flipV="1">
            <a:off x="7067550" y="2952750"/>
            <a:ext cx="1890713" cy="180975"/>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8" name="">
            <a:extLst xmlns:a="http://schemas.openxmlformats.org/drawingml/2006/main">
              <a:ext uri="{FF2B5EF4-FFF2-40B4-BE49-F238E27FC236}">
                <a16:creationId xmlns:a16="http://schemas.microsoft.com/office/drawing/2014/main" id="{68A8AB9D-C0AF-41C7-9A4D-A764C615E4EE}"/>
              </a:ext>
            </a:extLst>
          </p:cNvPr>
          <p:cNvSpPr>
            <a:spLocks xmlns:a="http://schemas.openxmlformats.org/drawingml/2006/main" noGrp="1"/>
          </p:cNvSpPr>
          <p:nvPr/>
        </p:nvSpPr>
        <p:spPr>
          <a:xfrm xmlns:a="http://schemas.openxmlformats.org/drawingml/2006/main">
            <a:off x="9886950" y="1590675"/>
            <a:ext cx="1885950" cy="1362075"/>
          </a:xfrm>
          <a:prstGeom xmlns:a="http://schemas.openxmlformats.org/drawingml/2006/main" prst="roundRect">
            <a:avLst>
              <a:gd name="adj" fmla="val 11189"/>
            </a:avLst>
          </a:prstGeom>
          <a:solidFill xmlns:a="http://schemas.openxmlformats.org/drawingml/2006/main">
            <a:srgbClr val="FFFFFF"/>
          </a:solidFill>
          <a:ln xmlns:a="http://schemas.openxmlformats.org/drawingml/2006/main" w="15240">
            <a:solidFill>
              <a:srgbClr val="168B83"/>
            </a:solidFill>
          </a:ln>
        </p:spPr>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5ca2f3f3debd4d0d">
            <a:extLst>
              <a:ext uri="{96DAC541-7B7A-43D3-8B79-37D633B846F1}">
                <asvg:svgBlip xmlns:asvg="http://schemas.microsoft.com/office/drawing/2016/SVG/main" r:embed="Ra02396ffb59140e8"/>
              </a:ext>
            </a:extLst>
          </a:blip>
          <a:stretch xmlns:a="http://schemas.openxmlformats.org/drawingml/2006/main"/>
        </p:blipFill>
        <p:spPr>
          <a:xfrm xmlns:a="http://schemas.openxmlformats.org/drawingml/2006/main">
            <a:off x="10029825" y="1733550"/>
            <a:ext cx="247650" cy="24765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2B04BAC0-DC84-414D-8C2C-380F0FD66BAA}"/>
              </a:ext>
            </a:extLst>
          </p:cNvPr>
          <p:cNvSpPr>
            <a:spLocks xmlns:a="http://schemas.openxmlformats.org/drawingml/2006/main" noGrp="1"/>
          </p:cNvSpPr>
          <p:nvPr/>
        </p:nvSpPr>
        <p:spPr>
          <a:xfrm xmlns:a="http://schemas.openxmlformats.org/drawingml/2006/main">
            <a:off x="10353675" y="1762125"/>
            <a:ext cx="1333500" cy="4667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7324D"/>
                </a:solidFill>
                <a:latin typeface="Arial"/>
                <a:ea typeface="Arial"/>
                <a:cs typeface="Arial"/>
              </a:defRPr>
            </a:pPr>
            <a:r>
              <a:rPr sz="1425" b="1">
                <a:solidFill>
                  <a:srgbClr val="17324D"/>
                </a:solidFill>
                <a:latin typeface="Arial"/>
                <a:ea typeface="Arial"/>
                <a:cs typeface="Arial"/>
              </a:rPr>
              <a:t>Expert labels</a:t>
            </a:r>
          </a:p>
        </p:txBody>
      </p:sp>
      <p:sp>
        <p:nvSpPr>
          <p:cNvPr id="31" name="">
            <a:extLst xmlns:a="http://schemas.openxmlformats.org/drawingml/2006/main">
              <a:ext uri="{FF2B5EF4-FFF2-40B4-BE49-F238E27FC236}">
                <a16:creationId xmlns:a16="http://schemas.microsoft.com/office/drawing/2014/main" id="{63544C35-6056-4EFF-BD3A-3AD5A425EFC6}"/>
              </a:ext>
            </a:extLst>
          </p:cNvPr>
          <p:cNvSpPr>
            <a:spLocks xmlns:a="http://schemas.openxmlformats.org/drawingml/2006/main" noGrp="1"/>
          </p:cNvSpPr>
          <p:nvPr/>
        </p:nvSpPr>
        <p:spPr>
          <a:xfrm xmlns:a="http://schemas.openxmlformats.org/drawingml/2006/main">
            <a:off x="10029825" y="2324100"/>
            <a:ext cx="1619250" cy="571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Label faults and</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weather events.</a:t>
            </a:r>
          </a:p>
        </p:txBody>
      </p:sp>
      <p:cxnSp>
        <p:nvCxnSpPr>
          <p:cNvPr id="75" name=""/>
          <p:cNvCxnSpPr>
            <a:stCxn xmlns:a="http://schemas.openxmlformats.org/drawingml/2006/main" id="21" idx="0"/>
            <a:endCxn xmlns:a="http://schemas.openxmlformats.org/drawingml/2006/main" id="28" idx="2"/>
          </p:cNvCxnSpPr>
          <p:nvPr/>
        </p:nvCxnSpPr>
        <p:spPr>
          <a:xfrm xmlns:a="http://schemas.openxmlformats.org/drawingml/2006/main" flipV="1">
            <a:off x="8958263" y="2952750"/>
            <a:ext cx="1871663" cy="180975"/>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33" name="">
            <a:extLst xmlns:a="http://schemas.openxmlformats.org/drawingml/2006/main">
              <a:ext uri="{FF2B5EF4-FFF2-40B4-BE49-F238E27FC236}">
                <a16:creationId xmlns:a16="http://schemas.microsoft.com/office/drawing/2014/main" id="{8A585418-790E-470A-9098-AA086CC86CCE}"/>
              </a:ext>
            </a:extLst>
          </p:cNvPr>
          <p:cNvSpPr>
            <a:spLocks xmlns:a="http://schemas.openxmlformats.org/drawingml/2006/main" noGrp="1"/>
          </p:cNvSpPr>
          <p:nvPr/>
        </p:nvSpPr>
        <p:spPr>
          <a:xfrm xmlns:a="http://schemas.openxmlformats.org/drawingml/2006/main">
            <a:off x="6124575" y="4648200"/>
            <a:ext cx="1885950" cy="1362075"/>
          </a:xfrm>
          <a:prstGeom xmlns:a="http://schemas.openxmlformats.org/drawingml/2006/main" prst="roundRect">
            <a:avLst>
              <a:gd name="adj" fmla="val 11189"/>
            </a:avLst>
          </a:prstGeom>
          <a:solidFill xmlns:a="http://schemas.openxmlformats.org/drawingml/2006/main">
            <a:srgbClr val="FFFFFF"/>
          </a:solidFill>
          <a:ln xmlns:a="http://schemas.openxmlformats.org/drawingml/2006/main" w="15240">
            <a:solidFill>
              <a:srgbClr val="168B83"/>
            </a:solidFill>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272a40c690024817">
            <a:extLst>
              <a:ext uri="{96DAC541-7B7A-43D3-8B79-37D633B846F1}">
                <asvg:svgBlip xmlns:asvg="http://schemas.microsoft.com/office/drawing/2016/SVG/main" r:embed="R02101b5bd4f045fe"/>
              </a:ext>
            </a:extLst>
          </a:blip>
          <a:stretch xmlns:a="http://schemas.openxmlformats.org/drawingml/2006/main"/>
        </p:blipFill>
        <p:spPr>
          <a:xfrm xmlns:a="http://schemas.openxmlformats.org/drawingml/2006/main">
            <a:off x="6267450" y="4791075"/>
            <a:ext cx="247650" cy="24765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5FEB5FCD-C754-48D7-851B-36F766DFA2C6}"/>
              </a:ext>
            </a:extLst>
          </p:cNvPr>
          <p:cNvSpPr>
            <a:spLocks xmlns:a="http://schemas.openxmlformats.org/drawingml/2006/main" noGrp="1"/>
          </p:cNvSpPr>
          <p:nvPr/>
        </p:nvSpPr>
        <p:spPr>
          <a:xfrm xmlns:a="http://schemas.openxmlformats.org/drawingml/2006/main">
            <a:off x="6591300" y="4819650"/>
            <a:ext cx="1333500" cy="4667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7324D"/>
                </a:solidFill>
                <a:latin typeface="Arial"/>
                <a:ea typeface="Arial"/>
                <a:cs typeface="Arial"/>
              </a:defRPr>
            </a:pPr>
            <a:r>
              <a:rPr sz="1425" b="1">
                <a:solidFill>
                  <a:srgbClr val="17324D"/>
                </a:solidFill>
                <a:latin typeface="Arial"/>
                <a:ea typeface="Arial"/>
                <a:cs typeface="Arial"/>
              </a:rPr>
              <a:t>New conditions</a:t>
            </a:r>
          </a:p>
        </p:txBody>
      </p:sp>
      <p:sp>
        <p:nvSpPr>
          <p:cNvPr id="36" name="">
            <a:extLst xmlns:a="http://schemas.openxmlformats.org/drawingml/2006/main">
              <a:ext uri="{FF2B5EF4-FFF2-40B4-BE49-F238E27FC236}">
                <a16:creationId xmlns:a16="http://schemas.microsoft.com/office/drawing/2014/main" id="{2D39642E-96A2-47DD-A725-93F87BD361A0}"/>
              </a:ext>
            </a:extLst>
          </p:cNvPr>
          <p:cNvSpPr>
            <a:spLocks xmlns:a="http://schemas.openxmlformats.org/drawingml/2006/main" noGrp="1"/>
          </p:cNvSpPr>
          <p:nvPr/>
        </p:nvSpPr>
        <p:spPr>
          <a:xfrm xmlns:a="http://schemas.openxmlformats.org/drawingml/2006/main">
            <a:off x="6267450" y="5381625"/>
            <a:ext cx="1619250" cy="571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Test different stations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and seasons.</a:t>
            </a:r>
          </a:p>
        </p:txBody>
      </p:sp>
      <p:cxnSp>
        <p:nvCxnSpPr>
          <p:cNvPr id="80" name=""/>
          <p:cNvCxnSpPr>
            <a:stCxn xmlns:a="http://schemas.openxmlformats.org/drawingml/2006/main" id="21" idx="2"/>
            <a:endCxn xmlns:a="http://schemas.openxmlformats.org/drawingml/2006/main" id="33" idx="0"/>
          </p:cNvCxnSpPr>
          <p:nvPr/>
        </p:nvCxnSpPr>
        <p:spPr>
          <a:xfrm xmlns:a="http://schemas.openxmlformats.org/drawingml/2006/main" flipH="1">
            <a:off x="7067550" y="4267200"/>
            <a:ext cx="1890713" cy="38100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38" name="">
            <a:extLst xmlns:a="http://schemas.openxmlformats.org/drawingml/2006/main">
              <a:ext uri="{FF2B5EF4-FFF2-40B4-BE49-F238E27FC236}">
                <a16:creationId xmlns:a16="http://schemas.microsoft.com/office/drawing/2014/main" id="{57FC294A-3BC3-4DDF-90F7-AA319D7FBAEE}"/>
              </a:ext>
            </a:extLst>
          </p:cNvPr>
          <p:cNvSpPr>
            <a:spLocks xmlns:a="http://schemas.openxmlformats.org/drawingml/2006/main" noGrp="1"/>
          </p:cNvSpPr>
          <p:nvPr/>
        </p:nvSpPr>
        <p:spPr>
          <a:xfrm xmlns:a="http://schemas.openxmlformats.org/drawingml/2006/main">
            <a:off x="9886950" y="4648200"/>
            <a:ext cx="1885950" cy="1362075"/>
          </a:xfrm>
          <a:prstGeom xmlns:a="http://schemas.openxmlformats.org/drawingml/2006/main" prst="roundRect">
            <a:avLst>
              <a:gd name="adj" fmla="val 11189"/>
            </a:avLst>
          </a:prstGeom>
          <a:solidFill xmlns:a="http://schemas.openxmlformats.org/drawingml/2006/main">
            <a:srgbClr val="FFFFFF"/>
          </a:solidFill>
          <a:ln xmlns:a="http://schemas.openxmlformats.org/drawingml/2006/main" w="15240">
            <a:solidFill>
              <a:srgbClr val="168B83"/>
            </a:solidFill>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0c8463b746254efa">
            <a:extLst>
              <a:ext uri="{96DAC541-7B7A-43D3-8B79-37D633B846F1}">
                <asvg:svgBlip xmlns:asvg="http://schemas.microsoft.com/office/drawing/2016/SVG/main" r:embed="R60338ef8974a427a"/>
              </a:ext>
            </a:extLst>
          </a:blip>
          <a:stretch xmlns:a="http://schemas.openxmlformats.org/drawingml/2006/main"/>
        </p:blipFill>
        <p:spPr>
          <a:xfrm xmlns:a="http://schemas.openxmlformats.org/drawingml/2006/main">
            <a:off x="10029825" y="4791075"/>
            <a:ext cx="247650" cy="24765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4B1ABB9E-9CDE-4E4D-B127-CAF61C9DBDE0}"/>
              </a:ext>
            </a:extLst>
          </p:cNvPr>
          <p:cNvSpPr>
            <a:spLocks xmlns:a="http://schemas.openxmlformats.org/drawingml/2006/main" noGrp="1"/>
          </p:cNvSpPr>
          <p:nvPr/>
        </p:nvSpPr>
        <p:spPr>
          <a:xfrm xmlns:a="http://schemas.openxmlformats.org/drawingml/2006/main">
            <a:off x="10353675" y="4819650"/>
            <a:ext cx="1333500" cy="4667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7324D"/>
                </a:solidFill>
                <a:latin typeface="Arial"/>
                <a:ea typeface="Arial"/>
                <a:cs typeface="Arial"/>
              </a:defRPr>
            </a:pPr>
            <a:r>
              <a:rPr sz="1425" b="1">
                <a:solidFill>
                  <a:srgbClr val="17324D"/>
                </a:solidFill>
                <a:latin typeface="Arial"/>
                <a:ea typeface="Arial"/>
                <a:cs typeface="Arial"/>
              </a:rPr>
              <a:t>Measure value</a:t>
            </a:r>
          </a:p>
        </p:txBody>
      </p:sp>
      <p:sp>
        <p:nvSpPr>
          <p:cNvPr id="41" name="">
            <a:extLst xmlns:a="http://schemas.openxmlformats.org/drawingml/2006/main">
              <a:ext uri="{FF2B5EF4-FFF2-40B4-BE49-F238E27FC236}">
                <a16:creationId xmlns:a16="http://schemas.microsoft.com/office/drawing/2014/main" id="{DB40426E-1114-49C3-B39F-53C8081E18F4}"/>
              </a:ext>
            </a:extLst>
          </p:cNvPr>
          <p:cNvSpPr>
            <a:spLocks xmlns:a="http://schemas.openxmlformats.org/drawingml/2006/main" noGrp="1"/>
          </p:cNvSpPr>
          <p:nvPr/>
        </p:nvSpPr>
        <p:spPr>
          <a:xfrm xmlns:a="http://schemas.openxmlformats.org/drawingml/2006/main">
            <a:off x="10029825" y="5381625"/>
            <a:ext cx="1619250" cy="571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Measure false alerts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and review time.</a:t>
            </a:r>
          </a:p>
        </p:txBody>
      </p:sp>
      <p:cxnSp>
        <p:nvCxnSpPr>
          <p:cNvPr id="85" name=""/>
          <p:cNvCxnSpPr>
            <a:stCxn xmlns:a="http://schemas.openxmlformats.org/drawingml/2006/main" id="21" idx="2"/>
            <a:endCxn xmlns:a="http://schemas.openxmlformats.org/drawingml/2006/main" id="38" idx="0"/>
          </p:cNvCxnSpPr>
          <p:nvPr/>
        </p:nvCxnSpPr>
        <p:spPr>
          <a:xfrm xmlns:a="http://schemas.openxmlformats.org/drawingml/2006/main">
            <a:off x="8958263" y="4267200"/>
            <a:ext cx="1871663" cy="38100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43" name="">
            <a:extLst xmlns:a="http://schemas.openxmlformats.org/drawingml/2006/main">
              <a:ext uri="{FF2B5EF4-FFF2-40B4-BE49-F238E27FC236}">
                <a16:creationId xmlns:a16="http://schemas.microsoft.com/office/drawing/2014/main" id="{9469086B-CB78-4A9A-97BA-858314851CAB}"/>
              </a:ext>
            </a:extLst>
          </p:cNvPr>
          <p:cNvSpPr>
            <a:spLocks xmlns:a="http://schemas.openxmlformats.org/drawingml/2006/main" noGrp="1"/>
          </p:cNvSpPr>
          <p:nvPr/>
        </p:nvSpPr>
        <p:spPr>
          <a:xfrm xmlns:a="http://schemas.openxmlformats.org/drawingml/2006/main">
            <a:off x="6124575" y="6181725"/>
            <a:ext cx="56197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2667B"/>
                </a:solidFill>
                <a:latin typeface="Arial"/>
                <a:ea typeface="Arial"/>
                <a:cs typeface="Arial"/>
              </a:defRPr>
            </a:pPr>
            <a:r>
              <a:rPr sz="1200" b="0">
                <a:solidFill>
                  <a:srgbClr val="52667B"/>
                </a:solidFill>
                <a:latin typeface="Arial"/>
                <a:ea typeface="Arial"/>
                <a:cs typeface="Arial"/>
              </a:rPr>
              <a:t>Known limit: weather recall 9.72%. Field accuracy is unproven.</a:t>
            </a:r>
          </a:p>
        </p:txBody>
      </p:sp>
    </p:spTree>
    <p:extLst>
      <p:ext uri="{BB962C8B-B14F-4D97-AF65-F5344CB8AC3E}">
        <p14:creationId xmlns:p14="http://schemas.microsoft.com/office/powerpoint/2010/main" val="14108786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6F56EB6-AD45-4D6B-9B22-489714F3DFB5}"/>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AC4ACCE0-B5EF-4FF6-AFBE-64620E5EBE1C}"/>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IMPACT &amp; BENEFITS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0ff89c552b3c48d3"/>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1039A0C-FC8A-4666-81BD-0A58D33BB54D}"/>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CAE23622-E883-44F1-8159-8C3D96BAF2D6}"/>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A station report turns scattered readings into evidence an operator can review.</a:t>
            </a:r>
          </a:p>
        </p:txBody>
      </p:sp>
      <p:sp>
        <p:nvSpPr>
          <p:cNvPr id="6" name="">
            <a:extLst xmlns:a="http://schemas.openxmlformats.org/drawingml/2006/main">
              <a:ext uri="{FF2B5EF4-FFF2-40B4-BE49-F238E27FC236}">
                <a16:creationId xmlns:a16="http://schemas.microsoft.com/office/drawing/2014/main" id="{AB61C711-C1A8-4939-8CFA-B79B0BD7A060}"/>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122CC8D0-648B-4E52-BA88-E885CE9ABDEE}"/>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6A802E96-068E-4D7D-B1DC-A36E6A25C8C6}"/>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05</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e21c2808f0b3420b"/>
          <a:stretch xmlns:a="http://schemas.openxmlformats.org/drawingml/2006/main"/>
        </p:blipFill>
        <p:spPr>
          <a:xfrm xmlns:a="http://schemas.openxmlformats.org/drawingml/2006/main">
            <a:off x="925889" y="1695450"/>
            <a:ext cx="4710948" cy="42672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EB6E67D-3B03-4B9A-BB73-4B94BAFE0CE3}"/>
              </a:ext>
            </a:extLst>
          </p:cNvPr>
          <p:cNvSpPr>
            <a:spLocks xmlns:a="http://schemas.openxmlformats.org/drawingml/2006/main" noGrp="1"/>
          </p:cNvSpPr>
          <p:nvPr/>
        </p:nvSpPr>
        <p:spPr>
          <a:xfrm xmlns:a="http://schemas.openxmlformats.org/drawingml/2006/main">
            <a:off x="619125" y="6124575"/>
            <a:ext cx="53911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68B83"/>
                </a:solidFill>
                <a:latin typeface="Arial"/>
                <a:ea typeface="Arial"/>
                <a:cs typeface="Arial"/>
              </a:defRPr>
            </a:pPr>
            <a:r>
              <a:rPr sz="1200" b="1">
                <a:solidFill>
                  <a:srgbClr val="168B83"/>
                </a:solidFill>
                <a:latin typeface="Arial"/>
                <a:ea typeface="Arial"/>
                <a:cs typeface="Arial"/>
              </a:rPr>
              <a:t>ACTUAL PROTOTYPE / SIMULATED STATIONS</a:t>
            </a:r>
          </a:p>
        </p:txBody>
      </p:sp>
      <p:sp>
        <p:nvSpPr>
          <p:cNvPr id="11" name="">
            <a:extLst xmlns:a="http://schemas.openxmlformats.org/drawingml/2006/main">
              <a:ext uri="{FF2B5EF4-FFF2-40B4-BE49-F238E27FC236}">
                <a16:creationId xmlns:a16="http://schemas.microsoft.com/office/drawing/2014/main" id="{19802EB6-81E9-4D7D-A0ED-2CC86F8ADBE5}"/>
              </a:ext>
            </a:extLst>
          </p:cNvPr>
          <p:cNvSpPr>
            <a:spLocks xmlns:a="http://schemas.openxmlformats.org/drawingml/2006/main" noGrp="1"/>
          </p:cNvSpPr>
          <p:nvPr/>
        </p:nvSpPr>
        <p:spPr>
          <a:xfrm xmlns:a="http://schemas.openxmlformats.org/drawingml/2006/main">
            <a:off x="6838950" y="1762125"/>
            <a:ext cx="4933950" cy="1133475"/>
          </a:xfrm>
          <a:prstGeom xmlns:a="http://schemas.openxmlformats.org/drawingml/2006/main" prst="roundRect">
            <a:avLst>
              <a:gd name="adj" fmla="val 13445"/>
            </a:avLst>
          </a:prstGeom>
          <a:noFill xmlns:a="http://schemas.openxmlformats.org/drawingml/2006/main"/>
          <a:ln xmlns:a="http://schemas.openxmlformats.org/drawingml/2006/main" w="15240">
            <a:solidFill>
              <a:srgbClr val="CDDBE8"/>
            </a:soli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a8edb0814ed141c9">
            <a:extLst>
              <a:ext uri="{96DAC541-7B7A-43D3-8B79-37D633B846F1}">
                <asvg:svgBlip xmlns:asvg="http://schemas.microsoft.com/office/drawing/2016/SVG/main" r:embed="R0fbed543e370453d"/>
              </a:ext>
            </a:extLst>
          </a:blip>
          <a:stretch xmlns:a="http://schemas.openxmlformats.org/drawingml/2006/main"/>
        </p:blipFill>
        <p:spPr>
          <a:xfrm xmlns:a="http://schemas.openxmlformats.org/drawingml/2006/main">
            <a:off x="7000875" y="1943100"/>
            <a:ext cx="342900" cy="3429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B1598194-66B4-4BC0-95FE-B032313CBC10}"/>
              </a:ext>
            </a:extLst>
          </p:cNvPr>
          <p:cNvSpPr>
            <a:spLocks xmlns:a="http://schemas.openxmlformats.org/drawingml/2006/main" noGrp="1"/>
          </p:cNvSpPr>
          <p:nvPr/>
        </p:nvSpPr>
        <p:spPr>
          <a:xfrm xmlns:a="http://schemas.openxmlformats.org/drawingml/2006/main">
            <a:off x="7524750" y="1933575"/>
            <a:ext cx="4000500" cy="2952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Locate the station</a:t>
            </a:r>
          </a:p>
        </p:txBody>
      </p:sp>
      <p:sp>
        <p:nvSpPr>
          <p:cNvPr id="14" name="">
            <a:extLst xmlns:a="http://schemas.openxmlformats.org/drawingml/2006/main">
              <a:ext uri="{FF2B5EF4-FFF2-40B4-BE49-F238E27FC236}">
                <a16:creationId xmlns:a16="http://schemas.microsoft.com/office/drawing/2014/main" id="{211709E8-AC5E-40D7-8923-084B7F7E99CE}"/>
              </a:ext>
            </a:extLst>
          </p:cNvPr>
          <p:cNvSpPr>
            <a:spLocks xmlns:a="http://schemas.openxmlformats.org/drawingml/2006/main" noGrp="1"/>
          </p:cNvSpPr>
          <p:nvPr/>
        </p:nvSpPr>
        <p:spPr>
          <a:xfrm xmlns:a="http://schemas.openxmlformats.org/drawingml/2006/main">
            <a:off x="7524750" y="2352675"/>
            <a:ext cx="4048125" cy="5524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Map status dots identify stations</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that need attention.</a:t>
            </a:r>
          </a:p>
        </p:txBody>
      </p:sp>
      <p:sp>
        <p:nvSpPr>
          <p:cNvPr id="15" name="">
            <a:extLst xmlns:a="http://schemas.openxmlformats.org/drawingml/2006/main">
              <a:ext uri="{FF2B5EF4-FFF2-40B4-BE49-F238E27FC236}">
                <a16:creationId xmlns:a16="http://schemas.microsoft.com/office/drawing/2014/main" id="{23BFEE9D-B7F7-4984-AEA1-387E026FED8D}"/>
              </a:ext>
            </a:extLst>
          </p:cNvPr>
          <p:cNvSpPr>
            <a:spLocks xmlns:a="http://schemas.openxmlformats.org/drawingml/2006/main" noGrp="1"/>
          </p:cNvSpPr>
          <p:nvPr/>
        </p:nvSpPr>
        <p:spPr>
          <a:xfrm xmlns:a="http://schemas.openxmlformats.org/drawingml/2006/main">
            <a:off x="6838950" y="3124200"/>
            <a:ext cx="4933950" cy="1133475"/>
          </a:xfrm>
          <a:prstGeom xmlns:a="http://schemas.openxmlformats.org/drawingml/2006/main" prst="roundRect">
            <a:avLst>
              <a:gd name="adj" fmla="val 13445"/>
            </a:avLst>
          </a:prstGeom>
          <a:noFill xmlns:a="http://schemas.openxmlformats.org/drawingml/2006/main"/>
          <a:ln xmlns:a="http://schemas.openxmlformats.org/drawingml/2006/main" w="15240">
            <a:solidFill>
              <a:srgbClr val="CDDBE8"/>
            </a:solidFill>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ed2922c1f48a46dd">
            <a:extLst>
              <a:ext uri="{96DAC541-7B7A-43D3-8B79-37D633B846F1}">
                <asvg:svgBlip xmlns:asvg="http://schemas.microsoft.com/office/drawing/2016/SVG/main" r:embed="Rad385b5f4b9b410c"/>
              </a:ext>
            </a:extLst>
          </a:blip>
          <a:stretch xmlns:a="http://schemas.openxmlformats.org/drawingml/2006/main"/>
        </p:blipFill>
        <p:spPr>
          <a:xfrm xmlns:a="http://schemas.openxmlformats.org/drawingml/2006/main">
            <a:off x="7000875" y="3305175"/>
            <a:ext cx="342900" cy="3429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6E77BB7A-938A-45CB-834C-C40688537056}"/>
              </a:ext>
            </a:extLst>
          </p:cNvPr>
          <p:cNvSpPr>
            <a:spLocks xmlns:a="http://schemas.openxmlformats.org/drawingml/2006/main" noGrp="1"/>
          </p:cNvSpPr>
          <p:nvPr/>
        </p:nvSpPr>
        <p:spPr>
          <a:xfrm xmlns:a="http://schemas.openxmlformats.org/drawingml/2006/main">
            <a:off x="7524750" y="3295650"/>
            <a:ext cx="4000500" cy="2952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Understand the alert</a:t>
            </a:r>
          </a:p>
        </p:txBody>
      </p:sp>
      <p:sp>
        <p:nvSpPr>
          <p:cNvPr id="18" name="">
            <a:extLst xmlns:a="http://schemas.openxmlformats.org/drawingml/2006/main">
              <a:ext uri="{FF2B5EF4-FFF2-40B4-BE49-F238E27FC236}">
                <a16:creationId xmlns:a16="http://schemas.microsoft.com/office/drawing/2014/main" id="{0FB555D4-7FDF-4CAC-9EB4-DBD10455E969}"/>
              </a:ext>
            </a:extLst>
          </p:cNvPr>
          <p:cNvSpPr>
            <a:spLocks xmlns:a="http://schemas.openxmlformats.org/drawingml/2006/main" noGrp="1"/>
          </p:cNvSpPr>
          <p:nvPr/>
        </p:nvSpPr>
        <p:spPr>
          <a:xfrm xmlns:a="http://schemas.openxmlformats.org/drawingml/2006/main">
            <a:off x="7524750" y="3714750"/>
            <a:ext cx="4048125" cy="5524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History and nearby observations</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help explain the likely cause.</a:t>
            </a:r>
          </a:p>
        </p:txBody>
      </p:sp>
      <p:cxnSp>
        <p:nvCxnSpPr>
          <p:cNvPr id="45" name=""/>
          <p:cNvCxnSpPr>
            <a:stCxn xmlns:a="http://schemas.openxmlformats.org/drawingml/2006/main" id="11" idx="2"/>
            <a:endCxn xmlns:a="http://schemas.openxmlformats.org/drawingml/2006/main" id="15" idx="0"/>
          </p:cNvCxnSpPr>
          <p:nvPr/>
        </p:nvCxnSpPr>
        <p:spPr>
          <a:xfrm xmlns:a="http://schemas.openxmlformats.org/drawingml/2006/main">
            <a:off x="9305925" y="2895600"/>
            <a:ext cx="0" cy="22860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0" name="">
            <a:extLst xmlns:a="http://schemas.openxmlformats.org/drawingml/2006/main">
              <a:ext uri="{FF2B5EF4-FFF2-40B4-BE49-F238E27FC236}">
                <a16:creationId xmlns:a16="http://schemas.microsoft.com/office/drawing/2014/main" id="{3063FDF7-FD9F-4065-876D-C3B9EBDC83E3}"/>
              </a:ext>
            </a:extLst>
          </p:cNvPr>
          <p:cNvSpPr>
            <a:spLocks xmlns:a="http://schemas.openxmlformats.org/drawingml/2006/main" noGrp="1"/>
          </p:cNvSpPr>
          <p:nvPr/>
        </p:nvSpPr>
        <p:spPr>
          <a:xfrm xmlns:a="http://schemas.openxmlformats.org/drawingml/2006/main">
            <a:off x="6838950" y="4486275"/>
            <a:ext cx="4933950" cy="1133475"/>
          </a:xfrm>
          <a:prstGeom xmlns:a="http://schemas.openxmlformats.org/drawingml/2006/main" prst="roundRect">
            <a:avLst>
              <a:gd name="adj" fmla="val 13445"/>
            </a:avLst>
          </a:prstGeom>
          <a:noFill xmlns:a="http://schemas.openxmlformats.org/drawingml/2006/main"/>
          <a:ln xmlns:a="http://schemas.openxmlformats.org/drawingml/2006/main" w="15240">
            <a:solidFill>
              <a:srgbClr val="CDDBE8"/>
            </a:solid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c1063ffea59e4cea">
            <a:extLst>
              <a:ext uri="{96DAC541-7B7A-43D3-8B79-37D633B846F1}">
                <asvg:svgBlip xmlns:asvg="http://schemas.microsoft.com/office/drawing/2016/SVG/main" r:embed="Racf3634403e6454c"/>
              </a:ext>
            </a:extLst>
          </a:blip>
          <a:stretch xmlns:a="http://schemas.openxmlformats.org/drawingml/2006/main"/>
        </p:blipFill>
        <p:spPr>
          <a:xfrm xmlns:a="http://schemas.openxmlformats.org/drawingml/2006/main">
            <a:off x="7000875" y="4667250"/>
            <a:ext cx="342900" cy="3429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5722A3D7-1FFC-456B-AD3A-8111419EC2EF}"/>
              </a:ext>
            </a:extLst>
          </p:cNvPr>
          <p:cNvSpPr>
            <a:spLocks xmlns:a="http://schemas.openxmlformats.org/drawingml/2006/main" noGrp="1"/>
          </p:cNvSpPr>
          <p:nvPr/>
        </p:nvSpPr>
        <p:spPr>
          <a:xfrm xmlns:a="http://schemas.openxmlformats.org/drawingml/2006/main">
            <a:off x="7524750" y="4657725"/>
            <a:ext cx="4000500" cy="2952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Record the decision</a:t>
            </a:r>
          </a:p>
        </p:txBody>
      </p:sp>
      <p:sp>
        <p:nvSpPr>
          <p:cNvPr id="23" name="">
            <a:extLst xmlns:a="http://schemas.openxmlformats.org/drawingml/2006/main">
              <a:ext uri="{FF2B5EF4-FFF2-40B4-BE49-F238E27FC236}">
                <a16:creationId xmlns:a16="http://schemas.microsoft.com/office/drawing/2014/main" id="{0160EC8B-BC58-4007-987D-A34E8EC626AA}"/>
              </a:ext>
            </a:extLst>
          </p:cNvPr>
          <p:cNvSpPr>
            <a:spLocks xmlns:a="http://schemas.openxmlformats.org/drawingml/2006/main" noGrp="1"/>
          </p:cNvSpPr>
          <p:nvPr/>
        </p:nvSpPr>
        <p:spPr>
          <a:xfrm xmlns:a="http://schemas.openxmlformats.org/drawingml/2006/main">
            <a:off x="7524750" y="5076825"/>
            <a:ext cx="4048125" cy="5524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Reviews and proposed fixes retain</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a traceable record.</a:t>
            </a:r>
          </a:p>
        </p:txBody>
      </p:sp>
      <p:cxnSp>
        <p:nvCxnSpPr>
          <p:cNvPr id="50" name=""/>
          <p:cNvCxnSpPr>
            <a:stCxn xmlns:a="http://schemas.openxmlformats.org/drawingml/2006/main" id="15" idx="2"/>
            <a:endCxn xmlns:a="http://schemas.openxmlformats.org/drawingml/2006/main" id="20" idx="0"/>
          </p:cNvCxnSpPr>
          <p:nvPr/>
        </p:nvCxnSpPr>
        <p:spPr>
          <a:xfrm xmlns:a="http://schemas.openxmlformats.org/drawingml/2006/main">
            <a:off x="9305925" y="4257675"/>
            <a:ext cx="0" cy="22860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5" name="">
            <a:extLst xmlns:a="http://schemas.openxmlformats.org/drawingml/2006/main">
              <a:ext uri="{FF2B5EF4-FFF2-40B4-BE49-F238E27FC236}">
                <a16:creationId xmlns:a16="http://schemas.microsoft.com/office/drawing/2014/main" id="{90732198-D1C5-4EDD-97A7-D089675C0677}"/>
              </a:ext>
            </a:extLst>
          </p:cNvPr>
          <p:cNvSpPr>
            <a:spLocks xmlns:a="http://schemas.openxmlformats.org/drawingml/2006/main" noGrp="1"/>
          </p:cNvSpPr>
          <p:nvPr/>
        </p:nvSpPr>
        <p:spPr>
          <a:xfrm xmlns:a="http://schemas.openxmlformats.org/drawingml/2006/main">
            <a:off x="6838950" y="6019800"/>
            <a:ext cx="2238375"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68B83"/>
                </a:solidFill>
                <a:latin typeface="Arial"/>
                <a:ea typeface="Arial"/>
                <a:cs typeface="Arial"/>
              </a:defRPr>
            </a:pPr>
            <a:r>
              <a:rPr sz="1425" b="1">
                <a:solidFill>
                  <a:srgbClr val="168B83"/>
                </a:solidFill>
                <a:latin typeface="Arial"/>
                <a:ea typeface="Arial"/>
                <a:cs typeface="Arial"/>
              </a:rPr>
              <a:t>Expected benefit</a:t>
            </a:r>
          </a:p>
        </p:txBody>
      </p:sp>
      <p:sp>
        <p:nvSpPr>
          <p:cNvPr id="26" name="">
            <a:extLst xmlns:a="http://schemas.openxmlformats.org/drawingml/2006/main">
              <a:ext uri="{FF2B5EF4-FFF2-40B4-BE49-F238E27FC236}">
                <a16:creationId xmlns:a16="http://schemas.microsoft.com/office/drawing/2014/main" id="{EC10600D-1819-48CC-B4A9-F7E4F4CB1D90}"/>
              </a:ext>
            </a:extLst>
          </p:cNvPr>
          <p:cNvSpPr>
            <a:spLocks xmlns:a="http://schemas.openxmlformats.org/drawingml/2006/main" noGrp="1"/>
          </p:cNvSpPr>
          <p:nvPr/>
        </p:nvSpPr>
        <p:spPr>
          <a:xfrm xmlns:a="http://schemas.openxmlformats.org/drawingml/2006/main">
            <a:off x="6838950" y="6238875"/>
            <a:ext cx="4953000" cy="2190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Less searching and more focused investigations.</a:t>
            </a:r>
          </a:p>
        </p:txBody>
      </p:sp>
    </p:spTree>
    <p:extLst>
      <p:ext uri="{BB962C8B-B14F-4D97-AF65-F5344CB8AC3E}">
        <p14:creationId xmlns:p14="http://schemas.microsoft.com/office/powerpoint/2010/main" val="459717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A4F3A340-D224-4B17-819E-5491F8065059}"/>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57275706-2DD7-4499-ADF8-37EECCD61B8A}"/>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RESEARCH &amp; REFERENCES</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f9f4bde8518c4d19"/>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EC38C59-794E-442C-8A9E-9798067BA1ED}"/>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5FD74590-03AB-4947-A1C6-4E7D97FB426D}"/>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Each source informed a specific part of the project.</a:t>
            </a:r>
          </a:p>
        </p:txBody>
      </p:sp>
      <p:sp>
        <p:nvSpPr>
          <p:cNvPr id="6" name="">
            <a:extLst xmlns:a="http://schemas.openxmlformats.org/drawingml/2006/main">
              <a:ext uri="{FF2B5EF4-FFF2-40B4-BE49-F238E27FC236}">
                <a16:creationId xmlns:a16="http://schemas.microsoft.com/office/drawing/2014/main" id="{FA634C34-946B-497A-893B-9886DE1DBA33}"/>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836B3BA6-F307-4A2C-AA16-31A0CA07A079}"/>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1DC81A24-C6AB-49DB-859D-6BC37E53D21D}"/>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06</a:t>
            </a:r>
          </a:p>
        </p:txBody>
      </p:sp>
      <p:sp>
        <p:nvSpPr>
          <p:cNvPr id="9" name="">
            <a:extLst xmlns:a="http://schemas.openxmlformats.org/drawingml/2006/main">
              <a:ext uri="{FF2B5EF4-FFF2-40B4-BE49-F238E27FC236}">
                <a16:creationId xmlns:a16="http://schemas.microsoft.com/office/drawing/2014/main" id="{8123F1AD-B512-40E0-ADDD-BBD20F367836}"/>
              </a:ext>
            </a:extLst>
          </p:cNvPr>
          <p:cNvSpPr>
            <a:spLocks xmlns:a="http://schemas.openxmlformats.org/drawingml/2006/main" noGrp="1"/>
          </p:cNvSpPr>
          <p:nvPr/>
        </p:nvSpPr>
        <p:spPr>
          <a:xfrm xmlns:a="http://schemas.openxmlformats.org/drawingml/2006/main">
            <a:off x="933450" y="1638300"/>
            <a:ext cx="41910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SOURCE</a:t>
            </a:r>
          </a:p>
        </p:txBody>
      </p:sp>
      <p:sp>
        <p:nvSpPr>
          <p:cNvPr id="10" name="">
            <a:extLst xmlns:a="http://schemas.openxmlformats.org/drawingml/2006/main">
              <a:ext uri="{FF2B5EF4-FFF2-40B4-BE49-F238E27FC236}">
                <a16:creationId xmlns:a16="http://schemas.microsoft.com/office/drawing/2014/main" id="{455A9782-F9C2-4F43-9584-347AF2B6FEC8}"/>
              </a:ext>
            </a:extLst>
          </p:cNvPr>
          <p:cNvSpPr>
            <a:spLocks xmlns:a="http://schemas.openxmlformats.org/drawingml/2006/main" noGrp="1"/>
          </p:cNvSpPr>
          <p:nvPr/>
        </p:nvSpPr>
        <p:spPr>
          <a:xfrm xmlns:a="http://schemas.openxmlformats.org/drawingml/2006/main">
            <a:off x="6257925" y="1638300"/>
            <a:ext cx="53340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68B83"/>
                </a:solidFill>
                <a:latin typeface="Arial"/>
                <a:ea typeface="Arial"/>
                <a:cs typeface="Arial"/>
              </a:defRPr>
            </a:pPr>
            <a:r>
              <a:rPr sz="1350" b="1">
                <a:solidFill>
                  <a:srgbClr val="168B83"/>
                </a:solidFill>
                <a:latin typeface="Arial"/>
                <a:ea typeface="Arial"/>
                <a:cs typeface="Arial"/>
              </a:rPr>
              <a:t>HOW IT INFORMED SKYGUARD</a:t>
            </a:r>
          </a:p>
        </p:txBody>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f761580a43b24027">
            <a:extLst>
              <a:ext uri="{96DAC541-7B7A-43D3-8B79-37D633B846F1}">
                <asvg:svgBlip xmlns:asvg="http://schemas.microsoft.com/office/drawing/2016/SVG/main" r:embed="R82ab7e139b484a91"/>
              </a:ext>
            </a:extLst>
          </a:blip>
          <a:stretch xmlns:a="http://schemas.openxmlformats.org/drawingml/2006/main"/>
        </p:blipFill>
        <p:spPr>
          <a:xfrm xmlns:a="http://schemas.openxmlformats.org/drawingml/2006/main">
            <a:off x="466725" y="2095500"/>
            <a:ext cx="295275" cy="2952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510C229-ED4B-4CD9-9F54-1CB08071DEA3}"/>
              </a:ext>
            </a:extLst>
          </p:cNvPr>
          <p:cNvSpPr>
            <a:spLocks xmlns:a="http://schemas.openxmlformats.org/drawingml/2006/main" noGrp="1"/>
          </p:cNvSpPr>
          <p:nvPr/>
        </p:nvSpPr>
        <p:spPr>
          <a:xfrm xmlns:a="http://schemas.openxmlformats.org/drawingml/2006/main">
            <a:off x="942975" y="2047875"/>
            <a:ext cx="4552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SIH26073 problem statement</a:t>
            </a:r>
          </a:p>
        </p:txBody>
      </p:sp>
      <p:sp>
        <p:nvSpPr>
          <p:cNvPr id="13" name="">
            <a:extLst xmlns:a="http://schemas.openxmlformats.org/drawingml/2006/main">
              <a:ext uri="{FF2B5EF4-FFF2-40B4-BE49-F238E27FC236}">
                <a16:creationId xmlns:a16="http://schemas.microsoft.com/office/drawing/2014/main" id="{3525DF9C-D932-47D6-ACE8-16573611126F}"/>
              </a:ext>
            </a:extLst>
          </p:cNvPr>
          <p:cNvSpPr>
            <a:spLocks xmlns:a="http://schemas.openxmlformats.org/drawingml/2006/main" noGrp="1"/>
          </p:cNvSpPr>
          <p:nvPr/>
        </p:nvSpPr>
        <p:spPr>
          <a:xfrm xmlns:a="http://schemas.openxmlformats.org/drawingml/2006/main">
            <a:off x="942975" y="2333625"/>
            <a:ext cx="4552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AWS anomaly-detection need and scope</a:t>
            </a:r>
          </a:p>
        </p:txBody>
      </p:sp>
      <p:sp>
        <p:nvSpPr>
          <p:cNvPr id="14" name="">
            <a:extLst xmlns:a="http://schemas.openxmlformats.org/drawingml/2006/main">
              <a:ext uri="{FF2B5EF4-FFF2-40B4-BE49-F238E27FC236}">
                <a16:creationId xmlns:a16="http://schemas.microsoft.com/office/drawing/2014/main" id="{8F07846B-BB0E-4E71-8ADA-520AFF5CB239}"/>
              </a:ext>
            </a:extLst>
          </p:cNvPr>
          <p:cNvSpPr>
            <a:spLocks xmlns:a="http://schemas.openxmlformats.org/drawingml/2006/main" noGrp="1"/>
          </p:cNvSpPr>
          <p:nvPr/>
        </p:nvSpPr>
        <p:spPr>
          <a:xfrm xmlns:a="http://schemas.openxmlformats.org/drawingml/2006/main">
            <a:off x="5619750" y="22193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15" name="">
            <a:extLst xmlns:a="http://schemas.openxmlformats.org/drawingml/2006/main">
              <a:ext uri="{FF2B5EF4-FFF2-40B4-BE49-F238E27FC236}">
                <a16:creationId xmlns:a16="http://schemas.microsoft.com/office/drawing/2014/main" id="{846E42CC-5712-45FE-88BF-D5E020D3C528}"/>
              </a:ext>
            </a:extLst>
          </p:cNvPr>
          <p:cNvSpPr>
            <a:spLocks xmlns:a="http://schemas.openxmlformats.org/drawingml/2006/main" noGrp="1"/>
          </p:cNvSpPr>
          <p:nvPr/>
        </p:nvSpPr>
        <p:spPr>
          <a:xfrm xmlns:a="http://schemas.openxmlformats.org/drawingml/2006/main">
            <a:off x="6038850" y="22193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66" name=""/>
          <p:cNvCxnSpPr>
            <a:stCxn xmlns:a="http://schemas.openxmlformats.org/drawingml/2006/main" id="14" idx="3"/>
            <a:endCxn xmlns:a="http://schemas.openxmlformats.org/drawingml/2006/main" id="15" idx="1"/>
          </p:cNvCxnSpPr>
          <p:nvPr/>
        </p:nvCxnSpPr>
        <p:spPr>
          <a:xfrm xmlns:a="http://schemas.openxmlformats.org/drawingml/2006/main">
            <a:off x="5638800" y="222885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17" name="">
            <a:extLst xmlns:a="http://schemas.openxmlformats.org/drawingml/2006/main">
              <a:ext uri="{FF2B5EF4-FFF2-40B4-BE49-F238E27FC236}">
                <a16:creationId xmlns:a16="http://schemas.microsoft.com/office/drawing/2014/main" id="{40E1837D-8D3B-4DB7-9D1A-6E776B30908E}"/>
              </a:ext>
            </a:extLst>
          </p:cNvPr>
          <p:cNvSpPr>
            <a:spLocks xmlns:a="http://schemas.openxmlformats.org/drawingml/2006/main" noGrp="1"/>
          </p:cNvSpPr>
          <p:nvPr/>
        </p:nvSpPr>
        <p:spPr>
          <a:xfrm xmlns:a="http://schemas.openxmlformats.org/drawingml/2006/main">
            <a:off x="6257925" y="2133600"/>
            <a:ext cx="5495925" cy="4762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Defines the target users and T/P/RH task.</a:t>
            </a:r>
          </a:p>
        </p:txBody>
      </p:sp>
      <p:sp>
        <p:nvSpPr>
          <p:cNvPr id="18" name="">
            <a:extLst xmlns:a="http://schemas.openxmlformats.org/drawingml/2006/main">
              <a:ext uri="{FF2B5EF4-FFF2-40B4-BE49-F238E27FC236}">
                <a16:creationId xmlns:a16="http://schemas.microsoft.com/office/drawing/2014/main" id="{4862889A-26FB-4E61-901B-94CA39D340F4}"/>
              </a:ext>
            </a:extLst>
          </p:cNvPr>
          <p:cNvSpPr>
            <a:spLocks xmlns:a="http://schemas.openxmlformats.org/drawingml/2006/main" noGrp="1"/>
          </p:cNvSpPr>
          <p:nvPr/>
        </p:nvSpPr>
        <p:spPr>
          <a:xfrm xmlns:a="http://schemas.openxmlformats.org/drawingml/2006/main">
            <a:off x="942975" y="2676525"/>
            <a:ext cx="10810875" cy="9525"/>
          </a:xfrm>
          <a:prstGeom xmlns:a="http://schemas.openxmlformats.org/drawingml/2006/main" prst="rect">
            <a:avLst/>
          </a:prstGeom>
          <a:solidFill xmlns:a="http://schemas.openxmlformats.org/drawingml/2006/main">
            <a:srgbClr val="CDDBE8"/>
          </a:solidFill>
          <a:ln xmlns:a="http://schemas.openxmlformats.org/drawingml/2006/main" w="15240">
            <a:noFill/>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7a44be580c434067">
            <a:extLst>
              <a:ext uri="{96DAC541-7B7A-43D3-8B79-37D633B846F1}">
                <asvg:svgBlip xmlns:asvg="http://schemas.microsoft.com/office/drawing/2016/SVG/main" r:embed="R6580558eec334611"/>
              </a:ext>
            </a:extLst>
          </a:blip>
          <a:stretch xmlns:a="http://schemas.openxmlformats.org/drawingml/2006/main"/>
        </p:blipFill>
        <p:spPr>
          <a:xfrm xmlns:a="http://schemas.openxmlformats.org/drawingml/2006/main">
            <a:off x="466725" y="2838450"/>
            <a:ext cx="295275" cy="29527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C6001494-127D-41F1-8A3D-218859298BA0}"/>
              </a:ext>
            </a:extLst>
          </p:cNvPr>
          <p:cNvSpPr>
            <a:spLocks xmlns:a="http://schemas.openxmlformats.org/drawingml/2006/main" noGrp="1"/>
          </p:cNvSpPr>
          <p:nvPr/>
        </p:nvSpPr>
        <p:spPr>
          <a:xfrm xmlns:a="http://schemas.openxmlformats.org/drawingml/2006/main">
            <a:off x="942975" y="2790825"/>
            <a:ext cx="4552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IMD surface instrumentation</a:t>
            </a:r>
          </a:p>
        </p:txBody>
      </p:sp>
      <p:sp>
        <p:nvSpPr>
          <p:cNvPr id="21" name="">
            <a:extLst xmlns:a="http://schemas.openxmlformats.org/drawingml/2006/main">
              <a:ext uri="{FF2B5EF4-FFF2-40B4-BE49-F238E27FC236}">
                <a16:creationId xmlns:a16="http://schemas.microsoft.com/office/drawing/2014/main" id="{7A9ED9A9-FAA6-4261-AA9F-B7C405375501}"/>
              </a:ext>
            </a:extLst>
          </p:cNvPr>
          <p:cNvSpPr>
            <a:spLocks xmlns:a="http://schemas.openxmlformats.org/drawingml/2006/main" noGrp="1"/>
          </p:cNvSpPr>
          <p:nvPr/>
        </p:nvSpPr>
        <p:spPr>
          <a:xfrm xmlns:a="http://schemas.openxmlformats.org/drawingml/2006/main">
            <a:off x="942975" y="3076575"/>
            <a:ext cx="4552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AWS measurements and monitoring</a:t>
            </a:r>
          </a:p>
        </p:txBody>
      </p:sp>
      <p:sp>
        <p:nvSpPr>
          <p:cNvPr id="22" name="">
            <a:extLst xmlns:a="http://schemas.openxmlformats.org/drawingml/2006/main">
              <a:ext uri="{FF2B5EF4-FFF2-40B4-BE49-F238E27FC236}">
                <a16:creationId xmlns:a16="http://schemas.microsoft.com/office/drawing/2014/main" id="{AFDBDF93-B5EC-4508-ADB9-FFB73D9E4790}"/>
              </a:ext>
            </a:extLst>
          </p:cNvPr>
          <p:cNvSpPr>
            <a:spLocks xmlns:a="http://schemas.openxmlformats.org/drawingml/2006/main" noGrp="1"/>
          </p:cNvSpPr>
          <p:nvPr/>
        </p:nvSpPr>
        <p:spPr>
          <a:xfrm xmlns:a="http://schemas.openxmlformats.org/drawingml/2006/main">
            <a:off x="5619750" y="29622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23" name="">
            <a:extLst xmlns:a="http://schemas.openxmlformats.org/drawingml/2006/main">
              <a:ext uri="{FF2B5EF4-FFF2-40B4-BE49-F238E27FC236}">
                <a16:creationId xmlns:a16="http://schemas.microsoft.com/office/drawing/2014/main" id="{872C5C5E-1CBF-4FD9-8316-AC8E47F044D3}"/>
              </a:ext>
            </a:extLst>
          </p:cNvPr>
          <p:cNvSpPr>
            <a:spLocks xmlns:a="http://schemas.openxmlformats.org/drawingml/2006/main" noGrp="1"/>
          </p:cNvSpPr>
          <p:nvPr/>
        </p:nvSpPr>
        <p:spPr>
          <a:xfrm xmlns:a="http://schemas.openxmlformats.org/drawingml/2006/main">
            <a:off x="6038850" y="29622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74" name=""/>
          <p:cNvCxnSpPr>
            <a:stCxn xmlns:a="http://schemas.openxmlformats.org/drawingml/2006/main" id="22" idx="3"/>
            <a:endCxn xmlns:a="http://schemas.openxmlformats.org/drawingml/2006/main" id="23" idx="1"/>
          </p:cNvCxnSpPr>
          <p:nvPr/>
        </p:nvCxnSpPr>
        <p:spPr>
          <a:xfrm xmlns:a="http://schemas.openxmlformats.org/drawingml/2006/main">
            <a:off x="5638800" y="297180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5" name="">
            <a:extLst xmlns:a="http://schemas.openxmlformats.org/drawingml/2006/main">
              <a:ext uri="{FF2B5EF4-FFF2-40B4-BE49-F238E27FC236}">
                <a16:creationId xmlns:a16="http://schemas.microsoft.com/office/drawing/2014/main" id="{10138C67-F262-4D3F-8591-6B1593B533F4}"/>
              </a:ext>
            </a:extLst>
          </p:cNvPr>
          <p:cNvSpPr>
            <a:spLocks xmlns:a="http://schemas.openxmlformats.org/drawingml/2006/main" noGrp="1"/>
          </p:cNvSpPr>
          <p:nvPr/>
        </p:nvSpPr>
        <p:spPr>
          <a:xfrm xmlns:a="http://schemas.openxmlformats.org/drawingml/2006/main">
            <a:off x="6257925" y="2876550"/>
            <a:ext cx="5495925" cy="4762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Informs observation metadata and station context.</a:t>
            </a:r>
          </a:p>
        </p:txBody>
      </p:sp>
      <p:sp>
        <p:nvSpPr>
          <p:cNvPr id="26" name="">
            <a:extLst xmlns:a="http://schemas.openxmlformats.org/drawingml/2006/main">
              <a:ext uri="{FF2B5EF4-FFF2-40B4-BE49-F238E27FC236}">
                <a16:creationId xmlns:a16="http://schemas.microsoft.com/office/drawing/2014/main" id="{828406E5-168F-42A6-B4B1-807020ABD1CA}"/>
              </a:ext>
            </a:extLst>
          </p:cNvPr>
          <p:cNvSpPr>
            <a:spLocks xmlns:a="http://schemas.openxmlformats.org/drawingml/2006/main" noGrp="1"/>
          </p:cNvSpPr>
          <p:nvPr/>
        </p:nvSpPr>
        <p:spPr>
          <a:xfrm xmlns:a="http://schemas.openxmlformats.org/drawingml/2006/main">
            <a:off x="942975" y="3419475"/>
            <a:ext cx="10810875" cy="9525"/>
          </a:xfrm>
          <a:prstGeom xmlns:a="http://schemas.openxmlformats.org/drawingml/2006/main" prst="rect">
            <a:avLst/>
          </a:prstGeom>
          <a:solidFill xmlns:a="http://schemas.openxmlformats.org/drawingml/2006/main">
            <a:srgbClr val="CDDBE8"/>
          </a:solidFill>
          <a:ln xmlns:a="http://schemas.openxmlformats.org/drawingml/2006/main" w="15240">
            <a:noFill/>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7177a48ec7be468e">
            <a:extLst>
              <a:ext uri="{96DAC541-7B7A-43D3-8B79-37D633B846F1}">
                <asvg:svgBlip xmlns:asvg="http://schemas.microsoft.com/office/drawing/2016/SVG/main" r:embed="Rc5a4ddd08b9a46aa"/>
              </a:ext>
            </a:extLst>
          </a:blip>
          <a:stretch xmlns:a="http://schemas.openxmlformats.org/drawingml/2006/main"/>
        </p:blipFill>
        <p:spPr>
          <a:xfrm xmlns:a="http://schemas.openxmlformats.org/drawingml/2006/main">
            <a:off x="466725" y="3581400"/>
            <a:ext cx="295275" cy="295275"/>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38D94695-5222-4A7F-9D36-BD97DC7E6CE0}"/>
              </a:ext>
            </a:extLst>
          </p:cNvPr>
          <p:cNvSpPr>
            <a:spLocks xmlns:a="http://schemas.openxmlformats.org/drawingml/2006/main" noGrp="1"/>
          </p:cNvSpPr>
          <p:nvPr/>
        </p:nvSpPr>
        <p:spPr>
          <a:xfrm xmlns:a="http://schemas.openxmlformats.org/drawingml/2006/main">
            <a:off x="942975" y="3533775"/>
            <a:ext cx="4552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WMO Guide No. 8</a:t>
            </a:r>
          </a:p>
        </p:txBody>
      </p:sp>
      <p:sp>
        <p:nvSpPr>
          <p:cNvPr id="29" name="">
            <a:extLst xmlns:a="http://schemas.openxmlformats.org/drawingml/2006/main">
              <a:ext uri="{FF2B5EF4-FFF2-40B4-BE49-F238E27FC236}">
                <a16:creationId xmlns:a16="http://schemas.microsoft.com/office/drawing/2014/main" id="{C2235CCF-46D1-4ACA-8390-5C48E4D5A7B0}"/>
              </a:ext>
            </a:extLst>
          </p:cNvPr>
          <p:cNvSpPr>
            <a:spLocks xmlns:a="http://schemas.openxmlformats.org/drawingml/2006/main" noGrp="1"/>
          </p:cNvSpPr>
          <p:nvPr/>
        </p:nvSpPr>
        <p:spPr>
          <a:xfrm xmlns:a="http://schemas.openxmlformats.org/drawingml/2006/main">
            <a:off x="942975" y="3819525"/>
            <a:ext cx="4552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Measurement methods and data quality</a:t>
            </a:r>
          </a:p>
        </p:txBody>
      </p:sp>
      <p:sp>
        <p:nvSpPr>
          <p:cNvPr id="30" name="">
            <a:extLst xmlns:a="http://schemas.openxmlformats.org/drawingml/2006/main">
              <a:ext uri="{FF2B5EF4-FFF2-40B4-BE49-F238E27FC236}">
                <a16:creationId xmlns:a16="http://schemas.microsoft.com/office/drawing/2014/main" id="{CAD2B735-C158-4333-9B4D-F11320A72266}"/>
              </a:ext>
            </a:extLst>
          </p:cNvPr>
          <p:cNvSpPr>
            <a:spLocks xmlns:a="http://schemas.openxmlformats.org/drawingml/2006/main" noGrp="1"/>
          </p:cNvSpPr>
          <p:nvPr/>
        </p:nvSpPr>
        <p:spPr>
          <a:xfrm xmlns:a="http://schemas.openxmlformats.org/drawingml/2006/main">
            <a:off x="5619750" y="37052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31" name="">
            <a:extLst xmlns:a="http://schemas.openxmlformats.org/drawingml/2006/main">
              <a:ext uri="{FF2B5EF4-FFF2-40B4-BE49-F238E27FC236}">
                <a16:creationId xmlns:a16="http://schemas.microsoft.com/office/drawing/2014/main" id="{8FE9E4B4-B0B8-47D2-85FF-9252912885A4}"/>
              </a:ext>
            </a:extLst>
          </p:cNvPr>
          <p:cNvSpPr>
            <a:spLocks xmlns:a="http://schemas.openxmlformats.org/drawingml/2006/main" noGrp="1"/>
          </p:cNvSpPr>
          <p:nvPr/>
        </p:nvSpPr>
        <p:spPr>
          <a:xfrm xmlns:a="http://schemas.openxmlformats.org/drawingml/2006/main">
            <a:off x="6038850" y="37052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82" name=""/>
          <p:cNvCxnSpPr>
            <a:stCxn xmlns:a="http://schemas.openxmlformats.org/drawingml/2006/main" id="30" idx="3"/>
            <a:endCxn xmlns:a="http://schemas.openxmlformats.org/drawingml/2006/main" id="31" idx="1"/>
          </p:cNvCxnSpPr>
          <p:nvPr/>
        </p:nvCxnSpPr>
        <p:spPr>
          <a:xfrm xmlns:a="http://schemas.openxmlformats.org/drawingml/2006/main">
            <a:off x="5638800" y="371475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33" name="">
            <a:extLst xmlns:a="http://schemas.openxmlformats.org/drawingml/2006/main">
              <a:ext uri="{FF2B5EF4-FFF2-40B4-BE49-F238E27FC236}">
                <a16:creationId xmlns:a16="http://schemas.microsoft.com/office/drawing/2014/main" id="{CD3C9B40-0E54-4C7E-875B-C515A1C0F534}"/>
              </a:ext>
            </a:extLst>
          </p:cNvPr>
          <p:cNvSpPr>
            <a:spLocks xmlns:a="http://schemas.openxmlformats.org/drawingml/2006/main" noGrp="1"/>
          </p:cNvSpPr>
          <p:nvPr/>
        </p:nvSpPr>
        <p:spPr>
          <a:xfrm xmlns:a="http://schemas.openxmlformats.org/drawingml/2006/main">
            <a:off x="6257925" y="3619500"/>
            <a:ext cx="5495925" cy="4762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Guides physical plausibility and quality checks.</a:t>
            </a:r>
          </a:p>
        </p:txBody>
      </p:sp>
      <p:sp>
        <p:nvSpPr>
          <p:cNvPr id="34" name="">
            <a:extLst xmlns:a="http://schemas.openxmlformats.org/drawingml/2006/main">
              <a:ext uri="{FF2B5EF4-FFF2-40B4-BE49-F238E27FC236}">
                <a16:creationId xmlns:a16="http://schemas.microsoft.com/office/drawing/2014/main" id="{FF14D3F0-00FF-4213-8C59-21ACD91EA308}"/>
              </a:ext>
            </a:extLst>
          </p:cNvPr>
          <p:cNvSpPr>
            <a:spLocks xmlns:a="http://schemas.openxmlformats.org/drawingml/2006/main" noGrp="1"/>
          </p:cNvSpPr>
          <p:nvPr/>
        </p:nvSpPr>
        <p:spPr>
          <a:xfrm xmlns:a="http://schemas.openxmlformats.org/drawingml/2006/main">
            <a:off x="942975" y="4162425"/>
            <a:ext cx="10810875" cy="9525"/>
          </a:xfrm>
          <a:prstGeom xmlns:a="http://schemas.openxmlformats.org/drawingml/2006/main" prst="rect">
            <a:avLst/>
          </a:prstGeom>
          <a:solidFill xmlns:a="http://schemas.openxmlformats.org/drawingml/2006/main">
            <a:srgbClr val="CDDBE8"/>
          </a:solidFill>
          <a:ln xmlns:a="http://schemas.openxmlformats.org/drawingml/2006/main" w="1524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faaa1a1ca1b5458e">
            <a:extLst>
              <a:ext uri="{96DAC541-7B7A-43D3-8B79-37D633B846F1}">
                <asvg:svgBlip xmlns:asvg="http://schemas.microsoft.com/office/drawing/2016/SVG/main" r:embed="R37f6a8364b8b4fe5"/>
              </a:ext>
            </a:extLst>
          </a:blip>
          <a:stretch xmlns:a="http://schemas.openxmlformats.org/drawingml/2006/main"/>
        </p:blipFill>
        <p:spPr>
          <a:xfrm xmlns:a="http://schemas.openxmlformats.org/drawingml/2006/main">
            <a:off x="466725" y="4324350"/>
            <a:ext cx="295275" cy="295275"/>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5C8E2D3D-3BE2-4D97-8400-E35EF88FF60A}"/>
              </a:ext>
            </a:extLst>
          </p:cNvPr>
          <p:cNvSpPr>
            <a:spLocks xmlns:a="http://schemas.openxmlformats.org/drawingml/2006/main" noGrp="1"/>
          </p:cNvSpPr>
          <p:nvPr/>
        </p:nvSpPr>
        <p:spPr>
          <a:xfrm xmlns:a="http://schemas.openxmlformats.org/drawingml/2006/main">
            <a:off x="942975" y="4276725"/>
            <a:ext cx="4552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scikit-learn: Isolation Forest</a:t>
            </a:r>
          </a:p>
        </p:txBody>
      </p:sp>
      <p:sp>
        <p:nvSpPr>
          <p:cNvPr id="37" name="">
            <a:extLst xmlns:a="http://schemas.openxmlformats.org/drawingml/2006/main">
              <a:ext uri="{FF2B5EF4-FFF2-40B4-BE49-F238E27FC236}">
                <a16:creationId xmlns:a16="http://schemas.microsoft.com/office/drawing/2014/main" id="{2F355975-DFA1-4D9E-B237-B55FD0BAEB82}"/>
              </a:ext>
            </a:extLst>
          </p:cNvPr>
          <p:cNvSpPr>
            <a:spLocks xmlns:a="http://schemas.openxmlformats.org/drawingml/2006/main" noGrp="1"/>
          </p:cNvSpPr>
          <p:nvPr/>
        </p:nvSpPr>
        <p:spPr>
          <a:xfrm xmlns:a="http://schemas.openxmlformats.org/drawingml/2006/main">
            <a:off x="942975" y="4562475"/>
            <a:ext cx="4552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Unsupervised anomaly detection</a:t>
            </a:r>
          </a:p>
        </p:txBody>
      </p:sp>
      <p:sp>
        <p:nvSpPr>
          <p:cNvPr id="38" name="">
            <a:extLst xmlns:a="http://schemas.openxmlformats.org/drawingml/2006/main">
              <a:ext uri="{FF2B5EF4-FFF2-40B4-BE49-F238E27FC236}">
                <a16:creationId xmlns:a16="http://schemas.microsoft.com/office/drawing/2014/main" id="{AA348024-7041-48B6-A15A-9CAA9B2B3B8F}"/>
              </a:ext>
            </a:extLst>
          </p:cNvPr>
          <p:cNvSpPr>
            <a:spLocks xmlns:a="http://schemas.openxmlformats.org/drawingml/2006/main" noGrp="1"/>
          </p:cNvSpPr>
          <p:nvPr/>
        </p:nvSpPr>
        <p:spPr>
          <a:xfrm xmlns:a="http://schemas.openxmlformats.org/drawingml/2006/main">
            <a:off x="5619750" y="44481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39" name="">
            <a:extLst xmlns:a="http://schemas.openxmlformats.org/drawingml/2006/main">
              <a:ext uri="{FF2B5EF4-FFF2-40B4-BE49-F238E27FC236}">
                <a16:creationId xmlns:a16="http://schemas.microsoft.com/office/drawing/2014/main" id="{B9B5FA49-B169-4F4F-B860-F669125BB017}"/>
              </a:ext>
            </a:extLst>
          </p:cNvPr>
          <p:cNvSpPr>
            <a:spLocks xmlns:a="http://schemas.openxmlformats.org/drawingml/2006/main" noGrp="1"/>
          </p:cNvSpPr>
          <p:nvPr/>
        </p:nvSpPr>
        <p:spPr>
          <a:xfrm xmlns:a="http://schemas.openxmlformats.org/drawingml/2006/main">
            <a:off x="6038850" y="44481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90" name=""/>
          <p:cNvCxnSpPr>
            <a:stCxn xmlns:a="http://schemas.openxmlformats.org/drawingml/2006/main" id="38" idx="3"/>
            <a:endCxn xmlns:a="http://schemas.openxmlformats.org/drawingml/2006/main" id="39" idx="1"/>
          </p:cNvCxnSpPr>
          <p:nvPr/>
        </p:nvCxnSpPr>
        <p:spPr>
          <a:xfrm xmlns:a="http://schemas.openxmlformats.org/drawingml/2006/main">
            <a:off x="5638800" y="445770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41" name="">
            <a:extLst xmlns:a="http://schemas.openxmlformats.org/drawingml/2006/main">
              <a:ext uri="{FF2B5EF4-FFF2-40B4-BE49-F238E27FC236}">
                <a16:creationId xmlns:a16="http://schemas.microsoft.com/office/drawing/2014/main" id="{3E4A174C-587F-45F6-80FD-C9B54305C54F}"/>
              </a:ext>
            </a:extLst>
          </p:cNvPr>
          <p:cNvSpPr>
            <a:spLocks xmlns:a="http://schemas.openxmlformats.org/drawingml/2006/main" noGrp="1"/>
          </p:cNvSpPr>
          <p:nvPr/>
        </p:nvSpPr>
        <p:spPr>
          <a:xfrm xmlns:a="http://schemas.openxmlformats.org/drawingml/2006/main">
            <a:off x="6257925" y="4362450"/>
            <a:ext cx="5495925" cy="4762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Supports the ML score alongside other evidence.</a:t>
            </a:r>
          </a:p>
        </p:txBody>
      </p:sp>
      <p:sp>
        <p:nvSpPr>
          <p:cNvPr id="42" name="">
            <a:extLst xmlns:a="http://schemas.openxmlformats.org/drawingml/2006/main">
              <a:ext uri="{FF2B5EF4-FFF2-40B4-BE49-F238E27FC236}">
                <a16:creationId xmlns:a16="http://schemas.microsoft.com/office/drawing/2014/main" id="{50FDB745-15D6-40D2-AB6D-69E561DFF9B0}"/>
              </a:ext>
            </a:extLst>
          </p:cNvPr>
          <p:cNvSpPr>
            <a:spLocks xmlns:a="http://schemas.openxmlformats.org/drawingml/2006/main" noGrp="1"/>
          </p:cNvSpPr>
          <p:nvPr/>
        </p:nvSpPr>
        <p:spPr>
          <a:xfrm xmlns:a="http://schemas.openxmlformats.org/drawingml/2006/main">
            <a:off x="942975" y="4905375"/>
            <a:ext cx="10810875" cy="9525"/>
          </a:xfrm>
          <a:prstGeom xmlns:a="http://schemas.openxmlformats.org/drawingml/2006/main" prst="rect">
            <a:avLst/>
          </a:prstGeom>
          <a:solidFill xmlns:a="http://schemas.openxmlformats.org/drawingml/2006/main">
            <a:srgbClr val="CDDBE8"/>
          </a:solidFill>
          <a:ln xmlns:a="http://schemas.openxmlformats.org/drawingml/2006/main" w="15240">
            <a:noFill/>
          </a:ln>
        </p:spPr>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5180bed3289746e1">
            <a:extLst>
              <a:ext uri="{96DAC541-7B7A-43D3-8B79-37D633B846F1}">
                <asvg:svgBlip xmlns:asvg="http://schemas.microsoft.com/office/drawing/2016/SVG/main" r:embed="R620cff0e8ffc43f1"/>
              </a:ext>
            </a:extLst>
          </a:blip>
          <a:stretch xmlns:a="http://schemas.openxmlformats.org/drawingml/2006/main"/>
        </p:blipFill>
        <p:spPr>
          <a:xfrm xmlns:a="http://schemas.openxmlformats.org/drawingml/2006/main">
            <a:off x="466725" y="5067300"/>
            <a:ext cx="295275" cy="295275"/>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30100760-3F7C-481D-A3F0-733D1C8F2BDC}"/>
              </a:ext>
            </a:extLst>
          </p:cNvPr>
          <p:cNvSpPr>
            <a:spLocks xmlns:a="http://schemas.openxmlformats.org/drawingml/2006/main" noGrp="1"/>
          </p:cNvSpPr>
          <p:nvPr/>
        </p:nvSpPr>
        <p:spPr>
          <a:xfrm xmlns:a="http://schemas.openxmlformats.org/drawingml/2006/main">
            <a:off x="942975" y="5019675"/>
            <a:ext cx="4552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PMFBY WINDS / OpenStreetMap</a:t>
            </a:r>
          </a:p>
        </p:txBody>
      </p:sp>
      <p:sp>
        <p:nvSpPr>
          <p:cNvPr id="45" name="">
            <a:extLst xmlns:a="http://schemas.openxmlformats.org/drawingml/2006/main">
              <a:ext uri="{FF2B5EF4-FFF2-40B4-BE49-F238E27FC236}">
                <a16:creationId xmlns:a16="http://schemas.microsoft.com/office/drawing/2014/main" id="{3AFDD78D-BB0A-4776-9D1E-DABB2B997069}"/>
              </a:ext>
            </a:extLst>
          </p:cNvPr>
          <p:cNvSpPr>
            <a:spLocks xmlns:a="http://schemas.openxmlformats.org/drawingml/2006/main" noGrp="1"/>
          </p:cNvSpPr>
          <p:nvPr/>
        </p:nvSpPr>
        <p:spPr>
          <a:xfrm xmlns:a="http://schemas.openxmlformats.org/drawingml/2006/main">
            <a:off x="942975" y="5305425"/>
            <a:ext cx="4552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Station maps and geographic detail</a:t>
            </a:r>
          </a:p>
        </p:txBody>
      </p:sp>
      <p:sp>
        <p:nvSpPr>
          <p:cNvPr id="46" name="">
            <a:extLst xmlns:a="http://schemas.openxmlformats.org/drawingml/2006/main">
              <a:ext uri="{FF2B5EF4-FFF2-40B4-BE49-F238E27FC236}">
                <a16:creationId xmlns:a16="http://schemas.microsoft.com/office/drawing/2014/main" id="{8252C8FF-3155-4145-BAEC-852A50860E7C}"/>
              </a:ext>
            </a:extLst>
          </p:cNvPr>
          <p:cNvSpPr>
            <a:spLocks xmlns:a="http://schemas.openxmlformats.org/drawingml/2006/main" noGrp="1"/>
          </p:cNvSpPr>
          <p:nvPr/>
        </p:nvSpPr>
        <p:spPr>
          <a:xfrm xmlns:a="http://schemas.openxmlformats.org/drawingml/2006/main">
            <a:off x="5619750" y="51911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47" name="">
            <a:extLst xmlns:a="http://schemas.openxmlformats.org/drawingml/2006/main">
              <a:ext uri="{FF2B5EF4-FFF2-40B4-BE49-F238E27FC236}">
                <a16:creationId xmlns:a16="http://schemas.microsoft.com/office/drawing/2014/main" id="{43B7241E-F002-466F-94FE-F11C0C091650}"/>
              </a:ext>
            </a:extLst>
          </p:cNvPr>
          <p:cNvSpPr>
            <a:spLocks xmlns:a="http://schemas.openxmlformats.org/drawingml/2006/main" noGrp="1"/>
          </p:cNvSpPr>
          <p:nvPr/>
        </p:nvSpPr>
        <p:spPr>
          <a:xfrm xmlns:a="http://schemas.openxmlformats.org/drawingml/2006/main">
            <a:off x="6038850" y="51911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98" name=""/>
          <p:cNvCxnSpPr>
            <a:stCxn xmlns:a="http://schemas.openxmlformats.org/drawingml/2006/main" id="46" idx="3"/>
            <a:endCxn xmlns:a="http://schemas.openxmlformats.org/drawingml/2006/main" id="47" idx="1"/>
          </p:cNvCxnSpPr>
          <p:nvPr/>
        </p:nvCxnSpPr>
        <p:spPr>
          <a:xfrm xmlns:a="http://schemas.openxmlformats.org/drawingml/2006/main">
            <a:off x="5638800" y="520065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49" name="">
            <a:extLst xmlns:a="http://schemas.openxmlformats.org/drawingml/2006/main">
              <a:ext uri="{FF2B5EF4-FFF2-40B4-BE49-F238E27FC236}">
                <a16:creationId xmlns:a16="http://schemas.microsoft.com/office/drawing/2014/main" id="{D282372E-CBBC-4D83-8022-A24858A5EA30}"/>
              </a:ext>
            </a:extLst>
          </p:cNvPr>
          <p:cNvSpPr>
            <a:spLocks xmlns:a="http://schemas.openxmlformats.org/drawingml/2006/main" noGrp="1"/>
          </p:cNvSpPr>
          <p:nvPr/>
        </p:nvSpPr>
        <p:spPr>
          <a:xfrm xmlns:a="http://schemas.openxmlformats.org/drawingml/2006/main">
            <a:off x="6257925" y="5105400"/>
            <a:ext cx="5495925" cy="4762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Inspires zoom behaviour and location exploration.</a:t>
            </a:r>
          </a:p>
        </p:txBody>
      </p:sp>
      <p:sp>
        <p:nvSpPr>
          <p:cNvPr id="50" name="">
            <a:extLst xmlns:a="http://schemas.openxmlformats.org/drawingml/2006/main">
              <a:ext uri="{FF2B5EF4-FFF2-40B4-BE49-F238E27FC236}">
                <a16:creationId xmlns:a16="http://schemas.microsoft.com/office/drawing/2014/main" id="{3752F6C7-7312-40B6-87F2-93B210D0D2FA}"/>
              </a:ext>
            </a:extLst>
          </p:cNvPr>
          <p:cNvSpPr>
            <a:spLocks xmlns:a="http://schemas.openxmlformats.org/drawingml/2006/main" noGrp="1"/>
          </p:cNvSpPr>
          <p:nvPr/>
        </p:nvSpPr>
        <p:spPr>
          <a:xfrm xmlns:a="http://schemas.openxmlformats.org/drawingml/2006/main">
            <a:off x="419100" y="6048375"/>
            <a:ext cx="113538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68B83"/>
                </a:solidFill>
                <a:latin typeface="Arial"/>
                <a:ea typeface="Arial"/>
                <a:cs typeface="Arial"/>
              </a:defRPr>
            </a:pPr>
            <a:r>
              <a:rPr sz="1350" b="0">
                <a:solidFill>
                  <a:srgbClr val="168B83"/>
                </a:solidFill>
                <a:latin typeface="Arial"/>
                <a:ea typeface="Arial"/>
                <a:cs typeface="Arial"/>
              </a:rPr>
              <a:t>Project evidence: reproducible evaluation artifact and recorded limitations accompany the prototype.</a:t>
            </a:r>
          </a:p>
        </p:txBody>
      </p:sp>
    </p:spTree>
    <p:extLst>
      <p:ext uri="{BB962C8B-B14F-4D97-AF65-F5344CB8AC3E}">
        <p14:creationId xmlns:p14="http://schemas.microsoft.com/office/powerpoint/2010/main" val="14631403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2026-09-29T18:38:51.4140000Z</dcterms:created>
  <dcterms:modified xsi:type="dcterms:W3CDTF">2026-09-29T18:38:51.4140000Z</dcterms:modified>
</coreProperties>
</file>