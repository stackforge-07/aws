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9dc54b03acf49d1" /><Relationship Type="http://schemas.openxmlformats.org/officeDocument/2006/relationships/extended-properties" Target="/docProps/app.xml" Id="Rd9e74b8ba09a4884" /><Relationship Type="http://schemas.openxmlformats.org/officeDocument/2006/relationships/officeDocument" Target="/ppt/presentation.xml" Id="R30bb652480324880" /></Relationships>
</file>

<file path=ppt/presentation.xml><?xml version="1.0" encoding="utf-8"?>
<p:presentation xmlns:p="http://schemas.openxmlformats.org/presentationml/2006/main">
  <p:sldMasterIdLst>
    <p:sldMasterId xmlns:r="http://schemas.openxmlformats.org/officeDocument/2006/relationships" id="2147483648" r:id="R596e3fcb89944a98"/>
  </p:sldMasterIdLst>
  <p:notesMasterIdLst>
    <p:notesMasterId xmlns:r="http://schemas.openxmlformats.org/officeDocument/2006/relationships" r:id="R388cce6ba2f447a2"/>
  </p:notesMasterIdLst>
  <p:sldIdLst>
    <p:sldId xmlns:r="http://schemas.openxmlformats.org/officeDocument/2006/relationships" id="256" r:id="R5d3b55eee4b84aea"/>
    <p:sldId xmlns:r="http://schemas.openxmlformats.org/officeDocument/2006/relationships" id="257" r:id="R22d87cade8c748e6"/>
    <p:sldId xmlns:r="http://schemas.openxmlformats.org/officeDocument/2006/relationships" id="258" r:id="R03e15506fc5a4d37"/>
    <p:sldId xmlns:r="http://schemas.openxmlformats.org/officeDocument/2006/relationships" id="259" r:id="R6d9b8717605043dd"/>
    <p:sldId xmlns:r="http://schemas.openxmlformats.org/officeDocument/2006/relationships" id="260" r:id="R7da517e8213c4ace"/>
    <p:sldId xmlns:r="http://schemas.openxmlformats.org/officeDocument/2006/relationships" id="261" r:id="Rd993879a3a3147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f5f9fbe02f44b2" /><Relationship Type="http://schemas.openxmlformats.org/officeDocument/2006/relationships/slideMaster" Target="/ppt/slideMasters/slideMaster1.xml" Id="R596e3fcb89944a98" /><Relationship Type="http://schemas.openxmlformats.org/officeDocument/2006/relationships/notesMaster" Target="/ppt/notesMasters/notesMaster1.xml" Id="R388cce6ba2f447a2" /><Relationship Type="http://schemas.openxmlformats.org/officeDocument/2006/relationships/presProps" Target="/ppt/presProps.xml" Id="R4b55e3c030a04a6d" /><Relationship Type="http://schemas.openxmlformats.org/officeDocument/2006/relationships/tableStyles" Target="/ppt/tableStyles.xml" Id="R20ef347fe6bf4d48" /><Relationship Type="http://schemas.openxmlformats.org/officeDocument/2006/relationships/slide" Target="/ppt/slides/slide1.xml" Id="R5d3b55eee4b84aea" /><Relationship Type="http://schemas.openxmlformats.org/officeDocument/2006/relationships/slide" Target="/ppt/slides/slide2.xml" Id="R22d87cade8c748e6" /><Relationship Type="http://schemas.openxmlformats.org/officeDocument/2006/relationships/slide" Target="/ppt/slides/slide3.xml" Id="R03e15506fc5a4d37" /><Relationship Type="http://schemas.openxmlformats.org/officeDocument/2006/relationships/slide" Target="/ppt/slides/slide4.xml" Id="R6d9b8717605043dd" /><Relationship Type="http://schemas.openxmlformats.org/officeDocument/2006/relationships/slide" Target="/ppt/slides/slide5.xml" Id="R7da517e8213c4ace" /><Relationship Type="http://schemas.openxmlformats.org/officeDocument/2006/relationships/slide" Target="/ppt/slides/slide6.xml" Id="Rd993879a3a3147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7f2251b46f40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5939dd27424c77" /><Relationship Type="http://schemas.openxmlformats.org/officeDocument/2006/relationships/notesMaster" Target="/ppt/notesMasters/notesMaster1.xml" Id="R0d3903b66edf4c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9d2ba2bf4d4865" /><Relationship Type="http://schemas.openxmlformats.org/officeDocument/2006/relationships/notesMaster" Target="/ppt/notesMasters/notesMaster1.xml" Id="Rf97572520a5846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dcf690bb254ec2" /><Relationship Type="http://schemas.openxmlformats.org/officeDocument/2006/relationships/notesMaster" Target="/ppt/notesMasters/notesMaster1.xml" Id="R20ba0ccb86f549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d60c128a594ce0" /><Relationship Type="http://schemas.openxmlformats.org/officeDocument/2006/relationships/notesMaster" Target="/ppt/notesMasters/notesMaster1.xml" Id="Reafdf652528640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a9e598d2c34184" /><Relationship Type="http://schemas.openxmlformats.org/officeDocument/2006/relationships/notesMaster" Target="/ppt/notesMasters/notesMaster1.xml" Id="R4938dc72dc9446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4bf5e712ab4b48" /><Relationship Type="http://schemas.openxmlformats.org/officeDocument/2006/relationships/notesMaster" Target="/ppt/notesMasters/notesMaster1.xml" Id="R1a08d6fdaaf94a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PS and user team details from linked source Canva deck. Synthetic prototype, no live IMD feed.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T/P/RH contract and pipeline. Virtual Buddy uses eligible nearby peers. Six technical classes group into these outcomes for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architecture: React/Three.js UI, FastAPI/Python, scikit-learn Isolation Forest, SQLite. Causal features only. No NWP. Raw values and correction proposals stored separately. Six output classes retained. Evidence strength is uncalibrated. Icons Lucide ISC, logo sources in pitch/logos/SOURCES.md.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Paired benchmark ml/artifacts/evaluation_v2_comparison.json. 4,032 samples,24 station identities,7 scenarios. Fault recall77.47%/85.76%, weather recall9.72%. Same simulator family, not field validation. Financial and operational benefits require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captured from the actual local SkyGuard station UI this turn. Data is simulated. Operator workflow is implemented; time and cost savings not field measured. Regional teams can track recurring incidents. Original observations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SIH problem statement supplied by user: references/tprh-revision.txt and original brief.</a:t>
            </a:r>
          </a:p>
          <a:p xmlns:a="http://schemas.openxmlformats.org/drawingml/2006/main">
            <a:r>
              <a:t>IMD: https://mausam.imd.gov.in/imd_latest/contents/surface-met.php</a:t>
            </a:r>
          </a:p>
          <a:p xmlns:a="http://schemas.openxmlformats.org/drawingml/2006/main">
            <a:r>
              <a:t>WMO: https://wmo.int/publication-series/guide-instruments-and-methods-of-observation-wmo-no-8</a:t>
            </a:r>
          </a:p>
          <a:p xmlns:a="http://schemas.openxmlformats.org/drawingml/2006/main">
            <a:r>
              <a:t>scikit-learn: https://scikit-learn.org/stable/modules/generated/sklearn.ensemble.IsolationForest.html</a:t>
            </a:r>
          </a:p>
          <a:p xmlns:a="http://schemas.openxmlformats.org/drawingml/2006/main">
            <a:r>
              <a:t>PMFBY: https://pmfby.gov.in/winds/weather</a:t>
            </a:r>
          </a:p>
          <a:p xmlns:a="http://schemas.openxmlformats.org/drawingml/2006/main">
            <a:r>
              <a:t>OpenStreetMap: https://www.openstreetmap.org</a:t>
            </a:r>
          </a:p>
          <a:p xmlns:a="http://schemas.openxmlformats.org/drawingml/2006/main">
            <a:r>
              <a:t>Local evidence: ml/artifacts/evaluation_v2_comparison.json and docs/LIMITATIONS.md.</a:t>
            </a:r>
          </a:p>
          <a:p xmlns:a="http://schemas.openxmlformats.org/drawingml/2006/main">
            <a:r>
              <a:t>Visual direction: user-supplied SIH reference screenshots (technical flow and feasibility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da474629f747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7a7e5b4b9d43c4" /><Relationship Type="http://schemas.openxmlformats.org/officeDocument/2006/relationships/slideLayout" Target="/ppt/slideLayouts/slideLayout1.xml" Id="R9fd8a93ff46748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d8a93ff46748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bf005468474174" /><Relationship Type="http://schemas.openxmlformats.org/officeDocument/2006/relationships/image" Target="/ppt/media/image.png" Id="Re7171554051c47ea" /><Relationship Type="http://schemas.openxmlformats.org/officeDocument/2006/relationships/image" Target="/ppt/media/image2.png" Id="R9bbae267de3e4bd5" /><Relationship Type="http://schemas.openxmlformats.org/officeDocument/2006/relationships/image" Target="/ppt/media/image.svg" Id="Rbe17489bcf744972" /><Relationship Type="http://schemas.openxmlformats.org/officeDocument/2006/relationships/image" Target="/ppt/media/image3.png" Id="Rb543aeae6df442a2" /><Relationship Type="http://schemas.openxmlformats.org/officeDocument/2006/relationships/image" Target="/ppt/media/image2.svg" Id="R114e356d81964c62" /><Relationship Type="http://schemas.openxmlformats.org/officeDocument/2006/relationships/image" Target="/ppt/media/image4.png" Id="R47e9c21cbf6341c8" /><Relationship Type="http://schemas.openxmlformats.org/officeDocument/2006/relationships/image" Target="/ppt/media/image3.svg" Id="R544968ab15c1428a" /><Relationship Type="http://schemas.openxmlformats.org/officeDocument/2006/relationships/image" Target="/ppt/media/image5.png" Id="R96cb88f1c4d24425" /><Relationship Type="http://schemas.openxmlformats.org/officeDocument/2006/relationships/image" Target="/ppt/media/image4.svg" Id="Rc42acc3ccba04413" /><Relationship Type="http://schemas.openxmlformats.org/officeDocument/2006/relationships/notesSlide" Target="/ppt/notesSlides/notesSlide1.xml" Id="R4cc8f56a813045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660bb0261eb4a7a" /><Relationship Type="http://schemas.openxmlformats.org/officeDocument/2006/relationships/image" Target="/ppt/media/image6.png" Id="R323fd1e092264f86" /><Relationship Type="http://schemas.openxmlformats.org/officeDocument/2006/relationships/image" Target="/ppt/media/image7.png" Id="R116d3386fff145e4" /><Relationship Type="http://schemas.openxmlformats.org/officeDocument/2006/relationships/image" Target="/ppt/media/image5.svg" Id="R6b2ee36651234e54" /><Relationship Type="http://schemas.openxmlformats.org/officeDocument/2006/relationships/image" Target="/ppt/media/image8.png" Id="R2803d3053c7347db" /><Relationship Type="http://schemas.openxmlformats.org/officeDocument/2006/relationships/image" Target="/ppt/media/image6.svg" Id="R6af4429224a34a7f" /><Relationship Type="http://schemas.openxmlformats.org/officeDocument/2006/relationships/image" Target="/ppt/media/image9.png" Id="Rbc82c3aed2af490b" /><Relationship Type="http://schemas.openxmlformats.org/officeDocument/2006/relationships/image" Target="/ppt/media/image7.svg" Id="Rb0012f8275544494" /><Relationship Type="http://schemas.openxmlformats.org/officeDocument/2006/relationships/image" Target="/ppt/media/image10.png" Id="R310bdb2a3ccc4fed" /><Relationship Type="http://schemas.openxmlformats.org/officeDocument/2006/relationships/image" Target="/ppt/media/image8.svg" Id="R709e12f950594da5" /><Relationship Type="http://schemas.openxmlformats.org/officeDocument/2006/relationships/image" Target="/ppt/media/image11.png" Id="R2a0ada1a48004672" /><Relationship Type="http://schemas.openxmlformats.org/officeDocument/2006/relationships/image" Target="/ppt/media/image9.svg" Id="R3918ff3255e94724" /><Relationship Type="http://schemas.openxmlformats.org/officeDocument/2006/relationships/image" Target="/ppt/media/image12.png" Id="R42edd88989b340b4" /><Relationship Type="http://schemas.openxmlformats.org/officeDocument/2006/relationships/image" Target="/ppt/media/image10.svg" Id="Ra79f2c5f525a4a39" /><Relationship Type="http://schemas.openxmlformats.org/officeDocument/2006/relationships/image" Target="/ppt/media/image13.png" Id="R0c2e0ba656be41c2" /><Relationship Type="http://schemas.openxmlformats.org/officeDocument/2006/relationships/image" Target="/ppt/media/image11.svg" Id="R64bf9b1a8b974a1c" /><Relationship Type="http://schemas.openxmlformats.org/officeDocument/2006/relationships/notesSlide" Target="/ppt/notesSlides/notesSlide2.xml" Id="Rebddd175a4ee48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c66e42ceff4921" /><Relationship Type="http://schemas.openxmlformats.org/officeDocument/2006/relationships/image" Target="/ppt/media/image14.png" Id="Rc7b79eedbfb0489e" /><Relationship Type="http://schemas.openxmlformats.org/officeDocument/2006/relationships/image" Target="/ppt/media/image15.png" Id="R50d42f0366ee4c30" /><Relationship Type="http://schemas.openxmlformats.org/officeDocument/2006/relationships/image" Target="/ppt/media/image12.svg" Id="Rb0e6fa9c39c4423a" /><Relationship Type="http://schemas.openxmlformats.org/officeDocument/2006/relationships/image" Target="/ppt/media/image16.png" Id="Rf16728bae58a46ca" /><Relationship Type="http://schemas.openxmlformats.org/officeDocument/2006/relationships/image" Target="/ppt/media/image13.svg" Id="R0493f144e1394556" /><Relationship Type="http://schemas.openxmlformats.org/officeDocument/2006/relationships/image" Target="/ppt/media/image17.png" Id="R5bf0c2a13e3744d3" /><Relationship Type="http://schemas.openxmlformats.org/officeDocument/2006/relationships/image" Target="/ppt/media/image14.svg" Id="R9f22d9fb848a4508" /><Relationship Type="http://schemas.openxmlformats.org/officeDocument/2006/relationships/image" Target="/ppt/media/image18.png" Id="R131d4cc404494399" /><Relationship Type="http://schemas.openxmlformats.org/officeDocument/2006/relationships/image" Target="/ppt/media/image15.svg" Id="R4da8232f23cb4fb6" /><Relationship Type="http://schemas.openxmlformats.org/officeDocument/2006/relationships/image" Target="/ppt/media/image19.png" Id="R3670158bae174f46" /><Relationship Type="http://schemas.openxmlformats.org/officeDocument/2006/relationships/image" Target="/ppt/media/image16.svg" Id="R00195b35565b4efe" /><Relationship Type="http://schemas.openxmlformats.org/officeDocument/2006/relationships/image" Target="/ppt/media/image20.png" Id="Rfe993d9f8df849c2" /><Relationship Type="http://schemas.openxmlformats.org/officeDocument/2006/relationships/image" Target="/ppt/media/image17.svg" Id="R5c96bbdc8e17461e" /><Relationship Type="http://schemas.openxmlformats.org/officeDocument/2006/relationships/image" Target="/ppt/media/image21.png" Id="R336a5d25687c4dc2" /><Relationship Type="http://schemas.openxmlformats.org/officeDocument/2006/relationships/image" Target="/ppt/media/image18.svg" Id="R120a02ead34d4471" /><Relationship Type="http://schemas.openxmlformats.org/officeDocument/2006/relationships/image" Target="/ppt/media/image22.png" Id="R7b8042679cc74af0" /><Relationship Type="http://schemas.openxmlformats.org/officeDocument/2006/relationships/image" Target="/ppt/media/image19.svg" Id="Rc74af95118b64b85" /><Relationship Type="http://schemas.openxmlformats.org/officeDocument/2006/relationships/image" Target="/ppt/media/image23.png" Id="R7c5e1115d9224ba6" /><Relationship Type="http://schemas.openxmlformats.org/officeDocument/2006/relationships/image" Target="/ppt/media/image20.svg" Id="R579174d9f6854299" /><Relationship Type="http://schemas.openxmlformats.org/officeDocument/2006/relationships/image" Target="/ppt/media/image24.png" Id="R59d1ef7a8cc846d4" /><Relationship Type="http://schemas.openxmlformats.org/officeDocument/2006/relationships/image" Target="/ppt/media/image21.svg" Id="R20298094e708464e" /><Relationship Type="http://schemas.openxmlformats.org/officeDocument/2006/relationships/image" Target="/ppt/media/image25.png" Id="R62ec7216e42e4415" /><Relationship Type="http://schemas.openxmlformats.org/officeDocument/2006/relationships/image" Target="/ppt/media/image22.svg" Id="Rd5c02cc216214dd1" /><Relationship Type="http://schemas.openxmlformats.org/officeDocument/2006/relationships/image" Target="/ppt/media/image26.png" Id="Rc8284b2a504c417a" /><Relationship Type="http://schemas.openxmlformats.org/officeDocument/2006/relationships/image" Target="/ppt/media/image23.svg" Id="R648604faa6074963" /><Relationship Type="http://schemas.openxmlformats.org/officeDocument/2006/relationships/notesSlide" Target="/ppt/notesSlides/notesSlide3.xml" Id="R8478f0fce39e47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0c6d3abe13c4f9d" /><Relationship Type="http://schemas.openxmlformats.org/officeDocument/2006/relationships/image" Target="/ppt/media/image27.png" Id="R8268e2f4b71848ff" /><Relationship Type="http://schemas.openxmlformats.org/officeDocument/2006/relationships/image" Target="/ppt/media/image28.png" Id="R687e0e577cf94e6c" /><Relationship Type="http://schemas.openxmlformats.org/officeDocument/2006/relationships/image" Target="/ppt/media/image24.svg" Id="R2f8944c106954255" /><Relationship Type="http://schemas.openxmlformats.org/officeDocument/2006/relationships/image" Target="/ppt/media/image29.png" Id="R832ef20237df4a44" /><Relationship Type="http://schemas.openxmlformats.org/officeDocument/2006/relationships/image" Target="/ppt/media/image25.svg" Id="Rfccbd49b758244c9" /><Relationship Type="http://schemas.openxmlformats.org/officeDocument/2006/relationships/image" Target="/ppt/media/image30.png" Id="R0aa9b6817de94907" /><Relationship Type="http://schemas.openxmlformats.org/officeDocument/2006/relationships/image" Target="/ppt/media/image26.svg" Id="R3fe034d5e4be4656" /><Relationship Type="http://schemas.openxmlformats.org/officeDocument/2006/relationships/chart" Target="/ppt/slides/charts/chart1.xml" Id="R8a74758c3e9f45b2" /><Relationship Type="http://schemas.openxmlformats.org/officeDocument/2006/relationships/image" Target="/ppt/media/image31.png" Id="R6cdf3679028e43af" /><Relationship Type="http://schemas.openxmlformats.org/officeDocument/2006/relationships/image" Target="/ppt/media/image27.svg" Id="Rcf6c73fba9ce4b81" /><Relationship Type="http://schemas.openxmlformats.org/officeDocument/2006/relationships/image" Target="/ppt/media/image32.png" Id="R953a4580723944ea" /><Relationship Type="http://schemas.openxmlformats.org/officeDocument/2006/relationships/image" Target="/ppt/media/image28.svg" Id="Re6e91460f5394ee8" /><Relationship Type="http://schemas.openxmlformats.org/officeDocument/2006/relationships/image" Target="/ppt/media/image33.png" Id="R2e488341dbbb4274" /><Relationship Type="http://schemas.openxmlformats.org/officeDocument/2006/relationships/image" Target="/ppt/media/image29.svg" Id="R25c3bf3f73ef421b" /><Relationship Type="http://schemas.openxmlformats.org/officeDocument/2006/relationships/image" Target="/ppt/media/image34.png" Id="R2af69380b99b4129" /><Relationship Type="http://schemas.openxmlformats.org/officeDocument/2006/relationships/image" Target="/ppt/media/image30.svg" Id="Rb782bb333a5e4056" /><Relationship Type="http://schemas.openxmlformats.org/officeDocument/2006/relationships/notesSlide" Target="/ppt/notesSlides/notesSlide4.xml" Id="R9c3d09da789048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a7b3b7a7e74fb5" /><Relationship Type="http://schemas.openxmlformats.org/officeDocument/2006/relationships/image" Target="/ppt/media/image35.png" Id="R4a3f476eef0a4b48" /><Relationship Type="http://schemas.openxmlformats.org/officeDocument/2006/relationships/image" Target="/ppt/media/image.jpeg" Id="R537592617ee344f7" /><Relationship Type="http://schemas.openxmlformats.org/officeDocument/2006/relationships/image" Target="/ppt/media/image36.png" Id="R895034a668234741" /><Relationship Type="http://schemas.openxmlformats.org/officeDocument/2006/relationships/image" Target="/ppt/media/image31.svg" Id="R94eac460ff9447c3" /><Relationship Type="http://schemas.openxmlformats.org/officeDocument/2006/relationships/image" Target="/ppt/media/image37.png" Id="R55c141b00f9845f2" /><Relationship Type="http://schemas.openxmlformats.org/officeDocument/2006/relationships/image" Target="/ppt/media/image32.svg" Id="Rcf13e7b037524c35" /><Relationship Type="http://schemas.openxmlformats.org/officeDocument/2006/relationships/image" Target="/ppt/media/image38.png" Id="R906eb548e1424f1c" /><Relationship Type="http://schemas.openxmlformats.org/officeDocument/2006/relationships/image" Target="/ppt/media/image33.svg" Id="Recd3fee55a0d4cb3" /><Relationship Type="http://schemas.openxmlformats.org/officeDocument/2006/relationships/notesSlide" Target="/ppt/notesSlides/notesSlide5.xml" Id="Rc8e3bbb5ae8940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a471d4fee04273" /><Relationship Type="http://schemas.openxmlformats.org/officeDocument/2006/relationships/image" Target="/ppt/media/image39.png" Id="R493036c4185a4f7e" /><Relationship Type="http://schemas.openxmlformats.org/officeDocument/2006/relationships/image" Target="/ppt/media/image40.png" Id="R9b77e6371cbe4624" /><Relationship Type="http://schemas.openxmlformats.org/officeDocument/2006/relationships/image" Target="/ppt/media/image34.svg" Id="R04dc10d488c44176" /><Relationship Type="http://schemas.openxmlformats.org/officeDocument/2006/relationships/image" Target="/ppt/media/image41.png" Id="R2db161535cb54242" /><Relationship Type="http://schemas.openxmlformats.org/officeDocument/2006/relationships/image" Target="/ppt/media/image35.svg" Id="R69ef3d1adb354f6b" /><Relationship Type="http://schemas.openxmlformats.org/officeDocument/2006/relationships/image" Target="/ppt/media/image42.png" Id="R65d1798a2de64143" /><Relationship Type="http://schemas.openxmlformats.org/officeDocument/2006/relationships/image" Target="/ppt/media/image36.svg" Id="R5c483839608e48d0" /><Relationship Type="http://schemas.openxmlformats.org/officeDocument/2006/relationships/image" Target="/ppt/media/image43.png" Id="Rba527e3265924ad5" /><Relationship Type="http://schemas.openxmlformats.org/officeDocument/2006/relationships/image" Target="/ppt/media/image37.svg" Id="R18c0f1288cbd426f" /><Relationship Type="http://schemas.openxmlformats.org/officeDocument/2006/relationships/image" Target="/ppt/media/image44.png" Id="Rba5ba81e4ab44820" /><Relationship Type="http://schemas.openxmlformats.org/officeDocument/2006/relationships/image" Target="/ppt/media/image38.svg" Id="Rcf8940d4320a4765" /><Relationship Type="http://schemas.openxmlformats.org/officeDocument/2006/relationships/notesSlide" Target="/ppt/notesSlides/notesSlide6.xml" Id="Rdec2bf53d1e44c1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varyColors val="0"/>
        <c:ser>
          <c:idx val="0"/>
          <c:order val="0"/>
          <c:tx>
            <c:v>Recall</c:v>
          </c:tx>
          <c:spPr>
            <a:solidFill xmlns:a="http://schemas.openxmlformats.org/drawingml/2006/main">
              <a:srgbClr val="168B83"/>
            </a:solidFill>
          </c:spPr>
          <c:cat>
            <c:strRef>
              <c:f>'Chart Data'!$A$2:$A$3</c:f>
              <c:strCache>
                <c:ptCount val="2"/>
                <c:pt idx="0">
                  <c:v>Baseline</c:v>
                </c:pt>
                <c:pt idx="1">
                  <c:v>SkyGuard</c:v>
                </c:pt>
              </c:strCache>
            </c:strRef>
          </c:cat>
          <c:val>
            <c:numRef>
              <c:f>'Chart Data'!$B$2:$B$3</c:f>
              <c:numCache>
                <c:formatCode>General</c:formatCode>
                <c:ptCount val="2"/>
                <c:pt idx="0">
                  <c:v>77.47</c:v>
                </c:pt>
                <c:pt idx="1">
                  <c:v>85.76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3E4AC0A-DFED-4914-82EC-3E8AE259A159}"/>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597C1333-B8DB-4A89-8A66-0F08E7E10B7F}"/>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SKYGUARD</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7171554051c47ea"/>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62E16C8-1727-4D52-A411-23B1399516FF}"/>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9690BDCC-1EB9-4857-A05A-E3C2C8FF919C}"/>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6" name="">
            <a:extLst xmlns:a="http://schemas.openxmlformats.org/drawingml/2006/main">
              <a:ext uri="{FF2B5EF4-FFF2-40B4-BE49-F238E27FC236}">
                <a16:creationId xmlns:a16="http://schemas.microsoft.com/office/drawing/2014/main" id="{47B6243A-7C10-4298-BCAD-3289B3157378}"/>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7" name="">
            <a:extLst xmlns:a="http://schemas.openxmlformats.org/drawingml/2006/main">
              <a:ext uri="{FF2B5EF4-FFF2-40B4-BE49-F238E27FC236}">
                <a16:creationId xmlns:a16="http://schemas.microsoft.com/office/drawing/2014/main" id="{6B976FD7-844A-41F6-9225-AF0F09EE18B1}"/>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9EC16EE5-C46A-4AF1-9FE5-12711866C9CB}"/>
              </a:ext>
            </a:extLst>
          </p:cNvPr>
          <p:cNvSpPr>
            <a:spLocks xmlns:a="http://schemas.openxmlformats.org/drawingml/2006/main" noGrp="1"/>
          </p:cNvSpPr>
          <p:nvPr/>
        </p:nvSpPr>
        <p:spPr>
          <a:xfrm xmlns:a="http://schemas.openxmlformats.org/drawingml/2006/main">
            <a:off x="514350" y="1562100"/>
            <a:ext cx="7239000" cy="11906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3675" b="1">
                <a:solidFill>
                  <a:srgbClr val="17324D"/>
                </a:solidFill>
                <a:latin typeface="Arial"/>
                <a:ea typeface="Arial"/>
                <a:cs typeface="Arial"/>
              </a:defRPr>
            </a:pPr>
            <a:r>
              <a:rPr sz="3675" b="1">
                <a:solidFill>
                  <a:srgbClr val="17324D"/>
                </a:solidFill>
                <a:latin typeface="Arial"/>
                <a:ea typeface="Arial"/>
                <a:cs typeface="Arial"/>
              </a:rPr>
              <a:t>Understanding unusual</a:t>
            </a:r>
          </a:p>
          <a:p xmlns:a="http://schemas.openxmlformats.org/drawingml/2006/main">
            <a:pPr algn="l">
              <a:defRPr sz="3675" b="1">
                <a:solidFill>
                  <a:srgbClr val="17324D"/>
                </a:solidFill>
                <a:latin typeface="Arial"/>
                <a:ea typeface="Arial"/>
                <a:cs typeface="Arial"/>
              </a:defRPr>
            </a:pPr>
            <a:r>
              <a:rPr sz="3675" b="1">
                <a:solidFill>
                  <a:srgbClr val="17324D"/>
                </a:solidFill>
                <a:latin typeface="Arial"/>
                <a:ea typeface="Arial"/>
                <a:cs typeface="Arial"/>
              </a:rPr>
              <a:t>weather readings</a:t>
            </a:r>
          </a:p>
        </p:txBody>
      </p:sp>
      <p:sp>
        <p:nvSpPr>
          <p:cNvPr id="9" name="">
            <a:extLst xmlns:a="http://schemas.openxmlformats.org/drawingml/2006/main">
              <a:ext uri="{FF2B5EF4-FFF2-40B4-BE49-F238E27FC236}">
                <a16:creationId xmlns:a16="http://schemas.microsoft.com/office/drawing/2014/main" id="{40703220-0BD9-4A2E-B64C-4BE8482FA4FC}"/>
              </a:ext>
            </a:extLst>
          </p:cNvPr>
          <p:cNvSpPr>
            <a:spLocks xmlns:a="http://schemas.openxmlformats.org/drawingml/2006/main" noGrp="1"/>
          </p:cNvSpPr>
          <p:nvPr/>
        </p:nvSpPr>
        <p:spPr>
          <a:xfrm xmlns:a="http://schemas.openxmlformats.org/drawingml/2006/main">
            <a:off x="542925" y="3038475"/>
            <a:ext cx="7143750" cy="7239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67B"/>
                </a:solidFill>
                <a:latin typeface="Arial"/>
                <a:ea typeface="Arial"/>
                <a:cs typeface="Arial"/>
              </a:defRPr>
            </a:pPr>
            <a:r>
              <a:rPr sz="1950" b="0">
                <a:solidFill>
                  <a:srgbClr val="52667B"/>
                </a:solidFill>
                <a:latin typeface="Arial"/>
                <a:ea typeface="Arial"/>
                <a:cs typeface="Arial"/>
              </a:rPr>
              <a:t>AI/ML-Based Intelligent Anomaly Detection</a:t>
            </a:r>
          </a:p>
          <a:p xmlns:a="http://schemas.openxmlformats.org/drawingml/2006/main">
            <a:pPr algn="l">
              <a:defRPr sz="1950" b="0">
                <a:solidFill>
                  <a:srgbClr val="52667B"/>
                </a:solidFill>
                <a:latin typeface="Arial"/>
                <a:ea typeface="Arial"/>
                <a:cs typeface="Arial"/>
              </a:defRPr>
            </a:pPr>
            <a:r>
              <a:rPr sz="1950" b="0">
                <a:solidFill>
                  <a:srgbClr val="52667B"/>
                </a:solidFill>
                <a:latin typeface="Arial"/>
                <a:ea typeface="Arial"/>
                <a:cs typeface="Arial"/>
              </a:rPr>
              <a:t>for Automatic Weather Stations (AWS)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bbae267de3e4bd5">
            <a:extLst>
              <a:ext uri="{96DAC541-7B7A-43D3-8B79-37D633B846F1}">
                <asvg:svgBlip xmlns:asvg="http://schemas.microsoft.com/office/drawing/2016/SVG/main" r:embed="Rbe17489bcf744972"/>
              </a:ext>
            </a:extLst>
          </a:blip>
          <a:stretch xmlns:a="http://schemas.openxmlformats.org/drawingml/2006/main"/>
        </p:blipFill>
        <p:spPr>
          <a:xfrm xmlns:a="http://schemas.openxmlformats.org/drawingml/2006/main">
            <a:off x="9201150" y="1724025"/>
            <a:ext cx="1619250" cy="1619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D346DD26-4F92-453A-919B-B8F5CD2F3762}"/>
              </a:ext>
            </a:extLst>
          </p:cNvPr>
          <p:cNvSpPr>
            <a:spLocks xmlns:a="http://schemas.openxmlformats.org/drawingml/2006/main" noGrp="1"/>
          </p:cNvSpPr>
          <p:nvPr/>
        </p:nvSpPr>
        <p:spPr>
          <a:xfrm xmlns:a="http://schemas.openxmlformats.org/drawingml/2006/main">
            <a:off x="514350" y="4410075"/>
            <a:ext cx="1809750"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Temperature</a:t>
            </a:r>
          </a:p>
        </p:txBody>
      </p:sp>
      <p:sp>
        <p:nvSpPr>
          <p:cNvPr id="12" name="">
            <a:extLst xmlns:a="http://schemas.openxmlformats.org/drawingml/2006/main">
              <a:ext uri="{FF2B5EF4-FFF2-40B4-BE49-F238E27FC236}">
                <a16:creationId xmlns:a16="http://schemas.microsoft.com/office/drawing/2014/main" id="{9C1A3826-4B3B-42AA-92E4-F33F84F8DE57}"/>
              </a:ext>
            </a:extLst>
          </p:cNvPr>
          <p:cNvSpPr>
            <a:spLocks xmlns:a="http://schemas.openxmlformats.org/drawingml/2006/main" noGrp="1"/>
          </p:cNvSpPr>
          <p:nvPr/>
        </p:nvSpPr>
        <p:spPr>
          <a:xfrm xmlns:a="http://schemas.openxmlformats.org/drawingml/2006/main">
            <a:off x="2781300" y="4410075"/>
            <a:ext cx="1809750"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Pressure</a:t>
            </a:r>
          </a:p>
        </p:txBody>
      </p:sp>
      <p:sp>
        <p:nvSpPr>
          <p:cNvPr id="13" name="">
            <a:extLst xmlns:a="http://schemas.openxmlformats.org/drawingml/2006/main">
              <a:ext uri="{FF2B5EF4-FFF2-40B4-BE49-F238E27FC236}">
                <a16:creationId xmlns:a16="http://schemas.microsoft.com/office/drawing/2014/main" id="{7EB2CFA6-75A3-4056-B4F0-051F90581024}"/>
              </a:ext>
            </a:extLst>
          </p:cNvPr>
          <p:cNvSpPr>
            <a:spLocks xmlns:a="http://schemas.openxmlformats.org/drawingml/2006/main" noGrp="1"/>
          </p:cNvSpPr>
          <p:nvPr/>
        </p:nvSpPr>
        <p:spPr>
          <a:xfrm xmlns:a="http://schemas.openxmlformats.org/drawingml/2006/main">
            <a:off x="5048250" y="4410075"/>
            <a:ext cx="1809750" cy="3238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Humidity</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b543aeae6df442a2">
            <a:extLst>
              <a:ext uri="{96DAC541-7B7A-43D3-8B79-37D633B846F1}">
                <asvg:svgBlip xmlns:asvg="http://schemas.microsoft.com/office/drawing/2016/SVG/main" r:embed="R114e356d81964c62"/>
              </a:ext>
            </a:extLst>
          </a:blip>
          <a:stretch xmlns:a="http://schemas.openxmlformats.org/drawingml/2006/main"/>
        </p:blipFill>
        <p:spPr>
          <a:xfrm xmlns:a="http://schemas.openxmlformats.org/drawingml/2006/main">
            <a:off x="514350" y="3943350"/>
            <a:ext cx="314325" cy="314325"/>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47e9c21cbf6341c8">
            <a:extLst>
              <a:ext uri="{96DAC541-7B7A-43D3-8B79-37D633B846F1}">
                <asvg:svgBlip xmlns:asvg="http://schemas.microsoft.com/office/drawing/2016/SVG/main" r:embed="R544968ab15c1428a"/>
              </a:ext>
            </a:extLst>
          </a:blip>
          <a:stretch xmlns:a="http://schemas.openxmlformats.org/drawingml/2006/main"/>
        </p:blipFill>
        <p:spPr>
          <a:xfrm xmlns:a="http://schemas.openxmlformats.org/drawingml/2006/main">
            <a:off x="2781300" y="3943350"/>
            <a:ext cx="314325" cy="31432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6cb88f1c4d24425">
            <a:extLst>
              <a:ext uri="{96DAC541-7B7A-43D3-8B79-37D633B846F1}">
                <asvg:svgBlip xmlns:asvg="http://schemas.microsoft.com/office/drawing/2016/SVG/main" r:embed="Rc42acc3ccba04413"/>
              </a:ext>
            </a:extLst>
          </a:blip>
          <a:stretch xmlns:a="http://schemas.openxmlformats.org/drawingml/2006/main"/>
        </p:blipFill>
        <p:spPr>
          <a:xfrm xmlns:a="http://schemas.openxmlformats.org/drawingml/2006/main">
            <a:off x="5048250" y="3943350"/>
            <a:ext cx="314325" cy="31432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1C757B93-A244-4B81-9776-C06030E7916F}"/>
              </a:ext>
            </a:extLst>
          </p:cNvPr>
          <p:cNvSpPr>
            <a:spLocks xmlns:a="http://schemas.openxmlformats.org/drawingml/2006/main" noGrp="1"/>
          </p:cNvSpPr>
          <p:nvPr/>
        </p:nvSpPr>
        <p:spPr>
          <a:xfrm xmlns:a="http://schemas.openxmlformats.org/drawingml/2006/main">
            <a:off x="514350" y="5286375"/>
            <a:ext cx="2238375" cy="3619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68B83"/>
                </a:solidFill>
                <a:latin typeface="Arial"/>
                <a:ea typeface="Arial"/>
                <a:cs typeface="Arial"/>
              </a:defRPr>
            </a:pPr>
            <a:r>
              <a:rPr sz="2175" b="1">
                <a:solidFill>
                  <a:srgbClr val="168B83"/>
                </a:solidFill>
                <a:latin typeface="Arial"/>
                <a:ea typeface="Arial"/>
                <a:cs typeface="Arial"/>
              </a:rPr>
              <a:t>SIH26073</a:t>
            </a:r>
          </a:p>
        </p:txBody>
      </p:sp>
      <p:sp>
        <p:nvSpPr>
          <p:cNvPr id="18" name="">
            <a:extLst xmlns:a="http://schemas.openxmlformats.org/drawingml/2006/main">
              <a:ext uri="{FF2B5EF4-FFF2-40B4-BE49-F238E27FC236}">
                <a16:creationId xmlns:a16="http://schemas.microsoft.com/office/drawing/2014/main" id="{6542D813-5532-4F9E-85B9-3D68FE78BE55}"/>
              </a:ext>
            </a:extLst>
          </p:cNvPr>
          <p:cNvSpPr>
            <a:spLocks xmlns:a="http://schemas.openxmlformats.org/drawingml/2006/main" noGrp="1"/>
          </p:cNvSpPr>
          <p:nvPr/>
        </p:nvSpPr>
        <p:spPr>
          <a:xfrm xmlns:a="http://schemas.openxmlformats.org/drawingml/2006/main">
            <a:off x="514350" y="5791200"/>
            <a:ext cx="6477000" cy="5524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Disaster Management / Software</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OFF BY ONE / Team ID 132195</a:t>
            </a:r>
          </a:p>
        </p:txBody>
      </p:sp>
      <p:sp>
        <p:nvSpPr>
          <p:cNvPr id="19" name="">
            <a:extLst xmlns:a="http://schemas.openxmlformats.org/drawingml/2006/main">
              <a:ext uri="{FF2B5EF4-FFF2-40B4-BE49-F238E27FC236}">
                <a16:creationId xmlns:a16="http://schemas.microsoft.com/office/drawing/2014/main" id="{7FB4A02A-A29B-4D26-B38E-BBB69D4E464B}"/>
              </a:ext>
            </a:extLst>
          </p:cNvPr>
          <p:cNvSpPr>
            <a:spLocks xmlns:a="http://schemas.openxmlformats.org/drawingml/2006/main" noGrp="1"/>
          </p:cNvSpPr>
          <p:nvPr/>
        </p:nvSpPr>
        <p:spPr>
          <a:xfrm xmlns:a="http://schemas.openxmlformats.org/drawingml/2006/main">
            <a:off x="8629650" y="4210050"/>
            <a:ext cx="2952750" cy="7905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1">
                <a:solidFill>
                  <a:srgbClr val="17324D"/>
                </a:solidFill>
                <a:latin typeface="Arial"/>
                <a:ea typeface="Arial"/>
                <a:cs typeface="Arial"/>
              </a:defRPr>
            </a:pPr>
            <a:r>
              <a:rPr sz="1875" b="1">
                <a:solidFill>
                  <a:srgbClr val="17324D"/>
                </a:solidFill>
                <a:latin typeface="Arial"/>
                <a:ea typeface="Arial"/>
                <a:cs typeface="Arial"/>
              </a:rPr>
              <a:t>A working prototype</a:t>
            </a:r>
          </a:p>
          <a:p xmlns:a="http://schemas.openxmlformats.org/drawingml/2006/main">
            <a:pPr algn="ctr">
              <a:defRPr sz="1875" b="1">
                <a:solidFill>
                  <a:srgbClr val="17324D"/>
                </a:solidFill>
                <a:latin typeface="Arial"/>
                <a:ea typeface="Arial"/>
                <a:cs typeface="Arial"/>
              </a:defRPr>
            </a:pPr>
            <a:r>
              <a:rPr sz="1875" b="1">
                <a:solidFill>
                  <a:srgbClr val="17324D"/>
                </a:solidFill>
                <a:latin typeface="Arial"/>
                <a:ea typeface="Arial"/>
                <a:cs typeface="Arial"/>
              </a:rPr>
              <a:t>500 simulated stations</a:t>
            </a:r>
          </a:p>
        </p:txBody>
      </p:sp>
    </p:spTree>
    <p:extLst>
      <p:ext uri="{BB962C8B-B14F-4D97-AF65-F5344CB8AC3E}">
        <p14:creationId xmlns:p14="http://schemas.microsoft.com/office/powerpoint/2010/main" val="150086239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25B32E25-6D53-4DBB-933C-2E32338F9EB6}"/>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2A521F6C-BF90-43A0-9F7C-D65BAD5F6279}"/>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PROPOSED SOLUTION</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323fd1e092264f86"/>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DBEEEC2-A206-4A33-868F-B9F127FBB475}"/>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3CBEF2FE-43DA-4FBD-BA9C-A570D477987A}"/>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An unusual reading needs an explanation before an operator can act.</a:t>
            </a:r>
          </a:p>
        </p:txBody>
      </p:sp>
      <p:sp>
        <p:nvSpPr>
          <p:cNvPr id="6" name="">
            <a:extLst xmlns:a="http://schemas.openxmlformats.org/drawingml/2006/main">
              <a:ext uri="{FF2B5EF4-FFF2-40B4-BE49-F238E27FC236}">
                <a16:creationId xmlns:a16="http://schemas.microsoft.com/office/drawing/2014/main" id="{7B0742F0-0013-49DE-A739-92D5D9C16588}"/>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B58849FD-A0E2-4EF3-B14E-35EC16ACBD50}"/>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189A6A93-D65F-4F34-9926-40A471287DC2}"/>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6E4B0E24-48BA-4C88-A512-F5B848092672}"/>
              </a:ext>
            </a:extLst>
          </p:cNvPr>
          <p:cNvSpPr>
            <a:spLocks xmlns:a="http://schemas.openxmlformats.org/drawingml/2006/main" noGrp="1"/>
          </p:cNvSpPr>
          <p:nvPr/>
        </p:nvSpPr>
        <p:spPr>
          <a:xfrm xmlns:a="http://schemas.openxmlformats.org/drawingml/2006/main">
            <a:off x="419100" y="2390775"/>
            <a:ext cx="2209800" cy="2628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15240">
            <a:solidFill>
              <a:srgbClr val="193C56"/>
            </a:solidFill>
          </a:ln>
        </p:spPr>
      </p:sp>
      <p:sp>
        <p:nvSpPr>
          <p:cNvPr id="10" name="">
            <a:extLst xmlns:a="http://schemas.openxmlformats.org/drawingml/2006/main">
              <a:ext uri="{FF2B5EF4-FFF2-40B4-BE49-F238E27FC236}">
                <a16:creationId xmlns:a16="http://schemas.microsoft.com/office/drawing/2014/main" id="{BA18B182-876D-4FAA-9050-E62C5A9EB06C}"/>
              </a:ext>
            </a:extLst>
          </p:cNvPr>
          <p:cNvSpPr>
            <a:spLocks xmlns:a="http://schemas.openxmlformats.org/drawingml/2006/main" noGrp="1"/>
          </p:cNvSpPr>
          <p:nvPr/>
        </p:nvSpPr>
        <p:spPr>
          <a:xfrm xmlns:a="http://schemas.openxmlformats.org/drawingml/2006/main">
            <a:off x="514350" y="2486025"/>
            <a:ext cx="2019300" cy="361950"/>
          </a:xfrm>
          <a:prstGeom xmlns:a="http://schemas.openxmlformats.org/drawingml/2006/main" prst="roundRect">
            <a:avLst>
              <a:gd name="adj" fmla="val 42105"/>
            </a:avLst>
          </a:prstGeom>
          <a:solidFill xmlns:a="http://schemas.openxmlformats.org/drawingml/2006/main">
            <a:srgbClr val="FFF7E6"/>
          </a:solidFill>
          <a:ln xmlns:a="http://schemas.openxmlformats.org/drawingml/2006/main" w="15240">
            <a:noFill/>
          </a:ln>
        </p:spPr>
      </p:sp>
      <p:sp>
        <p:nvSpPr>
          <p:cNvPr id="11" name="">
            <a:extLst xmlns:a="http://schemas.openxmlformats.org/drawingml/2006/main">
              <a:ext uri="{FF2B5EF4-FFF2-40B4-BE49-F238E27FC236}">
                <a16:creationId xmlns:a16="http://schemas.microsoft.com/office/drawing/2014/main" id="{146767B5-5DD0-477A-ADC6-7CA8F8A7B52F}"/>
              </a:ext>
            </a:extLst>
          </p:cNvPr>
          <p:cNvSpPr>
            <a:spLocks xmlns:a="http://schemas.openxmlformats.org/drawingml/2006/main" noGrp="1"/>
          </p:cNvSpPr>
          <p:nvPr/>
        </p:nvSpPr>
        <p:spPr>
          <a:xfrm xmlns:a="http://schemas.openxmlformats.org/drawingml/2006/main">
            <a:off x="609600" y="2552700"/>
            <a:ext cx="18288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AWS reading</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116d3386fff145e4">
            <a:extLst>
              <a:ext uri="{96DAC541-7B7A-43D3-8B79-37D633B846F1}">
                <asvg:svgBlip xmlns:asvg="http://schemas.microsoft.com/office/drawing/2016/SVG/main" r:embed="R6b2ee36651234e54"/>
              </a:ext>
            </a:extLst>
          </a:blip>
          <a:stretch xmlns:a="http://schemas.openxmlformats.org/drawingml/2006/main"/>
        </p:blipFill>
        <p:spPr>
          <a:xfrm xmlns:a="http://schemas.openxmlformats.org/drawingml/2006/main">
            <a:off x="1266825" y="2981325"/>
            <a:ext cx="514350" cy="5143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A9F69CC-7EEA-4DC1-A6D1-ACBEDFC8875A}"/>
              </a:ext>
            </a:extLst>
          </p:cNvPr>
          <p:cNvSpPr>
            <a:spLocks xmlns:a="http://schemas.openxmlformats.org/drawingml/2006/main" noGrp="1"/>
          </p:cNvSpPr>
          <p:nvPr/>
        </p:nvSpPr>
        <p:spPr>
          <a:xfrm xmlns:a="http://schemas.openxmlformats.org/drawingml/2006/main">
            <a:off x="590550" y="3629025"/>
            <a:ext cx="1866900" cy="13144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Noisy, missing or</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unusually high / low</a:t>
            </a:r>
          </a:p>
        </p:txBody>
      </p:sp>
      <p:sp>
        <p:nvSpPr>
          <p:cNvPr id="14" name="">
            <a:extLst xmlns:a="http://schemas.openxmlformats.org/drawingml/2006/main">
              <a:ext uri="{FF2B5EF4-FFF2-40B4-BE49-F238E27FC236}">
                <a16:creationId xmlns:a16="http://schemas.microsoft.com/office/drawing/2014/main" id="{FD07FB7C-E374-4D35-8DE9-A6057A754BAA}"/>
              </a:ext>
            </a:extLst>
          </p:cNvPr>
          <p:cNvSpPr>
            <a:spLocks xmlns:a="http://schemas.openxmlformats.org/drawingml/2006/main" noGrp="1"/>
          </p:cNvSpPr>
          <p:nvPr/>
        </p:nvSpPr>
        <p:spPr>
          <a:xfrm xmlns:a="http://schemas.openxmlformats.org/drawingml/2006/main">
            <a:off x="3257550" y="1762125"/>
            <a:ext cx="2571750" cy="1828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5240">
            <a:solidFill>
              <a:srgbClr val="168B83"/>
            </a:solidFill>
          </a:ln>
        </p:spPr>
      </p:sp>
      <p:sp>
        <p:nvSpPr>
          <p:cNvPr id="15" name="">
            <a:extLst xmlns:a="http://schemas.openxmlformats.org/drawingml/2006/main">
              <a:ext uri="{FF2B5EF4-FFF2-40B4-BE49-F238E27FC236}">
                <a16:creationId xmlns:a16="http://schemas.microsoft.com/office/drawing/2014/main" id="{AEB7AAFC-E4A7-4777-BE5C-2993D3B8B438}"/>
              </a:ext>
            </a:extLst>
          </p:cNvPr>
          <p:cNvSpPr>
            <a:spLocks xmlns:a="http://schemas.openxmlformats.org/drawingml/2006/main" noGrp="1"/>
          </p:cNvSpPr>
          <p:nvPr/>
        </p:nvSpPr>
        <p:spPr>
          <a:xfrm xmlns:a="http://schemas.openxmlformats.org/drawingml/2006/main">
            <a:off x="3352800" y="1857375"/>
            <a:ext cx="23812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16" name="">
            <a:extLst xmlns:a="http://schemas.openxmlformats.org/drawingml/2006/main">
              <a:ext uri="{FF2B5EF4-FFF2-40B4-BE49-F238E27FC236}">
                <a16:creationId xmlns:a16="http://schemas.microsoft.com/office/drawing/2014/main" id="{FAA0007F-7E6F-4D00-9708-2C25344DC71B}"/>
              </a:ext>
            </a:extLst>
          </p:cNvPr>
          <p:cNvSpPr>
            <a:spLocks xmlns:a="http://schemas.openxmlformats.org/drawingml/2006/main" noGrp="1"/>
          </p:cNvSpPr>
          <p:nvPr/>
        </p:nvSpPr>
        <p:spPr>
          <a:xfrm xmlns:a="http://schemas.openxmlformats.org/drawingml/2006/main">
            <a:off x="3448050" y="1924050"/>
            <a:ext cx="21907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Station history</a:t>
            </a:r>
          </a:p>
        </p:txBody>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2803d3053c7347db">
            <a:extLst>
              <a:ext uri="{96DAC541-7B7A-43D3-8B79-37D633B846F1}">
                <asvg:svgBlip xmlns:asvg="http://schemas.microsoft.com/office/drawing/2016/SVG/main" r:embed="R6af4429224a34a7f"/>
              </a:ext>
            </a:extLst>
          </a:blip>
          <a:stretch xmlns:a="http://schemas.openxmlformats.org/drawingml/2006/main"/>
        </p:blipFill>
        <p:spPr>
          <a:xfrm xmlns:a="http://schemas.openxmlformats.org/drawingml/2006/main">
            <a:off x="4286250" y="2352675"/>
            <a:ext cx="514350" cy="5143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F8925BEB-FB41-4672-BC99-45538D2BBAFF}"/>
              </a:ext>
            </a:extLst>
          </p:cNvPr>
          <p:cNvSpPr>
            <a:spLocks xmlns:a="http://schemas.openxmlformats.org/drawingml/2006/main" noGrp="1"/>
          </p:cNvSpPr>
          <p:nvPr/>
        </p:nvSpPr>
        <p:spPr>
          <a:xfrm xmlns:a="http://schemas.openxmlformats.org/drawingml/2006/main">
            <a:off x="3429000" y="3000375"/>
            <a:ext cx="2228850" cy="5143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Spikes, drift and stuck values</a:t>
            </a:r>
          </a:p>
        </p:txBody>
      </p:sp>
      <p:sp>
        <p:nvSpPr>
          <p:cNvPr id="19" name="">
            <a:extLst xmlns:a="http://schemas.openxmlformats.org/drawingml/2006/main">
              <a:ext uri="{FF2B5EF4-FFF2-40B4-BE49-F238E27FC236}">
                <a16:creationId xmlns:a16="http://schemas.microsoft.com/office/drawing/2014/main" id="{CA2097FB-34E0-4C18-9068-785B9012DC81}"/>
              </a:ext>
            </a:extLst>
          </p:cNvPr>
          <p:cNvSpPr>
            <a:spLocks xmlns:a="http://schemas.openxmlformats.org/drawingml/2006/main" noGrp="1"/>
          </p:cNvSpPr>
          <p:nvPr/>
        </p:nvSpPr>
        <p:spPr>
          <a:xfrm xmlns:a="http://schemas.openxmlformats.org/drawingml/2006/main">
            <a:off x="3257550" y="4029075"/>
            <a:ext cx="2571750" cy="1828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5240">
            <a:solidFill>
              <a:srgbClr val="168B83"/>
            </a:solidFill>
          </a:ln>
        </p:spPr>
      </p:sp>
      <p:sp>
        <p:nvSpPr>
          <p:cNvPr id="20" name="">
            <a:extLst xmlns:a="http://schemas.openxmlformats.org/drawingml/2006/main">
              <a:ext uri="{FF2B5EF4-FFF2-40B4-BE49-F238E27FC236}">
                <a16:creationId xmlns:a16="http://schemas.microsoft.com/office/drawing/2014/main" id="{78AE3096-A7B4-45BF-81F7-0F88422B3632}"/>
              </a:ext>
            </a:extLst>
          </p:cNvPr>
          <p:cNvSpPr>
            <a:spLocks xmlns:a="http://schemas.openxmlformats.org/drawingml/2006/main" noGrp="1"/>
          </p:cNvSpPr>
          <p:nvPr/>
        </p:nvSpPr>
        <p:spPr>
          <a:xfrm xmlns:a="http://schemas.openxmlformats.org/drawingml/2006/main">
            <a:off x="3352800" y="4124325"/>
            <a:ext cx="23812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21" name="">
            <a:extLst xmlns:a="http://schemas.openxmlformats.org/drawingml/2006/main">
              <a:ext uri="{FF2B5EF4-FFF2-40B4-BE49-F238E27FC236}">
                <a16:creationId xmlns:a16="http://schemas.microsoft.com/office/drawing/2014/main" id="{EC13F269-9254-42A5-90AB-DC79FC35E043}"/>
              </a:ext>
            </a:extLst>
          </p:cNvPr>
          <p:cNvSpPr>
            <a:spLocks xmlns:a="http://schemas.openxmlformats.org/drawingml/2006/main" noGrp="1"/>
          </p:cNvSpPr>
          <p:nvPr/>
        </p:nvSpPr>
        <p:spPr>
          <a:xfrm xmlns:a="http://schemas.openxmlformats.org/drawingml/2006/main">
            <a:off x="3448050" y="4191000"/>
            <a:ext cx="21907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Virtual Buddy</a:t>
            </a:r>
          </a:p>
        </p:txBody>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bc82c3aed2af490b">
            <a:extLst>
              <a:ext uri="{96DAC541-7B7A-43D3-8B79-37D633B846F1}">
                <asvg:svgBlip xmlns:asvg="http://schemas.microsoft.com/office/drawing/2016/SVG/main" r:embed="Rb0012f8275544494"/>
              </a:ext>
            </a:extLst>
          </a:blip>
          <a:stretch xmlns:a="http://schemas.openxmlformats.org/drawingml/2006/main"/>
        </p:blipFill>
        <p:spPr>
          <a:xfrm xmlns:a="http://schemas.openxmlformats.org/drawingml/2006/main">
            <a:off x="4286250" y="4619625"/>
            <a:ext cx="514350" cy="5143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F62FAF3D-FDE1-435E-BA65-E726102BE777}"/>
              </a:ext>
            </a:extLst>
          </p:cNvPr>
          <p:cNvSpPr>
            <a:spLocks xmlns:a="http://schemas.openxmlformats.org/drawingml/2006/main" noGrp="1"/>
          </p:cNvSpPr>
          <p:nvPr/>
        </p:nvSpPr>
        <p:spPr>
          <a:xfrm xmlns:a="http://schemas.openxmlformats.org/drawingml/2006/main">
            <a:off x="3429000" y="5267325"/>
            <a:ext cx="2228850" cy="5143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Trusted nearby stations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add weather context</a:t>
            </a:r>
          </a:p>
        </p:txBody>
      </p:sp>
      <p:sp>
        <p:nvSpPr>
          <p:cNvPr id="24" name="">
            <a:extLst xmlns:a="http://schemas.openxmlformats.org/drawingml/2006/main">
              <a:ext uri="{FF2B5EF4-FFF2-40B4-BE49-F238E27FC236}">
                <a16:creationId xmlns:a16="http://schemas.microsoft.com/office/drawing/2014/main" id="{495CC2AB-45DD-450C-A4D7-4CAF2D97E0CD}"/>
              </a:ext>
            </a:extLst>
          </p:cNvPr>
          <p:cNvSpPr>
            <a:spLocks xmlns:a="http://schemas.openxmlformats.org/drawingml/2006/main" noGrp="1"/>
          </p:cNvSpPr>
          <p:nvPr/>
        </p:nvSpPr>
        <p:spPr>
          <a:xfrm xmlns:a="http://schemas.openxmlformats.org/drawingml/2006/main">
            <a:off x="6448425" y="2686050"/>
            <a:ext cx="2419350" cy="2447925"/>
          </a:xfrm>
          <a:prstGeom xmlns:a="http://schemas.openxmlformats.org/drawingml/2006/main" prst="roundRect">
            <a:avLst>
              <a:gd name="adj" fmla="val 6299"/>
            </a:avLst>
          </a:prstGeom>
          <a:solidFill xmlns:a="http://schemas.openxmlformats.org/drawingml/2006/main">
            <a:srgbClr val="FFFFFF"/>
          </a:solidFill>
          <a:ln xmlns:a="http://schemas.openxmlformats.org/drawingml/2006/main" w="15240">
            <a:solidFill>
              <a:srgbClr val="168B83"/>
            </a:solidFill>
          </a:ln>
        </p:spPr>
      </p:sp>
      <p:sp>
        <p:nvSpPr>
          <p:cNvPr id="25" name="">
            <a:extLst xmlns:a="http://schemas.openxmlformats.org/drawingml/2006/main">
              <a:ext uri="{FF2B5EF4-FFF2-40B4-BE49-F238E27FC236}">
                <a16:creationId xmlns:a16="http://schemas.microsoft.com/office/drawing/2014/main" id="{F153C768-5D3D-477A-BDC3-2AF843B73FF7}"/>
              </a:ext>
            </a:extLst>
          </p:cNvPr>
          <p:cNvSpPr>
            <a:spLocks xmlns:a="http://schemas.openxmlformats.org/drawingml/2006/main" noGrp="1"/>
          </p:cNvSpPr>
          <p:nvPr/>
        </p:nvSpPr>
        <p:spPr>
          <a:xfrm xmlns:a="http://schemas.openxmlformats.org/drawingml/2006/main">
            <a:off x="6543675" y="2781300"/>
            <a:ext cx="22288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26" name="">
            <a:extLst xmlns:a="http://schemas.openxmlformats.org/drawingml/2006/main">
              <a:ext uri="{FF2B5EF4-FFF2-40B4-BE49-F238E27FC236}">
                <a16:creationId xmlns:a16="http://schemas.microsoft.com/office/drawing/2014/main" id="{6605F042-2FC3-47FC-AB21-900792952E74}"/>
              </a:ext>
            </a:extLst>
          </p:cNvPr>
          <p:cNvSpPr>
            <a:spLocks xmlns:a="http://schemas.openxmlformats.org/drawingml/2006/main" noGrp="1"/>
          </p:cNvSpPr>
          <p:nvPr/>
        </p:nvSpPr>
        <p:spPr>
          <a:xfrm xmlns:a="http://schemas.openxmlformats.org/drawingml/2006/main">
            <a:off x="6638925" y="2847975"/>
            <a:ext cx="20383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Evidence fusion</a:t>
            </a:r>
          </a:p>
        </p:txBody>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310bdb2a3ccc4fed">
            <a:extLst>
              <a:ext uri="{96DAC541-7B7A-43D3-8B79-37D633B846F1}">
                <asvg:svgBlip xmlns:asvg="http://schemas.microsoft.com/office/drawing/2016/SVG/main" r:embed="R709e12f950594da5"/>
              </a:ext>
            </a:extLst>
          </a:blip>
          <a:stretch xmlns:a="http://schemas.openxmlformats.org/drawingml/2006/main"/>
        </p:blipFill>
        <p:spPr>
          <a:xfrm xmlns:a="http://schemas.openxmlformats.org/drawingml/2006/main">
            <a:off x="7400925" y="3276600"/>
            <a:ext cx="514350" cy="51435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430F8393-DCD6-4FA6-BD2C-09FAE48EDFCF}"/>
              </a:ext>
            </a:extLst>
          </p:cNvPr>
          <p:cNvSpPr>
            <a:spLocks xmlns:a="http://schemas.openxmlformats.org/drawingml/2006/main" noGrp="1"/>
          </p:cNvSpPr>
          <p:nvPr/>
        </p:nvSpPr>
        <p:spPr>
          <a:xfrm xmlns:a="http://schemas.openxmlformats.org/drawingml/2006/main">
            <a:off x="6619875" y="3924300"/>
            <a:ext cx="2076450" cy="11334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Combine history, ML and</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physical consistency</a:t>
            </a:r>
          </a:p>
        </p:txBody>
      </p:sp>
      <p:cxnSp>
        <p:nvCxnSpPr>
          <p:cNvPr id="77" name=""/>
          <p:cNvCxnSpPr>
            <a:stCxn xmlns:a="http://schemas.openxmlformats.org/drawingml/2006/main" id="9" idx="3"/>
            <a:endCxn xmlns:a="http://schemas.openxmlformats.org/drawingml/2006/main" id="14" idx="1"/>
          </p:cNvCxnSpPr>
          <p:nvPr/>
        </p:nvCxnSpPr>
        <p:spPr>
          <a:xfrm xmlns:a="http://schemas.openxmlformats.org/drawingml/2006/main" flipV="1">
            <a:off x="2628900" y="2676525"/>
            <a:ext cx="628650" cy="1028700"/>
          </a:xfrm>
          <a:prstGeom xmlns:a="http://schemas.openxmlformats.org/drawingml/2006/main" prst="bentConnector3">
            <a:avLst>
              <a:gd name="adj1" fmla="val 50000"/>
            </a:avLst>
          </a:prstGeom>
          <a:ln xmlns:a="http://schemas.openxmlformats.org/drawingml/2006/main" w="20955">
            <a:solidFill>
              <a:srgbClr val="193C56"/>
            </a:solidFill>
            <a:tailEnd type="triangle" w="sm" len="sm"/>
          </a:ln>
        </p:spPr>
      </p:cxnSp>
      <p:cxnSp>
        <p:nvCxnSpPr>
          <p:cNvPr id="78" name=""/>
          <p:cNvCxnSpPr>
            <a:stCxn xmlns:a="http://schemas.openxmlformats.org/drawingml/2006/main" id="9" idx="3"/>
            <a:endCxn xmlns:a="http://schemas.openxmlformats.org/drawingml/2006/main" id="19" idx="1"/>
          </p:cNvCxnSpPr>
          <p:nvPr/>
        </p:nvCxnSpPr>
        <p:spPr>
          <a:xfrm xmlns:a="http://schemas.openxmlformats.org/drawingml/2006/main">
            <a:off x="2628900" y="3705225"/>
            <a:ext cx="628650" cy="1238250"/>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79" name=""/>
          <p:cNvCxnSpPr>
            <a:stCxn xmlns:a="http://schemas.openxmlformats.org/drawingml/2006/main" id="14" idx="3"/>
            <a:endCxn xmlns:a="http://schemas.openxmlformats.org/drawingml/2006/main" id="24" idx="1"/>
          </p:cNvCxnSpPr>
          <p:nvPr/>
        </p:nvCxnSpPr>
        <p:spPr>
          <a:xfrm xmlns:a="http://schemas.openxmlformats.org/drawingml/2006/main">
            <a:off x="5829300" y="2676525"/>
            <a:ext cx="619125" cy="1233488"/>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80" name=""/>
          <p:cNvCxnSpPr>
            <a:stCxn xmlns:a="http://schemas.openxmlformats.org/drawingml/2006/main" id="19" idx="3"/>
            <a:endCxn xmlns:a="http://schemas.openxmlformats.org/drawingml/2006/main" id="24" idx="1"/>
          </p:cNvCxnSpPr>
          <p:nvPr/>
        </p:nvCxnSpPr>
        <p:spPr>
          <a:xfrm xmlns:a="http://schemas.openxmlformats.org/drawingml/2006/main" flipV="1">
            <a:off x="5829300" y="3910013"/>
            <a:ext cx="619125" cy="1033463"/>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sp>
        <p:nvSpPr>
          <p:cNvPr id="33" name="">
            <a:extLst xmlns:a="http://schemas.openxmlformats.org/drawingml/2006/main">
              <a:ext uri="{FF2B5EF4-FFF2-40B4-BE49-F238E27FC236}">
                <a16:creationId xmlns:a16="http://schemas.microsoft.com/office/drawing/2014/main" id="{81993436-70BF-44DA-82A6-F81E1819D898}"/>
              </a:ext>
            </a:extLst>
          </p:cNvPr>
          <p:cNvSpPr>
            <a:spLocks xmlns:a="http://schemas.openxmlformats.org/drawingml/2006/main" noGrp="1"/>
          </p:cNvSpPr>
          <p:nvPr/>
        </p:nvSpPr>
        <p:spPr>
          <a:xfrm xmlns:a="http://schemas.openxmlformats.org/drawingml/2006/main">
            <a:off x="9544050" y="1943100"/>
            <a:ext cx="2228850" cy="1028700"/>
          </a:xfrm>
          <a:prstGeom xmlns:a="http://schemas.openxmlformats.org/drawingml/2006/main" prst="roundRect">
            <a:avLst>
              <a:gd name="adj" fmla="val 14815"/>
            </a:avLst>
          </a:prstGeom>
          <a:noFill xmlns:a="http://schemas.openxmlformats.org/drawingml/2006/main"/>
          <a:ln xmlns:a="http://schemas.openxmlformats.org/drawingml/2006/main" w="15240">
            <a:solidFill>
              <a:srgbClr val="168B83"/>
            </a:solidFill>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2a0ada1a48004672">
            <a:extLst>
              <a:ext uri="{96DAC541-7B7A-43D3-8B79-37D633B846F1}">
                <asvg:svgBlip xmlns:asvg="http://schemas.microsoft.com/office/drawing/2016/SVG/main" r:embed="R3918ff3255e94724"/>
              </a:ext>
            </a:extLst>
          </a:blip>
          <a:stretch xmlns:a="http://schemas.openxmlformats.org/drawingml/2006/main"/>
        </p:blipFill>
        <p:spPr>
          <a:xfrm xmlns:a="http://schemas.openxmlformats.org/drawingml/2006/main">
            <a:off x="9677400" y="2076450"/>
            <a:ext cx="266700" cy="266700"/>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6E89BC2B-0C7F-4EDA-B9F8-B4A4E62954F5}"/>
              </a:ext>
            </a:extLst>
          </p:cNvPr>
          <p:cNvSpPr>
            <a:spLocks xmlns:a="http://schemas.openxmlformats.org/drawingml/2006/main" noGrp="1"/>
          </p:cNvSpPr>
          <p:nvPr/>
        </p:nvSpPr>
        <p:spPr>
          <a:xfrm xmlns:a="http://schemas.openxmlformats.org/drawingml/2006/main">
            <a:off x="10048875" y="2066925"/>
            <a:ext cx="1571625"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Weather</a:t>
            </a:r>
          </a:p>
        </p:txBody>
      </p:sp>
      <p:sp>
        <p:nvSpPr>
          <p:cNvPr id="36" name="">
            <a:extLst xmlns:a="http://schemas.openxmlformats.org/drawingml/2006/main">
              <a:ext uri="{FF2B5EF4-FFF2-40B4-BE49-F238E27FC236}">
                <a16:creationId xmlns:a16="http://schemas.microsoft.com/office/drawing/2014/main" id="{CD6F21A5-AE30-4C11-A907-C43F93F0B412}"/>
              </a:ext>
            </a:extLst>
          </p:cNvPr>
          <p:cNvSpPr>
            <a:spLocks xmlns:a="http://schemas.openxmlformats.org/drawingml/2006/main" noGrp="1"/>
          </p:cNvSpPr>
          <p:nvPr/>
        </p:nvSpPr>
        <p:spPr>
          <a:xfrm xmlns:a="http://schemas.openxmlformats.org/drawingml/2006/main">
            <a:off x="9686925" y="2447925"/>
            <a:ext cx="1943100" cy="5048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Keep genuine extremes visible</a:t>
            </a:r>
          </a:p>
        </p:txBody>
      </p:sp>
      <p:cxnSp>
        <p:nvCxnSpPr>
          <p:cNvPr id="85" name=""/>
          <p:cNvCxnSpPr>
            <a:stCxn xmlns:a="http://schemas.openxmlformats.org/drawingml/2006/main" id="24" idx="3"/>
            <a:endCxn xmlns:a="http://schemas.openxmlformats.org/drawingml/2006/main" id="33" idx="1"/>
          </p:cNvCxnSpPr>
          <p:nvPr/>
        </p:nvCxnSpPr>
        <p:spPr>
          <a:xfrm xmlns:a="http://schemas.openxmlformats.org/drawingml/2006/main" flipV="1">
            <a:off x="8867775" y="2457450"/>
            <a:ext cx="676275" cy="1452563"/>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sp>
        <p:nvSpPr>
          <p:cNvPr id="38" name="">
            <a:extLst xmlns:a="http://schemas.openxmlformats.org/drawingml/2006/main">
              <a:ext uri="{FF2B5EF4-FFF2-40B4-BE49-F238E27FC236}">
                <a16:creationId xmlns:a16="http://schemas.microsoft.com/office/drawing/2014/main" id="{09CD76B2-FF1B-438C-8490-2A2F9B86D2B3}"/>
              </a:ext>
            </a:extLst>
          </p:cNvPr>
          <p:cNvSpPr>
            <a:spLocks xmlns:a="http://schemas.openxmlformats.org/drawingml/2006/main" noGrp="1"/>
          </p:cNvSpPr>
          <p:nvPr/>
        </p:nvSpPr>
        <p:spPr>
          <a:xfrm xmlns:a="http://schemas.openxmlformats.org/drawingml/2006/main">
            <a:off x="9544050" y="3352800"/>
            <a:ext cx="2228850" cy="1028700"/>
          </a:xfrm>
          <a:prstGeom xmlns:a="http://schemas.openxmlformats.org/drawingml/2006/main" prst="roundRect">
            <a:avLst>
              <a:gd name="adj" fmla="val 14815"/>
            </a:avLst>
          </a:prstGeom>
          <a:noFill xmlns:a="http://schemas.openxmlformats.org/drawingml/2006/main"/>
          <a:ln xmlns:a="http://schemas.openxmlformats.org/drawingml/2006/main" w="15240">
            <a:solidFill>
              <a:srgbClr val="193C56"/>
            </a:solidFill>
          </a:ln>
        </p:spPr>
      </p:sp>
      <p:pic>
        <p:nvPicPr>
          <p:cNvPr id="87" name=""/>
          <p:cNvPicPr>
            <a:picLocks xmlns:a="http://schemas.openxmlformats.org/drawingml/2006/main" noChangeAspect="1"/>
          </p:cNvPicPr>
          <p:nvPr/>
        </p:nvPicPr>
        <p:blipFill>
          <a:blip xmlns:r="http://schemas.openxmlformats.org/officeDocument/2006/relationships" xmlns:a="http://schemas.openxmlformats.org/drawingml/2006/main" r:embed="R42edd88989b340b4">
            <a:extLst>
              <a:ext uri="{96DAC541-7B7A-43D3-8B79-37D633B846F1}">
                <asvg:svgBlip xmlns:asvg="http://schemas.microsoft.com/office/drawing/2016/SVG/main" r:embed="Ra79f2c5f525a4a39"/>
              </a:ext>
            </a:extLst>
          </a:blip>
          <a:stretch xmlns:a="http://schemas.openxmlformats.org/drawingml/2006/main"/>
        </p:blipFill>
        <p:spPr>
          <a:xfrm xmlns:a="http://schemas.openxmlformats.org/drawingml/2006/main">
            <a:off x="9677400" y="3486150"/>
            <a:ext cx="266700" cy="266700"/>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727BF8E3-9F53-4096-B1A2-0C1620A04B63}"/>
              </a:ext>
            </a:extLst>
          </p:cNvPr>
          <p:cNvSpPr>
            <a:spLocks xmlns:a="http://schemas.openxmlformats.org/drawingml/2006/main" noGrp="1"/>
          </p:cNvSpPr>
          <p:nvPr/>
        </p:nvSpPr>
        <p:spPr>
          <a:xfrm xmlns:a="http://schemas.openxmlformats.org/drawingml/2006/main">
            <a:off x="10048875" y="3476625"/>
            <a:ext cx="1571625"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Fault</a:t>
            </a:r>
          </a:p>
        </p:txBody>
      </p:sp>
      <p:sp>
        <p:nvSpPr>
          <p:cNvPr id="41" name="">
            <a:extLst xmlns:a="http://schemas.openxmlformats.org/drawingml/2006/main">
              <a:ext uri="{FF2B5EF4-FFF2-40B4-BE49-F238E27FC236}">
                <a16:creationId xmlns:a16="http://schemas.microsoft.com/office/drawing/2014/main" id="{EAF732E9-9502-4CF7-BEE5-C3BD73B6EE76}"/>
              </a:ext>
            </a:extLst>
          </p:cNvPr>
          <p:cNvSpPr>
            <a:spLocks xmlns:a="http://schemas.openxmlformats.org/drawingml/2006/main" noGrp="1"/>
          </p:cNvSpPr>
          <p:nvPr/>
        </p:nvSpPr>
        <p:spPr>
          <a:xfrm xmlns:a="http://schemas.openxmlformats.org/drawingml/2006/main">
            <a:off x="9686925" y="3857625"/>
            <a:ext cx="1943100" cy="5048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Investigate sensor or data issue</a:t>
            </a:r>
          </a:p>
        </p:txBody>
      </p:sp>
      <p:cxnSp>
        <p:nvCxnSpPr>
          <p:cNvPr id="90" name=""/>
          <p:cNvCxnSpPr>
            <a:stCxn xmlns:a="http://schemas.openxmlformats.org/drawingml/2006/main" id="24" idx="3"/>
            <a:endCxn xmlns:a="http://schemas.openxmlformats.org/drawingml/2006/main" id="38" idx="1"/>
          </p:cNvCxnSpPr>
          <p:nvPr/>
        </p:nvCxnSpPr>
        <p:spPr>
          <a:xfrm xmlns:a="http://schemas.openxmlformats.org/drawingml/2006/main" flipV="1">
            <a:off x="8867775" y="3867150"/>
            <a:ext cx="676275" cy="42863"/>
          </a:xfrm>
          <a:prstGeom xmlns:a="http://schemas.openxmlformats.org/drawingml/2006/main" prst="bentConnector3">
            <a:avLst>
              <a:gd name="adj1" fmla="val 50000"/>
            </a:avLst>
          </a:prstGeom>
          <a:ln xmlns:a="http://schemas.openxmlformats.org/drawingml/2006/main" w="20955">
            <a:solidFill>
              <a:srgbClr val="193C56"/>
            </a:solidFill>
            <a:tailEnd type="triangle" w="sm" len="sm"/>
          </a:ln>
        </p:spPr>
      </p:cxnSp>
      <p:sp>
        <p:nvSpPr>
          <p:cNvPr id="43" name="">
            <a:extLst xmlns:a="http://schemas.openxmlformats.org/drawingml/2006/main">
              <a:ext uri="{FF2B5EF4-FFF2-40B4-BE49-F238E27FC236}">
                <a16:creationId xmlns:a16="http://schemas.microsoft.com/office/drawing/2014/main" id="{C0E17F4A-6DF8-4A58-8AB0-848A33F99171}"/>
              </a:ext>
            </a:extLst>
          </p:cNvPr>
          <p:cNvSpPr>
            <a:spLocks xmlns:a="http://schemas.openxmlformats.org/drawingml/2006/main" noGrp="1"/>
          </p:cNvSpPr>
          <p:nvPr/>
        </p:nvSpPr>
        <p:spPr>
          <a:xfrm xmlns:a="http://schemas.openxmlformats.org/drawingml/2006/main">
            <a:off x="9544050" y="4762500"/>
            <a:ext cx="2228850" cy="1028700"/>
          </a:xfrm>
          <a:prstGeom xmlns:a="http://schemas.openxmlformats.org/drawingml/2006/main" prst="roundRect">
            <a:avLst>
              <a:gd name="adj" fmla="val 14815"/>
            </a:avLst>
          </a:prstGeom>
          <a:noFill xmlns:a="http://schemas.openxmlformats.org/drawingml/2006/main"/>
          <a:ln xmlns:a="http://schemas.openxmlformats.org/drawingml/2006/main" w="15240">
            <a:solidFill>
              <a:srgbClr val="D69A24"/>
            </a:solidFill>
          </a:ln>
        </p:spPr>
      </p:sp>
      <p:pic>
        <p:nvPicPr>
          <p:cNvPr id="92" name=""/>
          <p:cNvPicPr>
            <a:picLocks xmlns:a="http://schemas.openxmlformats.org/drawingml/2006/main" noChangeAspect="1"/>
          </p:cNvPicPr>
          <p:nvPr/>
        </p:nvPicPr>
        <p:blipFill>
          <a:blip xmlns:r="http://schemas.openxmlformats.org/officeDocument/2006/relationships" xmlns:a="http://schemas.openxmlformats.org/drawingml/2006/main" r:embed="R0c2e0ba656be41c2">
            <a:extLst>
              <a:ext uri="{96DAC541-7B7A-43D3-8B79-37D633B846F1}">
                <asvg:svgBlip xmlns:asvg="http://schemas.microsoft.com/office/drawing/2016/SVG/main" r:embed="R64bf9b1a8b974a1c"/>
              </a:ext>
            </a:extLst>
          </a:blip>
          <a:stretch xmlns:a="http://schemas.openxmlformats.org/drawingml/2006/main"/>
        </p:blipFill>
        <p:spPr>
          <a:xfrm xmlns:a="http://schemas.openxmlformats.org/drawingml/2006/main">
            <a:off x="9677400" y="4895850"/>
            <a:ext cx="266700" cy="26670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D3FE9AEE-3FBC-427E-887B-044D3C5E9813}"/>
              </a:ext>
            </a:extLst>
          </p:cNvPr>
          <p:cNvSpPr>
            <a:spLocks xmlns:a="http://schemas.openxmlformats.org/drawingml/2006/main" noGrp="1"/>
          </p:cNvSpPr>
          <p:nvPr/>
        </p:nvSpPr>
        <p:spPr>
          <a:xfrm xmlns:a="http://schemas.openxmlformats.org/drawingml/2006/main">
            <a:off x="10048875" y="4886325"/>
            <a:ext cx="1571625"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Uncertain</a:t>
            </a:r>
          </a:p>
        </p:txBody>
      </p:sp>
      <p:sp>
        <p:nvSpPr>
          <p:cNvPr id="46" name="">
            <a:extLst xmlns:a="http://schemas.openxmlformats.org/drawingml/2006/main">
              <a:ext uri="{FF2B5EF4-FFF2-40B4-BE49-F238E27FC236}">
                <a16:creationId xmlns:a16="http://schemas.microsoft.com/office/drawing/2014/main" id="{87D6D8C7-F60E-4A11-860A-B2CDB5234AEC}"/>
              </a:ext>
            </a:extLst>
          </p:cNvPr>
          <p:cNvSpPr>
            <a:spLocks xmlns:a="http://schemas.openxmlformats.org/drawingml/2006/main" noGrp="1"/>
          </p:cNvSpPr>
          <p:nvPr/>
        </p:nvSpPr>
        <p:spPr>
          <a:xfrm xmlns:a="http://schemas.openxmlformats.org/drawingml/2006/main">
            <a:off x="9686925" y="5267325"/>
            <a:ext cx="1943100" cy="5048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Request human review</a:t>
            </a:r>
          </a:p>
        </p:txBody>
      </p:sp>
      <p:cxnSp>
        <p:nvCxnSpPr>
          <p:cNvPr id="95" name=""/>
          <p:cNvCxnSpPr>
            <a:stCxn xmlns:a="http://schemas.openxmlformats.org/drawingml/2006/main" id="24" idx="3"/>
            <a:endCxn xmlns:a="http://schemas.openxmlformats.org/drawingml/2006/main" id="43" idx="1"/>
          </p:cNvCxnSpPr>
          <p:nvPr/>
        </p:nvCxnSpPr>
        <p:spPr>
          <a:xfrm xmlns:a="http://schemas.openxmlformats.org/drawingml/2006/main">
            <a:off x="8867775" y="3910013"/>
            <a:ext cx="676275" cy="1366838"/>
          </a:xfrm>
          <a:prstGeom xmlns:a="http://schemas.openxmlformats.org/drawingml/2006/main" prst="bentConnector3">
            <a:avLst>
              <a:gd name="adj1" fmla="val 50000"/>
            </a:avLst>
          </a:prstGeom>
          <a:ln xmlns:a="http://schemas.openxmlformats.org/drawingml/2006/main" w="20955">
            <a:solidFill>
              <a:srgbClr val="D69A24"/>
            </a:solidFill>
            <a:tailEnd type="triangle" w="sm" len="sm"/>
          </a:ln>
        </p:spPr>
      </p:cxnSp>
      <p:sp>
        <p:nvSpPr>
          <p:cNvPr id="48" name="">
            <a:extLst xmlns:a="http://schemas.openxmlformats.org/drawingml/2006/main">
              <a:ext uri="{FF2B5EF4-FFF2-40B4-BE49-F238E27FC236}">
                <a16:creationId xmlns:a16="http://schemas.microsoft.com/office/drawing/2014/main" id="{7B6AA639-D456-403A-BEBA-444CB581090E}"/>
              </a:ext>
            </a:extLst>
          </p:cNvPr>
          <p:cNvSpPr>
            <a:spLocks xmlns:a="http://schemas.openxmlformats.org/drawingml/2006/main" noGrp="1"/>
          </p:cNvSpPr>
          <p:nvPr/>
        </p:nvSpPr>
        <p:spPr>
          <a:xfrm xmlns:a="http://schemas.openxmlformats.org/drawingml/2006/main">
            <a:off x="419100" y="6124575"/>
            <a:ext cx="1123950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168B83"/>
                </a:solidFill>
                <a:latin typeface="Arial"/>
                <a:ea typeface="Arial"/>
                <a:cs typeface="Arial"/>
              </a:defRPr>
            </a:pPr>
            <a:r>
              <a:rPr sz="1425" b="0">
                <a:solidFill>
                  <a:srgbClr val="168B83"/>
                </a:solidFill>
                <a:latin typeface="Arial"/>
                <a:ea typeface="Arial"/>
                <a:cs typeface="Arial"/>
              </a:rPr>
              <a:t>Original observations stay intact. Operators review proposed corrections separately.</a:t>
            </a:r>
          </a:p>
        </p:txBody>
      </p:sp>
    </p:spTree>
    <p:extLst>
      <p:ext uri="{BB962C8B-B14F-4D97-AF65-F5344CB8AC3E}">
        <p14:creationId xmlns:p14="http://schemas.microsoft.com/office/powerpoint/2010/main" val="2942007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3524F97B-AD73-4197-A7EA-8FD655470A7F}"/>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DC2506FA-7592-4DB9-8C0E-E83DA6CCC08D}"/>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TECHNICAL APPROACH</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c7b79eedbfb0489e"/>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5591C7E-58EB-47DA-938D-8719BA332668}"/>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AAD74F45-1E50-4A76-A850-1007BAAC7E84}"/>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6" name="">
            <a:extLst xmlns:a="http://schemas.openxmlformats.org/drawingml/2006/main">
              <a:ext uri="{FF2B5EF4-FFF2-40B4-BE49-F238E27FC236}">
                <a16:creationId xmlns:a16="http://schemas.microsoft.com/office/drawing/2014/main" id="{716C4FC9-D503-47E2-83B3-CFDEED598513}"/>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7" name="">
            <a:extLst xmlns:a="http://schemas.openxmlformats.org/drawingml/2006/main">
              <a:ext uri="{FF2B5EF4-FFF2-40B4-BE49-F238E27FC236}">
                <a16:creationId xmlns:a16="http://schemas.microsoft.com/office/drawing/2014/main" id="{651A27FB-7399-495F-93A3-FE2C31FC3C25}"/>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4185B68C-EB74-46B3-BE53-1E20D949E49D}"/>
              </a:ext>
            </a:extLst>
          </p:cNvPr>
          <p:cNvSpPr>
            <a:spLocks xmlns:a="http://schemas.openxmlformats.org/drawingml/2006/main" noGrp="1"/>
          </p:cNvSpPr>
          <p:nvPr/>
        </p:nvSpPr>
        <p:spPr>
          <a:xfrm xmlns:a="http://schemas.openxmlformats.org/drawingml/2006/main">
            <a:off x="381000" y="1895475"/>
            <a:ext cx="2047875" cy="3105150"/>
          </a:xfrm>
          <a:prstGeom xmlns:a="http://schemas.openxmlformats.org/drawingml/2006/main" prst="roundRect">
            <a:avLst>
              <a:gd name="adj" fmla="val 7442"/>
            </a:avLst>
          </a:prstGeom>
          <a:solidFill xmlns:a="http://schemas.openxmlformats.org/drawingml/2006/main">
            <a:srgbClr val="FFFFFF"/>
          </a:solidFill>
          <a:ln xmlns:a="http://schemas.openxmlformats.org/drawingml/2006/main" w="15240">
            <a:solidFill>
              <a:srgbClr val="193C56"/>
            </a:solidFill>
          </a:ln>
        </p:spPr>
      </p:sp>
      <p:sp>
        <p:nvSpPr>
          <p:cNvPr id="9" name="">
            <a:extLst xmlns:a="http://schemas.openxmlformats.org/drawingml/2006/main">
              <a:ext uri="{FF2B5EF4-FFF2-40B4-BE49-F238E27FC236}">
                <a16:creationId xmlns:a16="http://schemas.microsoft.com/office/drawing/2014/main" id="{F0606DA7-2F9A-4071-BF25-953589AA0F00}"/>
              </a:ext>
            </a:extLst>
          </p:cNvPr>
          <p:cNvSpPr>
            <a:spLocks xmlns:a="http://schemas.openxmlformats.org/drawingml/2006/main" noGrp="1"/>
          </p:cNvSpPr>
          <p:nvPr/>
        </p:nvSpPr>
        <p:spPr>
          <a:xfrm xmlns:a="http://schemas.openxmlformats.org/drawingml/2006/main">
            <a:off x="476250" y="1990725"/>
            <a:ext cx="1857375" cy="361950"/>
          </a:xfrm>
          <a:prstGeom xmlns:a="http://schemas.openxmlformats.org/drawingml/2006/main" prst="roundRect">
            <a:avLst>
              <a:gd name="adj" fmla="val 42105"/>
            </a:avLst>
          </a:prstGeom>
          <a:solidFill xmlns:a="http://schemas.openxmlformats.org/drawingml/2006/main">
            <a:srgbClr val="FFF7E6"/>
          </a:solidFill>
          <a:ln xmlns:a="http://schemas.openxmlformats.org/drawingml/2006/main" w="15240">
            <a:noFill/>
          </a:ln>
        </p:spPr>
      </p:sp>
      <p:sp>
        <p:nvSpPr>
          <p:cNvPr id="10" name="">
            <a:extLst xmlns:a="http://schemas.openxmlformats.org/drawingml/2006/main">
              <a:ext uri="{FF2B5EF4-FFF2-40B4-BE49-F238E27FC236}">
                <a16:creationId xmlns:a16="http://schemas.microsoft.com/office/drawing/2014/main" id="{29B4FA7C-E06E-4A10-9C84-73F8B907C6CE}"/>
              </a:ext>
            </a:extLst>
          </p:cNvPr>
          <p:cNvSpPr>
            <a:spLocks xmlns:a="http://schemas.openxmlformats.org/drawingml/2006/main" noGrp="1"/>
          </p:cNvSpPr>
          <p:nvPr/>
        </p:nvSpPr>
        <p:spPr>
          <a:xfrm xmlns:a="http://schemas.openxmlformats.org/drawingml/2006/main">
            <a:off x="571500" y="2057400"/>
            <a:ext cx="1666875"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INPUT</a:t>
            </a:r>
          </a:p>
        </p:txBody>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50d42f0366ee4c30">
            <a:extLst>
              <a:ext uri="{96DAC541-7B7A-43D3-8B79-37D633B846F1}">
                <asvg:svgBlip xmlns:asvg="http://schemas.microsoft.com/office/drawing/2016/SVG/main" r:embed="Rb0e6fa9c39c4423a"/>
              </a:ext>
            </a:extLst>
          </a:blip>
          <a:stretch xmlns:a="http://schemas.openxmlformats.org/drawingml/2006/main"/>
        </p:blipFill>
        <p:spPr>
          <a:xfrm xmlns:a="http://schemas.openxmlformats.org/drawingml/2006/main">
            <a:off x="1147763" y="2486025"/>
            <a:ext cx="514350" cy="5143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93615AB-CFDD-48DC-9A92-070D4AD00696}"/>
              </a:ext>
            </a:extLst>
          </p:cNvPr>
          <p:cNvSpPr>
            <a:spLocks xmlns:a="http://schemas.openxmlformats.org/drawingml/2006/main" noGrp="1"/>
          </p:cNvSpPr>
          <p:nvPr/>
        </p:nvSpPr>
        <p:spPr>
          <a:xfrm xmlns:a="http://schemas.openxmlformats.org/drawingml/2006/main">
            <a:off x="552450" y="3133725"/>
            <a:ext cx="1704975" cy="1790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Temperature</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Pressure</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Relative humidity</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Station ID + timestamp</a:t>
            </a:r>
          </a:p>
        </p:txBody>
      </p:sp>
      <p:sp>
        <p:nvSpPr>
          <p:cNvPr id="13" name="">
            <a:extLst xmlns:a="http://schemas.openxmlformats.org/drawingml/2006/main">
              <a:ext uri="{FF2B5EF4-FFF2-40B4-BE49-F238E27FC236}">
                <a16:creationId xmlns:a16="http://schemas.microsoft.com/office/drawing/2014/main" id="{F2887D5D-7D95-4893-89C8-9CC5E7A7B8E4}"/>
              </a:ext>
            </a:extLst>
          </p:cNvPr>
          <p:cNvSpPr>
            <a:spLocks xmlns:a="http://schemas.openxmlformats.org/drawingml/2006/main" noGrp="1"/>
          </p:cNvSpPr>
          <p:nvPr/>
        </p:nvSpPr>
        <p:spPr>
          <a:xfrm xmlns:a="http://schemas.openxmlformats.org/drawingml/2006/main">
            <a:off x="2886075" y="2114550"/>
            <a:ext cx="1943100" cy="260032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15240">
            <a:solidFill>
              <a:srgbClr val="193C56"/>
            </a:solidFill>
          </a:ln>
        </p:spPr>
      </p:sp>
      <p:sp>
        <p:nvSpPr>
          <p:cNvPr id="14" name="">
            <a:extLst xmlns:a="http://schemas.openxmlformats.org/drawingml/2006/main">
              <a:ext uri="{FF2B5EF4-FFF2-40B4-BE49-F238E27FC236}">
                <a16:creationId xmlns:a16="http://schemas.microsoft.com/office/drawing/2014/main" id="{7698549A-8C19-4551-86CF-43FDF0B6AC66}"/>
              </a:ext>
            </a:extLst>
          </p:cNvPr>
          <p:cNvSpPr>
            <a:spLocks xmlns:a="http://schemas.openxmlformats.org/drawingml/2006/main" noGrp="1"/>
          </p:cNvSpPr>
          <p:nvPr/>
        </p:nvSpPr>
        <p:spPr>
          <a:xfrm xmlns:a="http://schemas.openxmlformats.org/drawingml/2006/main">
            <a:off x="2981325" y="2209800"/>
            <a:ext cx="1752600" cy="361950"/>
          </a:xfrm>
          <a:prstGeom xmlns:a="http://schemas.openxmlformats.org/drawingml/2006/main" prst="roundRect">
            <a:avLst>
              <a:gd name="adj" fmla="val 42105"/>
            </a:avLst>
          </a:prstGeom>
          <a:solidFill xmlns:a="http://schemas.openxmlformats.org/drawingml/2006/main">
            <a:srgbClr val="FFF7E6"/>
          </a:solidFill>
          <a:ln xmlns:a="http://schemas.openxmlformats.org/drawingml/2006/main" w="15240">
            <a:noFill/>
          </a:ln>
        </p:spPr>
      </p:sp>
      <p:sp>
        <p:nvSpPr>
          <p:cNvPr id="15" name="">
            <a:extLst xmlns:a="http://schemas.openxmlformats.org/drawingml/2006/main">
              <a:ext uri="{FF2B5EF4-FFF2-40B4-BE49-F238E27FC236}">
                <a16:creationId xmlns:a16="http://schemas.microsoft.com/office/drawing/2014/main" id="{3C8A3C12-8A11-4586-ACD1-EB6697718668}"/>
              </a:ext>
            </a:extLst>
          </p:cNvPr>
          <p:cNvSpPr>
            <a:spLocks xmlns:a="http://schemas.openxmlformats.org/drawingml/2006/main" noGrp="1"/>
          </p:cNvSpPr>
          <p:nvPr/>
        </p:nvSpPr>
        <p:spPr>
          <a:xfrm xmlns:a="http://schemas.openxmlformats.org/drawingml/2006/main">
            <a:off x="3076575" y="2276475"/>
            <a:ext cx="15621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Validation</a:t>
            </a:r>
          </a:p>
        </p:txBody>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f16728bae58a46ca">
            <a:extLst>
              <a:ext uri="{96DAC541-7B7A-43D3-8B79-37D633B846F1}">
                <asvg:svgBlip xmlns:asvg="http://schemas.microsoft.com/office/drawing/2016/SVG/main" r:embed="R0493f144e1394556"/>
              </a:ext>
            </a:extLst>
          </a:blip>
          <a:stretch xmlns:a="http://schemas.openxmlformats.org/drawingml/2006/main"/>
        </p:blipFill>
        <p:spPr>
          <a:xfrm xmlns:a="http://schemas.openxmlformats.org/drawingml/2006/main">
            <a:off x="3600450" y="2705100"/>
            <a:ext cx="514350" cy="5143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F742E767-9878-4C43-AF1D-A6D7EFCAA45C}"/>
              </a:ext>
            </a:extLst>
          </p:cNvPr>
          <p:cNvSpPr>
            <a:spLocks xmlns:a="http://schemas.openxmlformats.org/drawingml/2006/main" noGrp="1"/>
          </p:cNvSpPr>
          <p:nvPr/>
        </p:nvSpPr>
        <p:spPr>
          <a:xfrm xmlns:a="http://schemas.openxmlformats.org/drawingml/2006/main">
            <a:off x="3057525" y="3352800"/>
            <a:ext cx="1600200" cy="12858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Time + schema checks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Missing / late packets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Immutable raw storage</a:t>
            </a:r>
          </a:p>
        </p:txBody>
      </p:sp>
      <p:sp>
        <p:nvSpPr>
          <p:cNvPr id="18" name="">
            <a:extLst xmlns:a="http://schemas.openxmlformats.org/drawingml/2006/main">
              <a:ext uri="{FF2B5EF4-FFF2-40B4-BE49-F238E27FC236}">
                <a16:creationId xmlns:a16="http://schemas.microsoft.com/office/drawing/2014/main" id="{944DAD86-4C54-4F49-AC31-5DC703BE3C4F}"/>
              </a:ext>
            </a:extLst>
          </p:cNvPr>
          <p:cNvSpPr>
            <a:spLocks xmlns:a="http://schemas.openxmlformats.org/drawingml/2006/main" noGrp="1"/>
          </p:cNvSpPr>
          <p:nvPr/>
        </p:nvSpPr>
        <p:spPr>
          <a:xfrm xmlns:a="http://schemas.openxmlformats.org/drawingml/2006/main">
            <a:off x="5286375" y="1171575"/>
            <a:ext cx="2381250" cy="2066925"/>
          </a:xfrm>
          <a:prstGeom xmlns:a="http://schemas.openxmlformats.org/drawingml/2006/main" prst="roundRect">
            <a:avLst>
              <a:gd name="adj" fmla="val 7373"/>
            </a:avLst>
          </a:prstGeom>
          <a:solidFill xmlns:a="http://schemas.openxmlformats.org/drawingml/2006/main">
            <a:srgbClr val="FFFFFF"/>
          </a:solidFill>
          <a:ln xmlns:a="http://schemas.openxmlformats.org/drawingml/2006/main" w="15240">
            <a:solidFill>
              <a:srgbClr val="168B83"/>
            </a:solidFill>
          </a:ln>
        </p:spPr>
      </p:sp>
      <p:sp>
        <p:nvSpPr>
          <p:cNvPr id="19" name="">
            <a:extLst xmlns:a="http://schemas.openxmlformats.org/drawingml/2006/main">
              <a:ext uri="{FF2B5EF4-FFF2-40B4-BE49-F238E27FC236}">
                <a16:creationId xmlns:a16="http://schemas.microsoft.com/office/drawing/2014/main" id="{156C743D-81B4-4F05-8FEA-4E21C80D4D81}"/>
              </a:ext>
            </a:extLst>
          </p:cNvPr>
          <p:cNvSpPr>
            <a:spLocks xmlns:a="http://schemas.openxmlformats.org/drawingml/2006/main" noGrp="1"/>
          </p:cNvSpPr>
          <p:nvPr/>
        </p:nvSpPr>
        <p:spPr>
          <a:xfrm xmlns:a="http://schemas.openxmlformats.org/drawingml/2006/main">
            <a:off x="5381625" y="1266825"/>
            <a:ext cx="21907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20" name="">
            <a:extLst xmlns:a="http://schemas.openxmlformats.org/drawingml/2006/main">
              <a:ext uri="{FF2B5EF4-FFF2-40B4-BE49-F238E27FC236}">
                <a16:creationId xmlns:a16="http://schemas.microsoft.com/office/drawing/2014/main" id="{74E827E3-A1AA-45E5-84B4-4414662D5F5D}"/>
              </a:ext>
            </a:extLst>
          </p:cNvPr>
          <p:cNvSpPr>
            <a:spLocks xmlns:a="http://schemas.openxmlformats.org/drawingml/2006/main" noGrp="1"/>
          </p:cNvSpPr>
          <p:nvPr/>
        </p:nvSpPr>
        <p:spPr>
          <a:xfrm xmlns:a="http://schemas.openxmlformats.org/drawingml/2006/main">
            <a:off x="5476875" y="1333500"/>
            <a:ext cx="20002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Temporal + ML</a:t>
            </a:r>
          </a:p>
        </p:txBody>
      </p:sp>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5bf0c2a13e3744d3">
            <a:extLst>
              <a:ext uri="{96DAC541-7B7A-43D3-8B79-37D633B846F1}">
                <asvg:svgBlip xmlns:asvg="http://schemas.microsoft.com/office/drawing/2016/SVG/main" r:embed="R9f22d9fb848a4508"/>
              </a:ext>
            </a:extLst>
          </a:blip>
          <a:stretch xmlns:a="http://schemas.openxmlformats.org/drawingml/2006/main"/>
        </p:blipFill>
        <p:spPr>
          <a:xfrm xmlns:a="http://schemas.openxmlformats.org/drawingml/2006/main">
            <a:off x="6219825" y="1762125"/>
            <a:ext cx="514350" cy="5143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5D2C943C-30BA-47B0-BDD1-FB77CDD92474}"/>
              </a:ext>
            </a:extLst>
          </p:cNvPr>
          <p:cNvSpPr>
            <a:spLocks xmlns:a="http://schemas.openxmlformats.org/drawingml/2006/main" noGrp="1"/>
          </p:cNvSpPr>
          <p:nvPr/>
        </p:nvSpPr>
        <p:spPr>
          <a:xfrm xmlns:a="http://schemas.openxmlformats.org/drawingml/2006/main">
            <a:off x="5457825" y="2409825"/>
            <a:ext cx="2038350" cy="7524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Causal history features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Isolation Forest score</a:t>
            </a:r>
          </a:p>
        </p:txBody>
      </p:sp>
      <p:sp>
        <p:nvSpPr>
          <p:cNvPr id="23" name="">
            <a:extLst xmlns:a="http://schemas.openxmlformats.org/drawingml/2006/main">
              <a:ext uri="{FF2B5EF4-FFF2-40B4-BE49-F238E27FC236}">
                <a16:creationId xmlns:a16="http://schemas.microsoft.com/office/drawing/2014/main" id="{2D189A2A-F870-4EAB-B5BA-9B9C788D8F40}"/>
              </a:ext>
            </a:extLst>
          </p:cNvPr>
          <p:cNvSpPr>
            <a:spLocks xmlns:a="http://schemas.openxmlformats.org/drawingml/2006/main" noGrp="1"/>
          </p:cNvSpPr>
          <p:nvPr/>
        </p:nvSpPr>
        <p:spPr>
          <a:xfrm xmlns:a="http://schemas.openxmlformats.org/drawingml/2006/main">
            <a:off x="5286375" y="3657600"/>
            <a:ext cx="2381250" cy="2066925"/>
          </a:xfrm>
          <a:prstGeom xmlns:a="http://schemas.openxmlformats.org/drawingml/2006/main" prst="roundRect">
            <a:avLst>
              <a:gd name="adj" fmla="val 7373"/>
            </a:avLst>
          </a:prstGeom>
          <a:solidFill xmlns:a="http://schemas.openxmlformats.org/drawingml/2006/main">
            <a:srgbClr val="FFFFFF"/>
          </a:solidFill>
          <a:ln xmlns:a="http://schemas.openxmlformats.org/drawingml/2006/main" w="15240">
            <a:solidFill>
              <a:srgbClr val="168B83"/>
            </a:solidFill>
          </a:ln>
        </p:spPr>
      </p:sp>
      <p:sp>
        <p:nvSpPr>
          <p:cNvPr id="24" name="">
            <a:extLst xmlns:a="http://schemas.openxmlformats.org/drawingml/2006/main">
              <a:ext uri="{FF2B5EF4-FFF2-40B4-BE49-F238E27FC236}">
                <a16:creationId xmlns:a16="http://schemas.microsoft.com/office/drawing/2014/main" id="{17ABCB84-33FD-4743-88D5-D4EA8213F79E}"/>
              </a:ext>
            </a:extLst>
          </p:cNvPr>
          <p:cNvSpPr>
            <a:spLocks xmlns:a="http://schemas.openxmlformats.org/drawingml/2006/main" noGrp="1"/>
          </p:cNvSpPr>
          <p:nvPr/>
        </p:nvSpPr>
        <p:spPr>
          <a:xfrm xmlns:a="http://schemas.openxmlformats.org/drawingml/2006/main">
            <a:off x="5381625" y="3752850"/>
            <a:ext cx="21907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25" name="">
            <a:extLst xmlns:a="http://schemas.openxmlformats.org/drawingml/2006/main">
              <a:ext uri="{FF2B5EF4-FFF2-40B4-BE49-F238E27FC236}">
                <a16:creationId xmlns:a16="http://schemas.microsoft.com/office/drawing/2014/main" id="{683CE9E2-52AA-4815-A646-7A7CB7D2CCF8}"/>
              </a:ext>
            </a:extLst>
          </p:cNvPr>
          <p:cNvSpPr>
            <a:spLocks xmlns:a="http://schemas.openxmlformats.org/drawingml/2006/main" noGrp="1"/>
          </p:cNvSpPr>
          <p:nvPr/>
        </p:nvSpPr>
        <p:spPr>
          <a:xfrm xmlns:a="http://schemas.openxmlformats.org/drawingml/2006/main">
            <a:off x="5476875" y="3819525"/>
            <a:ext cx="20002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Physics + peers</a:t>
            </a:r>
          </a:p>
        </p:txBody>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131d4cc404494399">
            <a:extLst>
              <a:ext uri="{96DAC541-7B7A-43D3-8B79-37D633B846F1}">
                <asvg:svgBlip xmlns:asvg="http://schemas.microsoft.com/office/drawing/2016/SVG/main" r:embed="R4da8232f23cb4fb6"/>
              </a:ext>
            </a:extLst>
          </a:blip>
          <a:stretch xmlns:a="http://schemas.openxmlformats.org/drawingml/2006/main"/>
        </p:blipFill>
        <p:spPr>
          <a:xfrm xmlns:a="http://schemas.openxmlformats.org/drawingml/2006/main">
            <a:off x="6219825" y="4248150"/>
            <a:ext cx="514350" cy="5143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AFC81A0D-7ABE-4598-8A76-1F7CD15A6F94}"/>
              </a:ext>
            </a:extLst>
          </p:cNvPr>
          <p:cNvSpPr>
            <a:spLocks xmlns:a="http://schemas.openxmlformats.org/drawingml/2006/main" noGrp="1"/>
          </p:cNvSpPr>
          <p:nvPr/>
        </p:nvSpPr>
        <p:spPr>
          <a:xfrm xmlns:a="http://schemas.openxmlformats.org/drawingml/2006/main">
            <a:off x="5457825" y="4895850"/>
            <a:ext cx="2038350" cy="7524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T/P/RH relationships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Trusted station comparison</a:t>
            </a:r>
          </a:p>
        </p:txBody>
      </p:sp>
      <p:sp>
        <p:nvSpPr>
          <p:cNvPr id="28" name="">
            <a:extLst xmlns:a="http://schemas.openxmlformats.org/drawingml/2006/main">
              <a:ext uri="{FF2B5EF4-FFF2-40B4-BE49-F238E27FC236}">
                <a16:creationId xmlns:a16="http://schemas.microsoft.com/office/drawing/2014/main" id="{315F556C-0653-4502-86F3-D2EACFD2F084}"/>
              </a:ext>
            </a:extLst>
          </p:cNvPr>
          <p:cNvSpPr>
            <a:spLocks xmlns:a="http://schemas.openxmlformats.org/drawingml/2006/main" noGrp="1"/>
          </p:cNvSpPr>
          <p:nvPr/>
        </p:nvSpPr>
        <p:spPr>
          <a:xfrm xmlns:a="http://schemas.openxmlformats.org/drawingml/2006/main">
            <a:off x="8153400" y="2190750"/>
            <a:ext cx="1657350" cy="2600325"/>
          </a:xfrm>
          <a:prstGeom xmlns:a="http://schemas.openxmlformats.org/drawingml/2006/main" prst="roundRect">
            <a:avLst>
              <a:gd name="adj" fmla="val 9195"/>
            </a:avLst>
          </a:prstGeom>
          <a:solidFill xmlns:a="http://schemas.openxmlformats.org/drawingml/2006/main">
            <a:srgbClr val="FFFFFF"/>
          </a:solidFill>
          <a:ln xmlns:a="http://schemas.openxmlformats.org/drawingml/2006/main" w="15240">
            <a:solidFill>
              <a:srgbClr val="168B83"/>
            </a:solidFill>
          </a:ln>
        </p:spPr>
      </p:sp>
      <p:sp>
        <p:nvSpPr>
          <p:cNvPr id="29" name="">
            <a:extLst xmlns:a="http://schemas.openxmlformats.org/drawingml/2006/main">
              <a:ext uri="{FF2B5EF4-FFF2-40B4-BE49-F238E27FC236}">
                <a16:creationId xmlns:a16="http://schemas.microsoft.com/office/drawing/2014/main" id="{2AD1AB54-B25E-4016-A9D6-AB26B746EB54}"/>
              </a:ext>
            </a:extLst>
          </p:cNvPr>
          <p:cNvSpPr>
            <a:spLocks xmlns:a="http://schemas.openxmlformats.org/drawingml/2006/main" noGrp="1"/>
          </p:cNvSpPr>
          <p:nvPr/>
        </p:nvSpPr>
        <p:spPr>
          <a:xfrm xmlns:a="http://schemas.openxmlformats.org/drawingml/2006/main">
            <a:off x="8248650" y="2286000"/>
            <a:ext cx="1466850" cy="361950"/>
          </a:xfrm>
          <a:prstGeom xmlns:a="http://schemas.openxmlformats.org/drawingml/2006/main" prst="roundRect">
            <a:avLst>
              <a:gd name="adj" fmla="val 42105"/>
            </a:avLst>
          </a:prstGeom>
          <a:solidFill xmlns:a="http://schemas.openxmlformats.org/drawingml/2006/main">
            <a:srgbClr val="EDF8F5"/>
          </a:solidFill>
          <a:ln xmlns:a="http://schemas.openxmlformats.org/drawingml/2006/main" w="15240">
            <a:noFill/>
          </a:ln>
        </p:spPr>
      </p:sp>
      <p:sp>
        <p:nvSpPr>
          <p:cNvPr id="30" name="">
            <a:extLst xmlns:a="http://schemas.openxmlformats.org/drawingml/2006/main">
              <a:ext uri="{FF2B5EF4-FFF2-40B4-BE49-F238E27FC236}">
                <a16:creationId xmlns:a16="http://schemas.microsoft.com/office/drawing/2014/main" id="{531B2FF5-4543-4AF5-AED8-572DC3C46AF3}"/>
              </a:ext>
            </a:extLst>
          </p:cNvPr>
          <p:cNvSpPr>
            <a:spLocks xmlns:a="http://schemas.openxmlformats.org/drawingml/2006/main" noGrp="1"/>
          </p:cNvSpPr>
          <p:nvPr/>
        </p:nvSpPr>
        <p:spPr>
          <a:xfrm xmlns:a="http://schemas.openxmlformats.org/drawingml/2006/main">
            <a:off x="8343900" y="2352675"/>
            <a:ext cx="12763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Decision</a:t>
            </a:r>
          </a:p>
        </p:txBody>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3670158bae174f46">
            <a:extLst>
              <a:ext uri="{96DAC541-7B7A-43D3-8B79-37D633B846F1}">
                <asvg:svgBlip xmlns:asvg="http://schemas.microsoft.com/office/drawing/2016/SVG/main" r:embed="R00195b35565b4efe"/>
              </a:ext>
            </a:extLst>
          </a:blip>
          <a:stretch xmlns:a="http://schemas.openxmlformats.org/drawingml/2006/main"/>
        </p:blipFill>
        <p:spPr>
          <a:xfrm xmlns:a="http://schemas.openxmlformats.org/drawingml/2006/main">
            <a:off x="8724900" y="2781300"/>
            <a:ext cx="514350" cy="51435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5C0A4546-C6C2-4B53-9F5C-2143CE60F4B4}"/>
              </a:ext>
            </a:extLst>
          </p:cNvPr>
          <p:cNvSpPr>
            <a:spLocks xmlns:a="http://schemas.openxmlformats.org/drawingml/2006/main" noGrp="1"/>
          </p:cNvSpPr>
          <p:nvPr/>
        </p:nvSpPr>
        <p:spPr>
          <a:xfrm xmlns:a="http://schemas.openxmlformats.org/drawingml/2006/main">
            <a:off x="8324850" y="3429000"/>
            <a:ext cx="1314450" cy="12858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Fuse evidence</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Assign likely cause</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Explain uncertainty</a:t>
            </a:r>
          </a:p>
        </p:txBody>
      </p:sp>
      <p:sp>
        <p:nvSpPr>
          <p:cNvPr id="33" name="">
            <a:extLst xmlns:a="http://schemas.openxmlformats.org/drawingml/2006/main">
              <a:ext uri="{FF2B5EF4-FFF2-40B4-BE49-F238E27FC236}">
                <a16:creationId xmlns:a16="http://schemas.microsoft.com/office/drawing/2014/main" id="{3A2956C9-A8F6-4354-8BB3-02F66791E999}"/>
              </a:ext>
            </a:extLst>
          </p:cNvPr>
          <p:cNvSpPr>
            <a:spLocks xmlns:a="http://schemas.openxmlformats.org/drawingml/2006/main" noGrp="1"/>
          </p:cNvSpPr>
          <p:nvPr/>
        </p:nvSpPr>
        <p:spPr>
          <a:xfrm xmlns:a="http://schemas.openxmlformats.org/drawingml/2006/main">
            <a:off x="10287000" y="2190750"/>
            <a:ext cx="1524000" cy="2600325"/>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5240">
            <a:solidFill>
              <a:srgbClr val="D69A24"/>
            </a:solidFill>
          </a:ln>
        </p:spPr>
      </p:sp>
      <p:sp>
        <p:nvSpPr>
          <p:cNvPr id="34" name="">
            <a:extLst xmlns:a="http://schemas.openxmlformats.org/drawingml/2006/main">
              <a:ext uri="{FF2B5EF4-FFF2-40B4-BE49-F238E27FC236}">
                <a16:creationId xmlns:a16="http://schemas.microsoft.com/office/drawing/2014/main" id="{DC31B7DC-B974-4633-9C33-508E709A32F0}"/>
              </a:ext>
            </a:extLst>
          </p:cNvPr>
          <p:cNvSpPr>
            <a:spLocks xmlns:a="http://schemas.openxmlformats.org/drawingml/2006/main" noGrp="1"/>
          </p:cNvSpPr>
          <p:nvPr/>
        </p:nvSpPr>
        <p:spPr>
          <a:xfrm xmlns:a="http://schemas.openxmlformats.org/drawingml/2006/main">
            <a:off x="10382250" y="2286000"/>
            <a:ext cx="1333500" cy="361950"/>
          </a:xfrm>
          <a:prstGeom xmlns:a="http://schemas.openxmlformats.org/drawingml/2006/main" prst="roundRect">
            <a:avLst>
              <a:gd name="adj" fmla="val 42105"/>
            </a:avLst>
          </a:prstGeom>
          <a:solidFill xmlns:a="http://schemas.openxmlformats.org/drawingml/2006/main">
            <a:srgbClr val="FFF7E6"/>
          </a:solidFill>
          <a:ln xmlns:a="http://schemas.openxmlformats.org/drawingml/2006/main" w="15240">
            <a:noFill/>
          </a:ln>
        </p:spPr>
      </p:sp>
      <p:sp>
        <p:nvSpPr>
          <p:cNvPr id="35" name="">
            <a:extLst xmlns:a="http://schemas.openxmlformats.org/drawingml/2006/main">
              <a:ext uri="{FF2B5EF4-FFF2-40B4-BE49-F238E27FC236}">
                <a16:creationId xmlns:a16="http://schemas.microsoft.com/office/drawing/2014/main" id="{4E98E0C9-B864-4BA4-9993-34CB13C3D72C}"/>
              </a:ext>
            </a:extLst>
          </p:cNvPr>
          <p:cNvSpPr>
            <a:spLocks xmlns:a="http://schemas.openxmlformats.org/drawingml/2006/main" noGrp="1"/>
          </p:cNvSpPr>
          <p:nvPr/>
        </p:nvSpPr>
        <p:spPr>
          <a:xfrm xmlns:a="http://schemas.openxmlformats.org/drawingml/2006/main">
            <a:off x="10477500" y="2352675"/>
            <a:ext cx="11430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OUTPUT</a:t>
            </a:r>
          </a:p>
        </p:txBody>
      </p:sp>
      <p:pic>
        <p:nvPicPr>
          <p:cNvPr id="96" name=""/>
          <p:cNvPicPr>
            <a:picLocks xmlns:a="http://schemas.openxmlformats.org/drawingml/2006/main" noChangeAspect="1"/>
          </p:cNvPicPr>
          <p:nvPr/>
        </p:nvPicPr>
        <p:blipFill>
          <a:blip xmlns:r="http://schemas.openxmlformats.org/officeDocument/2006/relationships" xmlns:a="http://schemas.openxmlformats.org/drawingml/2006/main" r:embed="Rfe993d9f8df849c2">
            <a:extLst>
              <a:ext uri="{96DAC541-7B7A-43D3-8B79-37D633B846F1}">
                <asvg:svgBlip xmlns:asvg="http://schemas.microsoft.com/office/drawing/2016/SVG/main" r:embed="R5c96bbdc8e17461e"/>
              </a:ext>
            </a:extLst>
          </a:blip>
          <a:stretch xmlns:a="http://schemas.openxmlformats.org/drawingml/2006/main"/>
        </p:blipFill>
        <p:spPr>
          <a:xfrm xmlns:a="http://schemas.openxmlformats.org/drawingml/2006/main">
            <a:off x="10791825" y="2781300"/>
            <a:ext cx="514350" cy="514350"/>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A4B1EF4B-7B87-4B20-BF23-09CBF7331F1C}"/>
              </a:ext>
            </a:extLst>
          </p:cNvPr>
          <p:cNvSpPr>
            <a:spLocks xmlns:a="http://schemas.openxmlformats.org/drawingml/2006/main" noGrp="1"/>
          </p:cNvSpPr>
          <p:nvPr/>
        </p:nvSpPr>
        <p:spPr>
          <a:xfrm xmlns:a="http://schemas.openxmlformats.org/drawingml/2006/main">
            <a:off x="10458450" y="3429000"/>
            <a:ext cx="1181100" cy="12858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Map + reports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Incidents</a:t>
            </a:r>
          </a:p>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Human review</a:t>
            </a:r>
          </a:p>
        </p:txBody>
      </p:sp>
      <p:cxnSp>
        <p:nvCxnSpPr>
          <p:cNvPr id="98" name=""/>
          <p:cNvCxnSpPr>
            <a:stCxn xmlns:a="http://schemas.openxmlformats.org/drawingml/2006/main" id="8" idx="3"/>
            <a:endCxn xmlns:a="http://schemas.openxmlformats.org/drawingml/2006/main" id="13" idx="1"/>
          </p:cNvCxnSpPr>
          <p:nvPr/>
        </p:nvCxnSpPr>
        <p:spPr>
          <a:xfrm xmlns:a="http://schemas.openxmlformats.org/drawingml/2006/main" flipV="1">
            <a:off x="2428875" y="3414713"/>
            <a:ext cx="457200" cy="33338"/>
          </a:xfrm>
          <a:prstGeom xmlns:a="http://schemas.openxmlformats.org/drawingml/2006/main" prst="straightConnector1">
            <a:avLst/>
          </a:prstGeom>
          <a:ln xmlns:a="http://schemas.openxmlformats.org/drawingml/2006/main" w="20955">
            <a:solidFill>
              <a:srgbClr val="193C56"/>
            </a:solidFill>
            <a:tailEnd type="triangle" w="sm" len="sm"/>
          </a:ln>
        </p:spPr>
      </p:cxnSp>
      <p:cxnSp>
        <p:nvCxnSpPr>
          <p:cNvPr id="99" name=""/>
          <p:cNvCxnSpPr>
            <a:stCxn xmlns:a="http://schemas.openxmlformats.org/drawingml/2006/main" id="13" idx="3"/>
            <a:endCxn xmlns:a="http://schemas.openxmlformats.org/drawingml/2006/main" id="18" idx="1"/>
          </p:cNvCxnSpPr>
          <p:nvPr/>
        </p:nvCxnSpPr>
        <p:spPr>
          <a:xfrm xmlns:a="http://schemas.openxmlformats.org/drawingml/2006/main" flipV="1">
            <a:off x="4829175" y="2205038"/>
            <a:ext cx="457200" cy="1209675"/>
          </a:xfrm>
          <a:prstGeom xmlns:a="http://schemas.openxmlformats.org/drawingml/2006/main" prst="bentConnector3">
            <a:avLst>
              <a:gd name="adj1" fmla="val 50000"/>
            </a:avLst>
          </a:prstGeom>
          <a:ln xmlns:a="http://schemas.openxmlformats.org/drawingml/2006/main" w="20955">
            <a:solidFill>
              <a:srgbClr val="193C56"/>
            </a:solidFill>
            <a:tailEnd type="triangle" w="sm" len="sm"/>
          </a:ln>
        </p:spPr>
      </p:cxnSp>
      <p:cxnSp>
        <p:nvCxnSpPr>
          <p:cNvPr id="100" name=""/>
          <p:cNvCxnSpPr>
            <a:stCxn xmlns:a="http://schemas.openxmlformats.org/drawingml/2006/main" id="13" idx="3"/>
            <a:endCxn xmlns:a="http://schemas.openxmlformats.org/drawingml/2006/main" id="23" idx="1"/>
          </p:cNvCxnSpPr>
          <p:nvPr/>
        </p:nvCxnSpPr>
        <p:spPr>
          <a:xfrm xmlns:a="http://schemas.openxmlformats.org/drawingml/2006/main">
            <a:off x="4829175" y="3414713"/>
            <a:ext cx="457200" cy="1276350"/>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101" name=""/>
          <p:cNvCxnSpPr>
            <a:stCxn xmlns:a="http://schemas.openxmlformats.org/drawingml/2006/main" id="18" idx="3"/>
            <a:endCxn xmlns:a="http://schemas.openxmlformats.org/drawingml/2006/main" id="28" idx="1"/>
          </p:cNvCxnSpPr>
          <p:nvPr/>
        </p:nvCxnSpPr>
        <p:spPr>
          <a:xfrm xmlns:a="http://schemas.openxmlformats.org/drawingml/2006/main">
            <a:off x="7667625" y="2205038"/>
            <a:ext cx="485775" cy="1285875"/>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102" name=""/>
          <p:cNvCxnSpPr>
            <a:stCxn xmlns:a="http://schemas.openxmlformats.org/drawingml/2006/main" id="23" idx="3"/>
            <a:endCxn xmlns:a="http://schemas.openxmlformats.org/drawingml/2006/main" id="28" idx="1"/>
          </p:cNvCxnSpPr>
          <p:nvPr/>
        </p:nvCxnSpPr>
        <p:spPr>
          <a:xfrm xmlns:a="http://schemas.openxmlformats.org/drawingml/2006/main" flipV="1">
            <a:off x="7667625" y="3490913"/>
            <a:ext cx="485775" cy="1200150"/>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103" name=""/>
          <p:cNvCxnSpPr>
            <a:stCxn xmlns:a="http://schemas.openxmlformats.org/drawingml/2006/main" id="28" idx="3"/>
            <a:endCxn xmlns:a="http://schemas.openxmlformats.org/drawingml/2006/main" id="33" idx="1"/>
          </p:cNvCxnSpPr>
          <p:nvPr/>
        </p:nvCxnSpPr>
        <p:spPr>
          <a:xfrm xmlns:a="http://schemas.openxmlformats.org/drawingml/2006/main">
            <a:off x="9810750" y="3490913"/>
            <a:ext cx="476250" cy="0"/>
          </a:xfrm>
          <a:prstGeom xmlns:a="http://schemas.openxmlformats.org/drawingml/2006/main" prst="straightConnector1">
            <a:avLst/>
          </a:prstGeom>
          <a:ln xmlns:a="http://schemas.openxmlformats.org/drawingml/2006/main" w="20955">
            <a:solidFill>
              <a:srgbClr val="D69A24"/>
            </a:solidFill>
            <a:tailEnd type="triangle" w="sm" len="sm"/>
          </a:ln>
        </p:spPr>
      </p:cxnSp>
      <p:sp>
        <p:nvSpPr>
          <p:cNvPr id="44" name="">
            <a:extLst xmlns:a="http://schemas.openxmlformats.org/drawingml/2006/main">
              <a:ext uri="{FF2B5EF4-FFF2-40B4-BE49-F238E27FC236}">
                <a16:creationId xmlns:a16="http://schemas.microsoft.com/office/drawing/2014/main" id="{45C84369-81F8-46B0-9E8F-C92512A04191}"/>
              </a:ext>
            </a:extLst>
          </p:cNvPr>
          <p:cNvSpPr>
            <a:spLocks xmlns:a="http://schemas.openxmlformats.org/drawingml/2006/main" noGrp="1"/>
          </p:cNvSpPr>
          <p:nvPr/>
        </p:nvSpPr>
        <p:spPr>
          <a:xfrm xmlns:a="http://schemas.openxmlformats.org/drawingml/2006/main">
            <a:off x="2447925" y="3057525"/>
            <a:ext cx="571500" cy="2381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193C56"/>
                </a:solidFill>
                <a:latin typeface="Arial"/>
                <a:ea typeface="Arial"/>
                <a:cs typeface="Arial"/>
              </a:defRPr>
            </a:pPr>
            <a:r>
              <a:rPr sz="900" b="0">
                <a:solidFill>
                  <a:srgbClr val="193C56"/>
                </a:solidFill>
                <a:latin typeface="Arial"/>
                <a:ea typeface="Arial"/>
                <a:cs typeface="Arial"/>
              </a:rPr>
              <a:t>Readings</a:t>
            </a:r>
          </a:p>
        </p:txBody>
      </p:sp>
      <p:sp>
        <p:nvSpPr>
          <p:cNvPr id="45" name="">
            <a:extLst xmlns:a="http://schemas.openxmlformats.org/drawingml/2006/main">
              <a:ext uri="{FF2B5EF4-FFF2-40B4-BE49-F238E27FC236}">
                <a16:creationId xmlns:a16="http://schemas.microsoft.com/office/drawing/2014/main" id="{D2A4C71B-A0F0-409E-9949-193038DE5FAE}"/>
              </a:ext>
            </a:extLst>
          </p:cNvPr>
          <p:cNvSpPr>
            <a:spLocks xmlns:a="http://schemas.openxmlformats.org/drawingml/2006/main" noGrp="1"/>
          </p:cNvSpPr>
          <p:nvPr/>
        </p:nvSpPr>
        <p:spPr>
          <a:xfrm xmlns:a="http://schemas.openxmlformats.org/drawingml/2006/main">
            <a:off x="7667625" y="3181350"/>
            <a:ext cx="619125" cy="2381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168B83"/>
                </a:solidFill>
                <a:latin typeface="Arial"/>
                <a:ea typeface="Arial"/>
                <a:cs typeface="Arial"/>
              </a:defRPr>
            </a:pPr>
            <a:r>
              <a:rPr sz="900" b="0">
                <a:solidFill>
                  <a:srgbClr val="168B83"/>
                </a:solidFill>
                <a:latin typeface="Arial"/>
                <a:ea typeface="Arial"/>
                <a:cs typeface="Arial"/>
              </a:rPr>
              <a:t>Evidence</a:t>
            </a:r>
          </a:p>
        </p:txBody>
      </p:sp>
      <p:sp>
        <p:nvSpPr>
          <p:cNvPr id="46" name="">
            <a:extLst xmlns:a="http://schemas.openxmlformats.org/drawingml/2006/main">
              <a:ext uri="{FF2B5EF4-FFF2-40B4-BE49-F238E27FC236}">
                <a16:creationId xmlns:a16="http://schemas.microsoft.com/office/drawing/2014/main" id="{BB6E80DE-2264-41C9-A5FF-A04D6780587D}"/>
              </a:ext>
            </a:extLst>
          </p:cNvPr>
          <p:cNvSpPr>
            <a:spLocks xmlns:a="http://schemas.openxmlformats.org/drawingml/2006/main" noGrp="1"/>
          </p:cNvSpPr>
          <p:nvPr/>
        </p:nvSpPr>
        <p:spPr>
          <a:xfrm xmlns:a="http://schemas.openxmlformats.org/drawingml/2006/main">
            <a:off x="8058150" y="5153025"/>
            <a:ext cx="3810000" cy="6191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67B"/>
                </a:solidFill>
                <a:latin typeface="Arial"/>
                <a:ea typeface="Arial"/>
                <a:cs typeface="Arial"/>
              </a:defRPr>
            </a:pPr>
            <a:r>
              <a:rPr sz="1425" b="0">
                <a:solidFill>
                  <a:srgbClr val="52667B"/>
                </a:solidFill>
                <a:latin typeface="Arial"/>
                <a:ea typeface="Arial"/>
                <a:cs typeface="Arial"/>
              </a:rPr>
              <a:t>Healthy / Weather / Sensor fault</a:t>
            </a:r>
          </a:p>
          <a:p xmlns:a="http://schemas.openxmlformats.org/drawingml/2006/main">
            <a:pPr algn="l">
              <a:defRPr sz="1425" b="0">
                <a:solidFill>
                  <a:srgbClr val="52667B"/>
                </a:solidFill>
                <a:latin typeface="Arial"/>
                <a:ea typeface="Arial"/>
                <a:cs typeface="Arial"/>
              </a:defRPr>
            </a:pPr>
            <a:r>
              <a:rPr sz="1425" b="0">
                <a:solidFill>
                  <a:srgbClr val="52667B"/>
                </a:solidFill>
                <a:latin typeface="Arial"/>
                <a:ea typeface="Arial"/>
                <a:cs typeface="Arial"/>
              </a:rPr>
              <a:t>Data issue / Complex / Needs review</a:t>
            </a:r>
          </a:p>
        </p:txBody>
      </p:sp>
      <p:sp>
        <p:nvSpPr>
          <p:cNvPr id="47" name="">
            <a:extLst xmlns:a="http://schemas.openxmlformats.org/drawingml/2006/main">
              <a:ext uri="{FF2B5EF4-FFF2-40B4-BE49-F238E27FC236}">
                <a16:creationId xmlns:a16="http://schemas.microsoft.com/office/drawing/2014/main" id="{5CC4092A-2D53-45A8-8D79-660F12E1B69F}"/>
              </a:ext>
            </a:extLst>
          </p:cNvPr>
          <p:cNvSpPr>
            <a:spLocks xmlns:a="http://schemas.openxmlformats.org/drawingml/2006/main" noGrp="1"/>
          </p:cNvSpPr>
          <p:nvPr/>
        </p:nvSpPr>
        <p:spPr>
          <a:xfrm xmlns:a="http://schemas.openxmlformats.org/drawingml/2006/main">
            <a:off x="381000" y="5915025"/>
            <a:ext cx="11430000" cy="466725"/>
          </a:xfrm>
          <a:prstGeom xmlns:a="http://schemas.openxmlformats.org/drawingml/2006/main" prst="roundRect">
            <a:avLst>
              <a:gd name="adj" fmla="val 32653"/>
            </a:avLst>
          </a:prstGeom>
          <a:solidFill xmlns:a="http://schemas.openxmlformats.org/drawingml/2006/main">
            <a:srgbClr val="EEF5FD"/>
          </a:solidFill>
          <a:ln xmlns:a="http://schemas.openxmlformats.org/drawingml/2006/main" w="15240">
            <a:noFill/>
          </a:ln>
        </p:spPr>
      </p:sp>
      <p:pic>
        <p:nvPicPr>
          <p:cNvPr id="108" name=""/>
          <p:cNvPicPr>
            <a:picLocks xmlns:a="http://schemas.openxmlformats.org/drawingml/2006/main" noChangeAspect="1"/>
          </p:cNvPicPr>
          <p:nvPr/>
        </p:nvPicPr>
        <p:blipFill>
          <a:blip xmlns:r="http://schemas.openxmlformats.org/officeDocument/2006/relationships" xmlns:a="http://schemas.openxmlformats.org/drawingml/2006/main" r:embed="R336a5d25687c4dc2">
            <a:extLst>
              <a:ext uri="{96DAC541-7B7A-43D3-8B79-37D633B846F1}">
                <asvg:svgBlip xmlns:asvg="http://schemas.microsoft.com/office/drawing/2016/SVG/main" r:embed="R120a02ead34d4471"/>
              </a:ext>
            </a:extLst>
          </a:blip>
          <a:stretch xmlns:a="http://schemas.openxmlformats.org/drawingml/2006/main"/>
        </p:blipFill>
        <p:spPr>
          <a:xfrm xmlns:a="http://schemas.openxmlformats.org/drawingml/2006/main">
            <a:off x="1762125" y="6010275"/>
            <a:ext cx="266700" cy="266700"/>
          </a:xfrm>
          <a:prstGeom xmlns:a="http://schemas.openxmlformats.org/drawingml/2006/main" prst="rect">
            <a:avLst/>
          </a:prstGeom>
        </p:spPr>
      </p:pic>
      <p:sp>
        <p:nvSpPr>
          <p:cNvPr id="49" name="">
            <a:extLst xmlns:a="http://schemas.openxmlformats.org/drawingml/2006/main">
              <a:ext uri="{FF2B5EF4-FFF2-40B4-BE49-F238E27FC236}">
                <a16:creationId xmlns:a16="http://schemas.microsoft.com/office/drawing/2014/main" id="{1547B3B5-D906-4BEB-9545-03920523E128}"/>
              </a:ext>
            </a:extLst>
          </p:cNvPr>
          <p:cNvSpPr>
            <a:spLocks xmlns:a="http://schemas.openxmlformats.org/drawingml/2006/main" noGrp="1"/>
          </p:cNvSpPr>
          <p:nvPr/>
        </p:nvSpPr>
        <p:spPr>
          <a:xfrm xmlns:a="http://schemas.openxmlformats.org/drawingml/2006/main">
            <a:off x="21050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React</a:t>
            </a:r>
          </a:p>
        </p:txBody>
      </p:sp>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7b8042679cc74af0">
            <a:extLst>
              <a:ext uri="{96DAC541-7B7A-43D3-8B79-37D633B846F1}">
                <asvg:svgBlip xmlns:asvg="http://schemas.microsoft.com/office/drawing/2016/SVG/main" r:embed="Rc74af95118b64b85"/>
              </a:ext>
            </a:extLst>
          </a:blip>
          <a:stretch xmlns:a="http://schemas.openxmlformats.org/drawingml/2006/main"/>
        </p:blipFill>
        <p:spPr>
          <a:xfrm xmlns:a="http://schemas.openxmlformats.org/drawingml/2006/main">
            <a:off x="3400425" y="6010275"/>
            <a:ext cx="266700" cy="266700"/>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AFAEAEA6-2979-426A-9636-FA88E95E871B}"/>
              </a:ext>
            </a:extLst>
          </p:cNvPr>
          <p:cNvSpPr>
            <a:spLocks xmlns:a="http://schemas.openxmlformats.org/drawingml/2006/main" noGrp="1"/>
          </p:cNvSpPr>
          <p:nvPr/>
        </p:nvSpPr>
        <p:spPr>
          <a:xfrm xmlns:a="http://schemas.openxmlformats.org/drawingml/2006/main">
            <a:off x="37433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Three.js</a:t>
            </a:r>
          </a:p>
        </p:txBody>
      </p:sp>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7c5e1115d9224ba6">
            <a:extLst>
              <a:ext uri="{96DAC541-7B7A-43D3-8B79-37D633B846F1}">
                <asvg:svgBlip xmlns:asvg="http://schemas.microsoft.com/office/drawing/2016/SVG/main" r:embed="R579174d9f6854299"/>
              </a:ext>
            </a:extLst>
          </a:blip>
          <a:stretch xmlns:a="http://schemas.openxmlformats.org/drawingml/2006/main"/>
        </p:blipFill>
        <p:spPr>
          <a:xfrm xmlns:a="http://schemas.openxmlformats.org/drawingml/2006/main">
            <a:off x="5038725" y="6010275"/>
            <a:ext cx="266700" cy="266700"/>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00C942B7-0592-43C8-8296-5C53D125DBDE}"/>
              </a:ext>
            </a:extLst>
          </p:cNvPr>
          <p:cNvSpPr>
            <a:spLocks xmlns:a="http://schemas.openxmlformats.org/drawingml/2006/main" noGrp="1"/>
          </p:cNvSpPr>
          <p:nvPr/>
        </p:nvSpPr>
        <p:spPr>
          <a:xfrm xmlns:a="http://schemas.openxmlformats.org/drawingml/2006/main">
            <a:off x="53816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FastAPI</a:t>
            </a:r>
          </a:p>
        </p:txBody>
      </p:sp>
      <p:pic>
        <p:nvPicPr>
          <p:cNvPr id="114" name=""/>
          <p:cNvPicPr>
            <a:picLocks xmlns:a="http://schemas.openxmlformats.org/drawingml/2006/main" noChangeAspect="1"/>
          </p:cNvPicPr>
          <p:nvPr/>
        </p:nvPicPr>
        <p:blipFill>
          <a:blip xmlns:r="http://schemas.openxmlformats.org/officeDocument/2006/relationships" xmlns:a="http://schemas.openxmlformats.org/drawingml/2006/main" r:embed="R59d1ef7a8cc846d4">
            <a:extLst>
              <a:ext uri="{96DAC541-7B7A-43D3-8B79-37D633B846F1}">
                <asvg:svgBlip xmlns:asvg="http://schemas.microsoft.com/office/drawing/2016/SVG/main" r:embed="R20298094e708464e"/>
              </a:ext>
            </a:extLst>
          </a:blip>
          <a:stretch xmlns:a="http://schemas.openxmlformats.org/drawingml/2006/main"/>
        </p:blipFill>
        <p:spPr>
          <a:xfrm xmlns:a="http://schemas.openxmlformats.org/drawingml/2006/main">
            <a:off x="6677025" y="6010275"/>
            <a:ext cx="266700" cy="266700"/>
          </a:xfrm>
          <a:prstGeom xmlns:a="http://schemas.openxmlformats.org/drawingml/2006/main" prst="rect">
            <a:avLst/>
          </a:prstGeom>
        </p:spPr>
      </p:pic>
      <p:sp>
        <p:nvSpPr>
          <p:cNvPr id="55" name="">
            <a:extLst xmlns:a="http://schemas.openxmlformats.org/drawingml/2006/main">
              <a:ext uri="{FF2B5EF4-FFF2-40B4-BE49-F238E27FC236}">
                <a16:creationId xmlns:a16="http://schemas.microsoft.com/office/drawing/2014/main" id="{03F53B2C-58CA-4ADD-B2D0-310510A35F65}"/>
              </a:ext>
            </a:extLst>
          </p:cNvPr>
          <p:cNvSpPr>
            <a:spLocks xmlns:a="http://schemas.openxmlformats.org/drawingml/2006/main" noGrp="1"/>
          </p:cNvSpPr>
          <p:nvPr/>
        </p:nvSpPr>
        <p:spPr>
          <a:xfrm xmlns:a="http://schemas.openxmlformats.org/drawingml/2006/main">
            <a:off x="70199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Python</a:t>
            </a:r>
          </a:p>
        </p:txBody>
      </p:sp>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62ec7216e42e4415">
            <a:extLst>
              <a:ext uri="{96DAC541-7B7A-43D3-8B79-37D633B846F1}">
                <asvg:svgBlip xmlns:asvg="http://schemas.microsoft.com/office/drawing/2016/SVG/main" r:embed="Rd5c02cc216214dd1"/>
              </a:ext>
            </a:extLst>
          </a:blip>
          <a:stretch xmlns:a="http://schemas.openxmlformats.org/drawingml/2006/main"/>
        </p:blipFill>
        <p:spPr>
          <a:xfrm xmlns:a="http://schemas.openxmlformats.org/drawingml/2006/main">
            <a:off x="8315325" y="6010275"/>
            <a:ext cx="266700" cy="266700"/>
          </a:xfrm>
          <a:prstGeom xmlns:a="http://schemas.openxmlformats.org/drawingml/2006/main" prst="rect">
            <a:avLst/>
          </a:prstGeom>
        </p:spPr>
      </p:pic>
      <p:sp>
        <p:nvSpPr>
          <p:cNvPr id="57" name="">
            <a:extLst xmlns:a="http://schemas.openxmlformats.org/drawingml/2006/main">
              <a:ext uri="{FF2B5EF4-FFF2-40B4-BE49-F238E27FC236}">
                <a16:creationId xmlns:a16="http://schemas.microsoft.com/office/drawing/2014/main" id="{5F6BE9DE-78D6-4DFD-9ABC-953490FFEDCB}"/>
              </a:ext>
            </a:extLst>
          </p:cNvPr>
          <p:cNvSpPr>
            <a:spLocks xmlns:a="http://schemas.openxmlformats.org/drawingml/2006/main" noGrp="1"/>
          </p:cNvSpPr>
          <p:nvPr/>
        </p:nvSpPr>
        <p:spPr>
          <a:xfrm xmlns:a="http://schemas.openxmlformats.org/drawingml/2006/main">
            <a:off x="86582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SQLite</a:t>
            </a:r>
          </a:p>
        </p:txBody>
      </p:sp>
      <p:pic>
        <p:nvPicPr>
          <p:cNvPr id="118" name=""/>
          <p:cNvPicPr>
            <a:picLocks xmlns:a="http://schemas.openxmlformats.org/drawingml/2006/main" noChangeAspect="1"/>
          </p:cNvPicPr>
          <p:nvPr/>
        </p:nvPicPr>
        <p:blipFill>
          <a:blip xmlns:r="http://schemas.openxmlformats.org/officeDocument/2006/relationships" xmlns:a="http://schemas.openxmlformats.org/drawingml/2006/main" r:embed="Rc8284b2a504c417a">
            <a:extLst>
              <a:ext uri="{96DAC541-7B7A-43D3-8B79-37D633B846F1}">
                <asvg:svgBlip xmlns:asvg="http://schemas.microsoft.com/office/drawing/2016/SVG/main" r:embed="R648604faa6074963"/>
              </a:ext>
            </a:extLst>
          </a:blip>
          <a:stretch xmlns:a="http://schemas.openxmlformats.org/drawingml/2006/main"/>
        </p:blipFill>
        <p:spPr>
          <a:xfrm xmlns:a="http://schemas.openxmlformats.org/drawingml/2006/main">
            <a:off x="9953625" y="6010275"/>
            <a:ext cx="266700" cy="266700"/>
          </a:xfrm>
          <a:prstGeom xmlns:a="http://schemas.openxmlformats.org/drawingml/2006/main" prst="rect">
            <a:avLst/>
          </a:prstGeom>
        </p:spPr>
      </p:pic>
      <p:sp>
        <p:nvSpPr>
          <p:cNvPr id="59" name="">
            <a:extLst xmlns:a="http://schemas.openxmlformats.org/drawingml/2006/main">
              <a:ext uri="{FF2B5EF4-FFF2-40B4-BE49-F238E27FC236}">
                <a16:creationId xmlns:a16="http://schemas.microsoft.com/office/drawing/2014/main" id="{D427F633-F6F4-4D4D-9BE2-5EACBEE358A6}"/>
              </a:ext>
            </a:extLst>
          </p:cNvPr>
          <p:cNvSpPr>
            <a:spLocks xmlns:a="http://schemas.openxmlformats.org/drawingml/2006/main" noGrp="1"/>
          </p:cNvSpPr>
          <p:nvPr/>
        </p:nvSpPr>
        <p:spPr>
          <a:xfrm xmlns:a="http://schemas.openxmlformats.org/drawingml/2006/main">
            <a:off x="10296525" y="6057900"/>
            <a:ext cx="1238250" cy="2667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7324D"/>
                </a:solidFill>
                <a:latin typeface="Arial"/>
                <a:ea typeface="Arial"/>
                <a:cs typeface="Arial"/>
              </a:defRPr>
            </a:pPr>
            <a:r>
              <a:rPr sz="1200" b="1">
                <a:solidFill>
                  <a:srgbClr val="17324D"/>
                </a:solidFill>
                <a:latin typeface="Arial"/>
                <a:ea typeface="Arial"/>
                <a:cs typeface="Arial"/>
              </a:rPr>
              <a:t>scikit-learn</a:t>
            </a:r>
          </a:p>
        </p:txBody>
      </p:sp>
      <p:sp>
        <p:nvSpPr>
          <p:cNvPr id="60" name="">
            <a:extLst xmlns:a="http://schemas.openxmlformats.org/drawingml/2006/main">
              <a:ext uri="{FF2B5EF4-FFF2-40B4-BE49-F238E27FC236}">
                <a16:creationId xmlns:a16="http://schemas.microsoft.com/office/drawing/2014/main" id="{B79438C3-0DE6-42FE-92CA-AB5E454D2E9B}"/>
              </a:ext>
            </a:extLst>
          </p:cNvPr>
          <p:cNvSpPr>
            <a:spLocks xmlns:a="http://schemas.openxmlformats.org/drawingml/2006/main" noGrp="1"/>
          </p:cNvSpPr>
          <p:nvPr/>
        </p:nvSpPr>
        <p:spPr>
          <a:xfrm xmlns:a="http://schemas.openxmlformats.org/drawingml/2006/main">
            <a:off x="523875" y="6076950"/>
            <a:ext cx="114300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168B83"/>
                </a:solidFill>
                <a:latin typeface="Arial"/>
                <a:ea typeface="Arial"/>
                <a:cs typeface="Arial"/>
              </a:defRPr>
            </a:pPr>
            <a:r>
              <a:rPr sz="1125" b="1">
                <a:solidFill>
                  <a:srgbClr val="168B83"/>
                </a:solidFill>
                <a:latin typeface="Arial"/>
                <a:ea typeface="Arial"/>
                <a:cs typeface="Arial"/>
              </a:rPr>
              <a:t>TECH STACK</a:t>
            </a:r>
          </a:p>
        </p:txBody>
      </p:sp>
    </p:spTree>
    <p:extLst>
      <p:ext uri="{BB962C8B-B14F-4D97-AF65-F5344CB8AC3E}">
        <p14:creationId xmlns:p14="http://schemas.microsoft.com/office/powerpoint/2010/main" val="18522803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BA667F08-9E3A-49F0-9C82-AB4C9D74D80C}"/>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085AC350-8D65-48C3-9CEE-00823371402E}"/>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FEASIBILITY &amp; VIABILITY</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8268e2f4b71848ff"/>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D5B3B33-1691-4B28-8FDC-AC1A1A01640B}"/>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7CFA16C4-C203-4E24-919F-73779684BBFE}"/>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6" name="">
            <a:extLst xmlns:a="http://schemas.openxmlformats.org/drawingml/2006/main">
              <a:ext uri="{FF2B5EF4-FFF2-40B4-BE49-F238E27FC236}">
                <a16:creationId xmlns:a16="http://schemas.microsoft.com/office/drawing/2014/main" id="{3D1606AE-9D64-4D63-9F0A-3C800CCF3488}"/>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7" name="">
            <a:extLst xmlns:a="http://schemas.openxmlformats.org/drawingml/2006/main">
              <a:ext uri="{FF2B5EF4-FFF2-40B4-BE49-F238E27FC236}">
                <a16:creationId xmlns:a16="http://schemas.microsoft.com/office/drawing/2014/main" id="{1645DAB8-921C-4AFE-8158-35F7D6F2E59A}"/>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04</a:t>
            </a:r>
          </a:p>
        </p:txBody>
      </p:sp>
      <p:sp>
        <p:nvSpPr>
          <p:cNvPr id="8" name="">
            <a:extLst xmlns:a="http://schemas.openxmlformats.org/drawingml/2006/main">
              <a:ext uri="{FF2B5EF4-FFF2-40B4-BE49-F238E27FC236}">
                <a16:creationId xmlns:a16="http://schemas.microsoft.com/office/drawing/2014/main" id="{2F1035BF-2EB1-4BA2-AB74-55A523C0E1AA}"/>
              </a:ext>
            </a:extLst>
          </p:cNvPr>
          <p:cNvSpPr>
            <a:spLocks xmlns:a="http://schemas.openxmlformats.org/drawingml/2006/main" noGrp="1"/>
          </p:cNvSpPr>
          <p:nvPr/>
        </p:nvSpPr>
        <p:spPr>
          <a:xfrm xmlns:a="http://schemas.openxmlformats.org/drawingml/2006/main">
            <a:off x="419100" y="1247775"/>
            <a:ext cx="4953000" cy="3810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68B83"/>
                </a:solidFill>
                <a:latin typeface="Arial"/>
                <a:ea typeface="Arial"/>
                <a:cs typeface="Arial"/>
              </a:defRPr>
            </a:pPr>
            <a:r>
              <a:rPr sz="2100" b="1">
                <a:solidFill>
                  <a:srgbClr val="168B83"/>
                </a:solidFill>
                <a:latin typeface="Arial"/>
                <a:ea typeface="Arial"/>
                <a:cs typeface="Arial"/>
              </a:rPr>
              <a:t>Built and working</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687e0e577cf94e6c">
            <a:extLst>
              <a:ext uri="{96DAC541-7B7A-43D3-8B79-37D633B846F1}">
                <asvg:svgBlip xmlns:asvg="http://schemas.microsoft.com/office/drawing/2016/SVG/main" r:embed="R2f8944c106954255"/>
              </a:ext>
            </a:extLst>
          </a:blip>
          <a:stretch xmlns:a="http://schemas.openxmlformats.org/drawingml/2006/main"/>
        </p:blipFill>
        <p:spPr>
          <a:xfrm xmlns:a="http://schemas.openxmlformats.org/drawingml/2006/main">
            <a:off x="457200" y="1838325"/>
            <a:ext cx="342900" cy="3429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1AA5200-5CD2-40EB-8F06-B3636062486B}"/>
              </a:ext>
            </a:extLst>
          </p:cNvPr>
          <p:cNvSpPr>
            <a:spLocks xmlns:a="http://schemas.openxmlformats.org/drawingml/2006/main" noGrp="1"/>
          </p:cNvSpPr>
          <p:nvPr/>
        </p:nvSpPr>
        <p:spPr>
          <a:xfrm xmlns:a="http://schemas.openxmlformats.org/drawingml/2006/main">
            <a:off x="981075" y="1800225"/>
            <a:ext cx="40957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Technical</a:t>
            </a:r>
          </a:p>
        </p:txBody>
      </p:sp>
      <p:sp>
        <p:nvSpPr>
          <p:cNvPr id="11" name="">
            <a:extLst xmlns:a="http://schemas.openxmlformats.org/drawingml/2006/main">
              <a:ext uri="{FF2B5EF4-FFF2-40B4-BE49-F238E27FC236}">
                <a16:creationId xmlns:a16="http://schemas.microsoft.com/office/drawing/2014/main" id="{3AB71318-8098-435E-A845-E405C298EDEA}"/>
              </a:ext>
            </a:extLst>
          </p:cNvPr>
          <p:cNvSpPr>
            <a:spLocks xmlns:a="http://schemas.openxmlformats.org/drawingml/2006/main" noGrp="1"/>
          </p:cNvSpPr>
          <p:nvPr/>
        </p:nvSpPr>
        <p:spPr>
          <a:xfrm xmlns:a="http://schemas.openxmlformats.org/drawingml/2006/main">
            <a:off x="981075" y="2143125"/>
            <a:ext cx="4476750" cy="5810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Map, history, detection and review work</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together in a local prototype.</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832ef20237df4a44">
            <a:extLst>
              <a:ext uri="{96DAC541-7B7A-43D3-8B79-37D633B846F1}">
                <asvg:svgBlip xmlns:asvg="http://schemas.microsoft.com/office/drawing/2016/SVG/main" r:embed="Rfccbd49b758244c9"/>
              </a:ext>
            </a:extLst>
          </a:blip>
          <a:stretch xmlns:a="http://schemas.openxmlformats.org/drawingml/2006/main"/>
        </p:blipFill>
        <p:spPr>
          <a:xfrm xmlns:a="http://schemas.openxmlformats.org/drawingml/2006/main">
            <a:off x="457200" y="2867025"/>
            <a:ext cx="342900" cy="3429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3C3A92B-DCB7-4271-A9E9-99E4F089604C}"/>
              </a:ext>
            </a:extLst>
          </p:cNvPr>
          <p:cNvSpPr>
            <a:spLocks xmlns:a="http://schemas.openxmlformats.org/drawingml/2006/main" noGrp="1"/>
          </p:cNvSpPr>
          <p:nvPr/>
        </p:nvSpPr>
        <p:spPr>
          <a:xfrm xmlns:a="http://schemas.openxmlformats.org/drawingml/2006/main">
            <a:off x="981075" y="2828925"/>
            <a:ext cx="40957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Financial</a:t>
            </a:r>
          </a:p>
        </p:txBody>
      </p:sp>
      <p:sp>
        <p:nvSpPr>
          <p:cNvPr id="14" name="">
            <a:extLst xmlns:a="http://schemas.openxmlformats.org/drawingml/2006/main">
              <a:ext uri="{FF2B5EF4-FFF2-40B4-BE49-F238E27FC236}">
                <a16:creationId xmlns:a16="http://schemas.microsoft.com/office/drawing/2014/main" id="{105B4EAF-4B0C-4EAC-A84A-5A32F442996E}"/>
              </a:ext>
            </a:extLst>
          </p:cNvPr>
          <p:cNvSpPr>
            <a:spLocks xmlns:a="http://schemas.openxmlformats.org/drawingml/2006/main" noGrp="1"/>
          </p:cNvSpPr>
          <p:nvPr/>
        </p:nvSpPr>
        <p:spPr>
          <a:xfrm xmlns:a="http://schemas.openxmlformats.org/drawingml/2006/main">
            <a:off x="981075" y="3171825"/>
            <a:ext cx="4476750" cy="5810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Open-source tools reduce licensing needs.</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Hosting and support costs need a pilot.</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0aa9b6817de94907">
            <a:extLst>
              <a:ext uri="{96DAC541-7B7A-43D3-8B79-37D633B846F1}">
                <asvg:svgBlip xmlns:asvg="http://schemas.microsoft.com/office/drawing/2016/SVG/main" r:embed="R3fe034d5e4be4656"/>
              </a:ext>
            </a:extLst>
          </a:blip>
          <a:stretch xmlns:a="http://schemas.openxmlformats.org/drawingml/2006/main"/>
        </p:blipFill>
        <p:spPr>
          <a:xfrm xmlns:a="http://schemas.openxmlformats.org/drawingml/2006/main">
            <a:off x="457200" y="3895725"/>
            <a:ext cx="342900" cy="34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0E02E212-AE35-47E1-87C8-8122262270BC}"/>
              </a:ext>
            </a:extLst>
          </p:cNvPr>
          <p:cNvSpPr>
            <a:spLocks xmlns:a="http://schemas.openxmlformats.org/drawingml/2006/main" noGrp="1"/>
          </p:cNvSpPr>
          <p:nvPr/>
        </p:nvSpPr>
        <p:spPr>
          <a:xfrm xmlns:a="http://schemas.openxmlformats.org/drawingml/2006/main">
            <a:off x="981075" y="3857625"/>
            <a:ext cx="40957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Operational</a:t>
            </a:r>
          </a:p>
        </p:txBody>
      </p:sp>
      <p:sp>
        <p:nvSpPr>
          <p:cNvPr id="17" name="">
            <a:extLst xmlns:a="http://schemas.openxmlformats.org/drawingml/2006/main">
              <a:ext uri="{FF2B5EF4-FFF2-40B4-BE49-F238E27FC236}">
                <a16:creationId xmlns:a16="http://schemas.microsoft.com/office/drawing/2014/main" id="{64064E0D-7516-499C-A269-6125C70075A7}"/>
              </a:ext>
            </a:extLst>
          </p:cNvPr>
          <p:cNvSpPr>
            <a:spLocks xmlns:a="http://schemas.openxmlformats.org/drawingml/2006/main" noGrp="1"/>
          </p:cNvSpPr>
          <p:nvPr/>
        </p:nvSpPr>
        <p:spPr>
          <a:xfrm xmlns:a="http://schemas.openxmlformats.org/drawingml/2006/main">
            <a:off x="981075" y="4200525"/>
            <a:ext cx="4476750" cy="5810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Uses standard temperature, pressure and</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humidity inputs from weather stations.</a:t>
            </a:r>
          </a:p>
        </p:txBody>
      </p:sp>
      <p:sp>
        <p:nvSpPr>
          <p:cNvPr id="18" name="">
            <a:extLst xmlns:a="http://schemas.openxmlformats.org/drawingml/2006/main">
              <a:ext uri="{FF2B5EF4-FFF2-40B4-BE49-F238E27FC236}">
                <a16:creationId xmlns:a16="http://schemas.microsoft.com/office/drawing/2014/main" id="{95F61B1B-57A7-4A5D-B412-187DDDA971A5}"/>
              </a:ext>
            </a:extLst>
          </p:cNvPr>
          <p:cNvSpPr>
            <a:spLocks xmlns:a="http://schemas.openxmlformats.org/drawingml/2006/main" noGrp="1"/>
          </p:cNvSpPr>
          <p:nvPr/>
        </p:nvSpPr>
        <p:spPr>
          <a:xfrm xmlns:a="http://schemas.openxmlformats.org/drawingml/2006/main">
            <a:off x="419100" y="4991100"/>
            <a:ext cx="51435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Fault recall in the synthetic test (%)</a:t>
            </a:r>
          </a:p>
        </p:txBody>
      </p:sp>
      <p:graphicFrame>
        <p:nvGraphicFramePr>
          <p:cNvPr id="62" name="Chart"/>
          <p:cNvGraphicFramePr/>
          <p:nvPr/>
        </p:nvGraphicFramePr>
        <p:xfrm>
          <a:off xmlns:a="http://schemas.openxmlformats.org/drawingml/2006/main" x="419100" y="5362575"/>
          <a:ext xmlns:a="http://schemas.openxmlformats.org/drawingml/2006/main" cx="4953000" cy="838200"/>
        </p:xfrm>
        <a:graphic xmlns:a="http://schemas.openxmlformats.org/drawingml/2006/main">
          <a:graphicData uri="http://schemas.openxmlformats.org/drawingml/2006/chart">
            <c:chart xmlns:r="http://schemas.openxmlformats.org/officeDocument/2006/relationships" xmlns:c="http://schemas.openxmlformats.org/drawingml/2006/chart" r:id="R8a74758c3e9f45b2"/>
          </a:graphicData>
        </a:graphic>
      </p:graphicFrame>
      <p:sp>
        <p:nvSpPr>
          <p:cNvPr id="20" name="">
            <a:extLst xmlns:a="http://schemas.openxmlformats.org/drawingml/2006/main">
              <a:ext uri="{FF2B5EF4-FFF2-40B4-BE49-F238E27FC236}">
                <a16:creationId xmlns:a16="http://schemas.microsoft.com/office/drawing/2014/main" id="{5836F4E3-7A3F-44DC-A9DA-FF02635543E7}"/>
              </a:ext>
            </a:extLst>
          </p:cNvPr>
          <p:cNvSpPr>
            <a:spLocks xmlns:a="http://schemas.openxmlformats.org/drawingml/2006/main" noGrp="1"/>
          </p:cNvSpPr>
          <p:nvPr/>
        </p:nvSpPr>
        <p:spPr>
          <a:xfrm xmlns:a="http://schemas.openxmlformats.org/drawingml/2006/main">
            <a:off x="419100" y="6210300"/>
            <a:ext cx="5334000" cy="2095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67B"/>
                </a:solidFill>
                <a:latin typeface="Arial"/>
                <a:ea typeface="Arial"/>
                <a:cs typeface="Arial"/>
              </a:defRPr>
            </a:pPr>
            <a:r>
              <a:rPr sz="1125" b="0">
                <a:solidFill>
                  <a:srgbClr val="52667B"/>
                </a:solidFill>
                <a:latin typeface="Arial"/>
                <a:ea typeface="Arial"/>
                <a:cs typeface="Arial"/>
              </a:rPr>
              <a:t>4,032 simulated observations / 24 unseen stations / 7 scenarios</a:t>
            </a:r>
          </a:p>
        </p:txBody>
      </p:sp>
      <p:sp>
        <p:nvSpPr>
          <p:cNvPr id="21" name="">
            <a:extLst xmlns:a="http://schemas.openxmlformats.org/drawingml/2006/main">
              <a:ext uri="{FF2B5EF4-FFF2-40B4-BE49-F238E27FC236}">
                <a16:creationId xmlns:a16="http://schemas.microsoft.com/office/drawing/2014/main" id="{099C15D3-6FD0-49B9-A9C4-AAE8D3896053}"/>
              </a:ext>
            </a:extLst>
          </p:cNvPr>
          <p:cNvSpPr>
            <a:spLocks xmlns:a="http://schemas.openxmlformats.org/drawingml/2006/main" noGrp="1"/>
          </p:cNvSpPr>
          <p:nvPr/>
        </p:nvSpPr>
        <p:spPr>
          <a:xfrm xmlns:a="http://schemas.openxmlformats.org/drawingml/2006/main">
            <a:off x="8105775" y="3133725"/>
            <a:ext cx="1704975" cy="1133475"/>
          </a:xfrm>
          <a:prstGeom xmlns:a="http://schemas.openxmlformats.org/drawingml/2006/main" prst="roundRect">
            <a:avLst>
              <a:gd name="adj" fmla="val 13445"/>
            </a:avLst>
          </a:prstGeom>
          <a:solidFill xmlns:a="http://schemas.openxmlformats.org/drawingml/2006/main">
            <a:srgbClr val="FFF7E6"/>
          </a:solidFill>
          <a:ln xmlns:a="http://schemas.openxmlformats.org/drawingml/2006/main" w="15240">
            <a:solidFill>
              <a:srgbClr val="D69A24"/>
            </a:solidFill>
          </a:ln>
        </p:spPr>
      </p:sp>
      <p:sp>
        <p:nvSpPr>
          <p:cNvPr id="22" name="">
            <a:extLst xmlns:a="http://schemas.openxmlformats.org/drawingml/2006/main">
              <a:ext uri="{FF2B5EF4-FFF2-40B4-BE49-F238E27FC236}">
                <a16:creationId xmlns:a16="http://schemas.microsoft.com/office/drawing/2014/main" id="{7D76598C-673A-4E8C-B37C-192F808841B0}"/>
              </a:ext>
            </a:extLst>
          </p:cNvPr>
          <p:cNvSpPr>
            <a:spLocks xmlns:a="http://schemas.openxmlformats.org/drawingml/2006/main" noGrp="1"/>
          </p:cNvSpPr>
          <p:nvPr/>
        </p:nvSpPr>
        <p:spPr>
          <a:xfrm xmlns:a="http://schemas.openxmlformats.org/drawingml/2006/main">
            <a:off x="8277225" y="3419475"/>
            <a:ext cx="1381125" cy="666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FIELD</a:t>
            </a:r>
          </a:p>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VALIDATION</a:t>
            </a:r>
          </a:p>
        </p:txBody>
      </p:sp>
      <p:sp>
        <p:nvSpPr>
          <p:cNvPr id="23" name="">
            <a:extLst xmlns:a="http://schemas.openxmlformats.org/drawingml/2006/main">
              <a:ext uri="{FF2B5EF4-FFF2-40B4-BE49-F238E27FC236}">
                <a16:creationId xmlns:a16="http://schemas.microsoft.com/office/drawing/2014/main" id="{5233F008-E5CA-48C4-9BB0-624380F6B854}"/>
              </a:ext>
            </a:extLst>
          </p:cNvPr>
          <p:cNvSpPr>
            <a:spLocks xmlns:a="http://schemas.openxmlformats.org/drawingml/2006/main" noGrp="1"/>
          </p:cNvSpPr>
          <p:nvPr/>
        </p:nvSpPr>
        <p:spPr>
          <a:xfrm xmlns:a="http://schemas.openxmlformats.org/drawingml/2006/main">
            <a:off x="6124575" y="1590675"/>
            <a:ext cx="1885950" cy="1362075"/>
          </a:xfrm>
          <a:prstGeom xmlns:a="http://schemas.openxmlformats.org/drawingml/2006/main" prst="roundRect">
            <a:avLst>
              <a:gd name="adj" fmla="val 11189"/>
            </a:avLst>
          </a:prstGeom>
          <a:solidFill xmlns:a="http://schemas.openxmlformats.org/drawingml/2006/main">
            <a:srgbClr val="FFFFFF"/>
          </a:solidFill>
          <a:ln xmlns:a="http://schemas.openxmlformats.org/drawingml/2006/main" w="15240">
            <a:solidFill>
              <a:srgbClr val="168B83"/>
            </a:solidFill>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6cdf3679028e43af">
            <a:extLst>
              <a:ext uri="{96DAC541-7B7A-43D3-8B79-37D633B846F1}">
                <asvg:svgBlip xmlns:asvg="http://schemas.microsoft.com/office/drawing/2016/SVG/main" r:embed="Rcf6c73fba9ce4b81"/>
              </a:ext>
            </a:extLst>
          </a:blip>
          <a:stretch xmlns:a="http://schemas.openxmlformats.org/drawingml/2006/main"/>
        </p:blipFill>
        <p:spPr>
          <a:xfrm xmlns:a="http://schemas.openxmlformats.org/drawingml/2006/main">
            <a:off x="6267450" y="1733550"/>
            <a:ext cx="247650" cy="24765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EAFB6F48-032A-403D-8CF4-273B8F46CEF7}"/>
              </a:ext>
            </a:extLst>
          </p:cNvPr>
          <p:cNvSpPr>
            <a:spLocks xmlns:a="http://schemas.openxmlformats.org/drawingml/2006/main" noGrp="1"/>
          </p:cNvSpPr>
          <p:nvPr/>
        </p:nvSpPr>
        <p:spPr>
          <a:xfrm xmlns:a="http://schemas.openxmlformats.org/drawingml/2006/main">
            <a:off x="6591300" y="1762125"/>
            <a:ext cx="1333500" cy="4667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7324D"/>
                </a:solidFill>
                <a:latin typeface="Arial"/>
                <a:ea typeface="Arial"/>
                <a:cs typeface="Arial"/>
              </a:defRPr>
            </a:pPr>
            <a:r>
              <a:rPr sz="1425" b="1">
                <a:solidFill>
                  <a:srgbClr val="17324D"/>
                </a:solidFill>
                <a:latin typeface="Arial"/>
                <a:ea typeface="Arial"/>
                <a:cs typeface="Arial"/>
              </a:rPr>
              <a:t>Real observations</a:t>
            </a:r>
          </a:p>
        </p:txBody>
      </p:sp>
      <p:sp>
        <p:nvSpPr>
          <p:cNvPr id="26" name="">
            <a:extLst xmlns:a="http://schemas.openxmlformats.org/drawingml/2006/main">
              <a:ext uri="{FF2B5EF4-FFF2-40B4-BE49-F238E27FC236}">
                <a16:creationId xmlns:a16="http://schemas.microsoft.com/office/drawing/2014/main" id="{00CB39B3-5402-480A-AD86-032DFBC6CF28}"/>
              </a:ext>
            </a:extLst>
          </p:cNvPr>
          <p:cNvSpPr>
            <a:spLocks xmlns:a="http://schemas.openxmlformats.org/drawingml/2006/main" noGrp="1"/>
          </p:cNvSpPr>
          <p:nvPr/>
        </p:nvSpPr>
        <p:spPr>
          <a:xfrm xmlns:a="http://schemas.openxmlformats.org/drawingml/2006/main">
            <a:off x="6267450" y="2324100"/>
            <a:ext cx="1619250" cy="571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Connect an authorised</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AWS feed.</a:t>
            </a:r>
          </a:p>
        </p:txBody>
      </p:sp>
      <p:cxnSp>
        <p:nvCxnSpPr>
          <p:cNvPr id="70" name=""/>
          <p:cNvCxnSpPr>
            <a:stCxn xmlns:a="http://schemas.openxmlformats.org/drawingml/2006/main" id="21" idx="1"/>
            <a:endCxn xmlns:a="http://schemas.openxmlformats.org/drawingml/2006/main" id="23" idx="3"/>
          </p:cNvCxnSpPr>
          <p:nvPr/>
        </p:nvCxnSpPr>
        <p:spPr>
          <a:xfrm xmlns:a="http://schemas.openxmlformats.org/drawingml/2006/main" flipH="1" flipV="1">
            <a:off x="6010275" y="1476375"/>
            <a:ext cx="2114550" cy="2224088"/>
          </a:xfrm>
          <a:prstGeom xmlns:a="http://schemas.openxmlformats.org/drawingml/2006/main" prst="bentConnector4">
            <a:avLst/>
          </a:prstGeom>
          <a:ln xmlns:a="http://schemas.openxmlformats.org/drawingml/2006/main" w="20955">
            <a:solidFill>
              <a:srgbClr val="168B83"/>
            </a:solidFill>
            <a:tailEnd type="triangle" w="sm" len="sm"/>
          </a:ln>
        </p:spPr>
      </p:cxnSp>
      <p:sp>
        <p:nvSpPr>
          <p:cNvPr id="28" name="">
            <a:extLst xmlns:a="http://schemas.openxmlformats.org/drawingml/2006/main">
              <a:ext uri="{FF2B5EF4-FFF2-40B4-BE49-F238E27FC236}">
                <a16:creationId xmlns:a16="http://schemas.microsoft.com/office/drawing/2014/main" id="{6876016D-77BF-4BF8-998D-E2E9BA2B5590}"/>
              </a:ext>
            </a:extLst>
          </p:cNvPr>
          <p:cNvSpPr>
            <a:spLocks xmlns:a="http://schemas.openxmlformats.org/drawingml/2006/main" noGrp="1"/>
          </p:cNvSpPr>
          <p:nvPr/>
        </p:nvSpPr>
        <p:spPr>
          <a:xfrm xmlns:a="http://schemas.openxmlformats.org/drawingml/2006/main">
            <a:off x="9886950" y="1590675"/>
            <a:ext cx="1885950" cy="1362075"/>
          </a:xfrm>
          <a:prstGeom xmlns:a="http://schemas.openxmlformats.org/drawingml/2006/main" prst="roundRect">
            <a:avLst>
              <a:gd name="adj" fmla="val 11189"/>
            </a:avLst>
          </a:prstGeom>
          <a:solidFill xmlns:a="http://schemas.openxmlformats.org/drawingml/2006/main">
            <a:srgbClr val="FFFFFF"/>
          </a:solidFill>
          <a:ln xmlns:a="http://schemas.openxmlformats.org/drawingml/2006/main" w="15240">
            <a:solidFill>
              <a:srgbClr val="168B83"/>
            </a:solidFill>
          </a:ln>
        </p:spPr>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953a4580723944ea">
            <a:extLst>
              <a:ext uri="{96DAC541-7B7A-43D3-8B79-37D633B846F1}">
                <asvg:svgBlip xmlns:asvg="http://schemas.microsoft.com/office/drawing/2016/SVG/main" r:embed="Re6e91460f5394ee8"/>
              </a:ext>
            </a:extLst>
          </a:blip>
          <a:stretch xmlns:a="http://schemas.openxmlformats.org/drawingml/2006/main"/>
        </p:blipFill>
        <p:spPr>
          <a:xfrm xmlns:a="http://schemas.openxmlformats.org/drawingml/2006/main">
            <a:off x="10029825" y="1733550"/>
            <a:ext cx="247650" cy="24765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BB5B0989-55EC-436C-8ED0-11707D9D6DAF}"/>
              </a:ext>
            </a:extLst>
          </p:cNvPr>
          <p:cNvSpPr>
            <a:spLocks xmlns:a="http://schemas.openxmlformats.org/drawingml/2006/main" noGrp="1"/>
          </p:cNvSpPr>
          <p:nvPr/>
        </p:nvSpPr>
        <p:spPr>
          <a:xfrm xmlns:a="http://schemas.openxmlformats.org/drawingml/2006/main">
            <a:off x="10353675" y="1762125"/>
            <a:ext cx="1333500" cy="4667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7324D"/>
                </a:solidFill>
                <a:latin typeface="Arial"/>
                <a:ea typeface="Arial"/>
                <a:cs typeface="Arial"/>
              </a:defRPr>
            </a:pPr>
            <a:r>
              <a:rPr sz="1425" b="1">
                <a:solidFill>
                  <a:srgbClr val="17324D"/>
                </a:solidFill>
                <a:latin typeface="Arial"/>
                <a:ea typeface="Arial"/>
                <a:cs typeface="Arial"/>
              </a:rPr>
              <a:t>Expert labels</a:t>
            </a:r>
          </a:p>
        </p:txBody>
      </p:sp>
      <p:sp>
        <p:nvSpPr>
          <p:cNvPr id="31" name="">
            <a:extLst xmlns:a="http://schemas.openxmlformats.org/drawingml/2006/main">
              <a:ext uri="{FF2B5EF4-FFF2-40B4-BE49-F238E27FC236}">
                <a16:creationId xmlns:a16="http://schemas.microsoft.com/office/drawing/2014/main" id="{DE2940BD-25E3-43C4-9DF5-240AFE5414EB}"/>
              </a:ext>
            </a:extLst>
          </p:cNvPr>
          <p:cNvSpPr>
            <a:spLocks xmlns:a="http://schemas.openxmlformats.org/drawingml/2006/main" noGrp="1"/>
          </p:cNvSpPr>
          <p:nvPr/>
        </p:nvSpPr>
        <p:spPr>
          <a:xfrm xmlns:a="http://schemas.openxmlformats.org/drawingml/2006/main">
            <a:off x="10029825" y="2324100"/>
            <a:ext cx="1619250" cy="571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Label faults and</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weather events.</a:t>
            </a:r>
          </a:p>
        </p:txBody>
      </p:sp>
      <p:cxnSp>
        <p:nvCxnSpPr>
          <p:cNvPr id="75" name=""/>
          <p:cNvCxnSpPr>
            <a:stCxn xmlns:a="http://schemas.openxmlformats.org/drawingml/2006/main" id="21" idx="3"/>
            <a:endCxn xmlns:a="http://schemas.openxmlformats.org/drawingml/2006/main" id="28" idx="1"/>
          </p:cNvCxnSpPr>
          <p:nvPr/>
        </p:nvCxnSpPr>
        <p:spPr>
          <a:xfrm xmlns:a="http://schemas.openxmlformats.org/drawingml/2006/main" flipV="1">
            <a:off x="9772650" y="1476375"/>
            <a:ext cx="2114550" cy="2224088"/>
          </a:xfrm>
          <a:prstGeom xmlns:a="http://schemas.openxmlformats.org/drawingml/2006/main" prst="bentConnector4">
            <a:avLst/>
          </a:prstGeom>
          <a:ln xmlns:a="http://schemas.openxmlformats.org/drawingml/2006/main" w="20955">
            <a:solidFill>
              <a:srgbClr val="168B83"/>
            </a:solidFill>
            <a:tailEnd type="triangle" w="sm" len="sm"/>
          </a:ln>
        </p:spPr>
      </p:cxnSp>
      <p:sp>
        <p:nvSpPr>
          <p:cNvPr id="33" name="">
            <a:extLst xmlns:a="http://schemas.openxmlformats.org/drawingml/2006/main">
              <a:ext uri="{FF2B5EF4-FFF2-40B4-BE49-F238E27FC236}">
                <a16:creationId xmlns:a16="http://schemas.microsoft.com/office/drawing/2014/main" id="{5A9EB1B2-310C-423A-A4EC-0322B193FC37}"/>
              </a:ext>
            </a:extLst>
          </p:cNvPr>
          <p:cNvSpPr>
            <a:spLocks xmlns:a="http://schemas.openxmlformats.org/drawingml/2006/main" noGrp="1"/>
          </p:cNvSpPr>
          <p:nvPr/>
        </p:nvSpPr>
        <p:spPr>
          <a:xfrm xmlns:a="http://schemas.openxmlformats.org/drawingml/2006/main">
            <a:off x="6124575" y="4648200"/>
            <a:ext cx="1885950" cy="1362075"/>
          </a:xfrm>
          <a:prstGeom xmlns:a="http://schemas.openxmlformats.org/drawingml/2006/main" prst="roundRect">
            <a:avLst>
              <a:gd name="adj" fmla="val 11189"/>
            </a:avLst>
          </a:prstGeom>
          <a:solidFill xmlns:a="http://schemas.openxmlformats.org/drawingml/2006/main">
            <a:srgbClr val="FFFFFF"/>
          </a:solidFill>
          <a:ln xmlns:a="http://schemas.openxmlformats.org/drawingml/2006/main" w="15240">
            <a:solidFill>
              <a:srgbClr val="168B83"/>
            </a:solidFill>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2e488341dbbb4274">
            <a:extLst>
              <a:ext uri="{96DAC541-7B7A-43D3-8B79-37D633B846F1}">
                <asvg:svgBlip xmlns:asvg="http://schemas.microsoft.com/office/drawing/2016/SVG/main" r:embed="R25c3bf3f73ef421b"/>
              </a:ext>
            </a:extLst>
          </a:blip>
          <a:stretch xmlns:a="http://schemas.openxmlformats.org/drawingml/2006/main"/>
        </p:blipFill>
        <p:spPr>
          <a:xfrm xmlns:a="http://schemas.openxmlformats.org/drawingml/2006/main">
            <a:off x="6267450" y="4791075"/>
            <a:ext cx="247650" cy="247650"/>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31E24896-D751-479A-AF7D-55C0C4E20D02}"/>
              </a:ext>
            </a:extLst>
          </p:cNvPr>
          <p:cNvSpPr>
            <a:spLocks xmlns:a="http://schemas.openxmlformats.org/drawingml/2006/main" noGrp="1"/>
          </p:cNvSpPr>
          <p:nvPr/>
        </p:nvSpPr>
        <p:spPr>
          <a:xfrm xmlns:a="http://schemas.openxmlformats.org/drawingml/2006/main">
            <a:off x="6591300" y="4819650"/>
            <a:ext cx="1333500" cy="4667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7324D"/>
                </a:solidFill>
                <a:latin typeface="Arial"/>
                <a:ea typeface="Arial"/>
                <a:cs typeface="Arial"/>
              </a:defRPr>
            </a:pPr>
            <a:r>
              <a:rPr sz="1425" b="1">
                <a:solidFill>
                  <a:srgbClr val="17324D"/>
                </a:solidFill>
                <a:latin typeface="Arial"/>
                <a:ea typeface="Arial"/>
                <a:cs typeface="Arial"/>
              </a:rPr>
              <a:t>New conditions</a:t>
            </a:r>
          </a:p>
        </p:txBody>
      </p:sp>
      <p:sp>
        <p:nvSpPr>
          <p:cNvPr id="36" name="">
            <a:extLst xmlns:a="http://schemas.openxmlformats.org/drawingml/2006/main">
              <a:ext uri="{FF2B5EF4-FFF2-40B4-BE49-F238E27FC236}">
                <a16:creationId xmlns:a16="http://schemas.microsoft.com/office/drawing/2014/main" id="{983FC6A1-751D-49ED-AF8C-BB69F5AB509E}"/>
              </a:ext>
            </a:extLst>
          </p:cNvPr>
          <p:cNvSpPr>
            <a:spLocks xmlns:a="http://schemas.openxmlformats.org/drawingml/2006/main" noGrp="1"/>
          </p:cNvSpPr>
          <p:nvPr/>
        </p:nvSpPr>
        <p:spPr>
          <a:xfrm xmlns:a="http://schemas.openxmlformats.org/drawingml/2006/main">
            <a:off x="6267450" y="5381625"/>
            <a:ext cx="1619250" cy="571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Test different stations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and seasons.</a:t>
            </a:r>
          </a:p>
        </p:txBody>
      </p:sp>
      <p:cxnSp>
        <p:nvCxnSpPr>
          <p:cNvPr id="80" name=""/>
          <p:cNvCxnSpPr>
            <a:stCxn xmlns:a="http://schemas.openxmlformats.org/drawingml/2006/main" id="21" idx="1"/>
            <a:endCxn xmlns:a="http://schemas.openxmlformats.org/drawingml/2006/main" id="33" idx="3"/>
          </p:cNvCxnSpPr>
          <p:nvPr/>
        </p:nvCxnSpPr>
        <p:spPr>
          <a:xfrm xmlns:a="http://schemas.openxmlformats.org/drawingml/2006/main" flipH="1">
            <a:off x="7991475" y="3700463"/>
            <a:ext cx="133350" cy="1628775"/>
          </a:xfrm>
          <a:prstGeom xmlns:a="http://schemas.openxmlformats.org/drawingml/2006/main" prst="bentConnector4">
            <a:avLst/>
          </a:prstGeom>
          <a:ln xmlns:a="http://schemas.openxmlformats.org/drawingml/2006/main" w="20955">
            <a:solidFill>
              <a:srgbClr val="168B83"/>
            </a:solidFill>
            <a:tailEnd type="triangle" w="sm" len="sm"/>
          </a:ln>
        </p:spPr>
      </p:cxnSp>
      <p:sp>
        <p:nvSpPr>
          <p:cNvPr id="38" name="">
            <a:extLst xmlns:a="http://schemas.openxmlformats.org/drawingml/2006/main">
              <a:ext uri="{FF2B5EF4-FFF2-40B4-BE49-F238E27FC236}">
                <a16:creationId xmlns:a16="http://schemas.microsoft.com/office/drawing/2014/main" id="{872BAF0F-DFBA-40C8-85EB-15AFECC6A0D4}"/>
              </a:ext>
            </a:extLst>
          </p:cNvPr>
          <p:cNvSpPr>
            <a:spLocks xmlns:a="http://schemas.openxmlformats.org/drawingml/2006/main" noGrp="1"/>
          </p:cNvSpPr>
          <p:nvPr/>
        </p:nvSpPr>
        <p:spPr>
          <a:xfrm xmlns:a="http://schemas.openxmlformats.org/drawingml/2006/main">
            <a:off x="9886950" y="4648200"/>
            <a:ext cx="1885950" cy="1362075"/>
          </a:xfrm>
          <a:prstGeom xmlns:a="http://schemas.openxmlformats.org/drawingml/2006/main" prst="roundRect">
            <a:avLst>
              <a:gd name="adj" fmla="val 11189"/>
            </a:avLst>
          </a:prstGeom>
          <a:solidFill xmlns:a="http://schemas.openxmlformats.org/drawingml/2006/main">
            <a:srgbClr val="FFFFFF"/>
          </a:solidFill>
          <a:ln xmlns:a="http://schemas.openxmlformats.org/drawingml/2006/main" w="15240">
            <a:solidFill>
              <a:srgbClr val="168B83"/>
            </a:solidFill>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2af69380b99b4129">
            <a:extLst>
              <a:ext uri="{96DAC541-7B7A-43D3-8B79-37D633B846F1}">
                <asvg:svgBlip xmlns:asvg="http://schemas.microsoft.com/office/drawing/2016/SVG/main" r:embed="Rb782bb333a5e4056"/>
              </a:ext>
            </a:extLst>
          </a:blip>
          <a:stretch xmlns:a="http://schemas.openxmlformats.org/drawingml/2006/main"/>
        </p:blipFill>
        <p:spPr>
          <a:xfrm xmlns:a="http://schemas.openxmlformats.org/drawingml/2006/main">
            <a:off x="10029825" y="4791075"/>
            <a:ext cx="247650" cy="247650"/>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52F80C5C-E9C8-43DF-BD3B-52C0B0C3A169}"/>
              </a:ext>
            </a:extLst>
          </p:cNvPr>
          <p:cNvSpPr>
            <a:spLocks xmlns:a="http://schemas.openxmlformats.org/drawingml/2006/main" noGrp="1"/>
          </p:cNvSpPr>
          <p:nvPr/>
        </p:nvSpPr>
        <p:spPr>
          <a:xfrm xmlns:a="http://schemas.openxmlformats.org/drawingml/2006/main">
            <a:off x="10353675" y="4819650"/>
            <a:ext cx="1333500" cy="46672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7324D"/>
                </a:solidFill>
                <a:latin typeface="Arial"/>
                <a:ea typeface="Arial"/>
                <a:cs typeface="Arial"/>
              </a:defRPr>
            </a:pPr>
            <a:r>
              <a:rPr sz="1425" b="1">
                <a:solidFill>
                  <a:srgbClr val="17324D"/>
                </a:solidFill>
                <a:latin typeface="Arial"/>
                <a:ea typeface="Arial"/>
                <a:cs typeface="Arial"/>
              </a:rPr>
              <a:t>Measure value</a:t>
            </a:r>
          </a:p>
        </p:txBody>
      </p:sp>
      <p:sp>
        <p:nvSpPr>
          <p:cNvPr id="41" name="">
            <a:extLst xmlns:a="http://schemas.openxmlformats.org/drawingml/2006/main">
              <a:ext uri="{FF2B5EF4-FFF2-40B4-BE49-F238E27FC236}">
                <a16:creationId xmlns:a16="http://schemas.microsoft.com/office/drawing/2014/main" id="{863075FE-E7C6-409B-9BD6-66D3FDBCEE72}"/>
              </a:ext>
            </a:extLst>
          </p:cNvPr>
          <p:cNvSpPr>
            <a:spLocks xmlns:a="http://schemas.openxmlformats.org/drawingml/2006/main" noGrp="1"/>
          </p:cNvSpPr>
          <p:nvPr/>
        </p:nvSpPr>
        <p:spPr>
          <a:xfrm xmlns:a="http://schemas.openxmlformats.org/drawingml/2006/main">
            <a:off x="10029825" y="5381625"/>
            <a:ext cx="1619250" cy="571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Track false alerts and</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operator review time.</a:t>
            </a:r>
          </a:p>
        </p:txBody>
      </p:sp>
      <p:cxnSp>
        <p:nvCxnSpPr>
          <p:cNvPr id="85" name=""/>
          <p:cNvCxnSpPr>
            <a:stCxn xmlns:a="http://schemas.openxmlformats.org/drawingml/2006/main" id="21" idx="3"/>
            <a:endCxn xmlns:a="http://schemas.openxmlformats.org/drawingml/2006/main" id="38" idx="1"/>
          </p:cNvCxnSpPr>
          <p:nvPr/>
        </p:nvCxnSpPr>
        <p:spPr>
          <a:xfrm xmlns:a="http://schemas.openxmlformats.org/drawingml/2006/main">
            <a:off x="9772650" y="3700463"/>
            <a:ext cx="152400" cy="1628775"/>
          </a:xfrm>
          <a:prstGeom xmlns:a="http://schemas.openxmlformats.org/drawingml/2006/main" prst="bentConnector4">
            <a:avLst/>
          </a:prstGeom>
          <a:ln xmlns:a="http://schemas.openxmlformats.org/drawingml/2006/main" w="20955">
            <a:solidFill>
              <a:srgbClr val="168B83"/>
            </a:solidFill>
            <a:tailEnd type="triangle" w="sm" len="sm"/>
          </a:ln>
        </p:spPr>
      </p:cxnSp>
      <p:sp>
        <p:nvSpPr>
          <p:cNvPr id="43" name="">
            <a:extLst xmlns:a="http://schemas.openxmlformats.org/drawingml/2006/main">
              <a:ext uri="{FF2B5EF4-FFF2-40B4-BE49-F238E27FC236}">
                <a16:creationId xmlns:a16="http://schemas.microsoft.com/office/drawing/2014/main" id="{39D2D52D-ED4D-4A15-AE79-552C8016C290}"/>
              </a:ext>
            </a:extLst>
          </p:cNvPr>
          <p:cNvSpPr>
            <a:spLocks xmlns:a="http://schemas.openxmlformats.org/drawingml/2006/main" noGrp="1"/>
          </p:cNvSpPr>
          <p:nvPr/>
        </p:nvSpPr>
        <p:spPr>
          <a:xfrm xmlns:a="http://schemas.openxmlformats.org/drawingml/2006/main">
            <a:off x="6124575" y="6181725"/>
            <a:ext cx="56197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2667B"/>
                </a:solidFill>
                <a:latin typeface="Arial"/>
                <a:ea typeface="Arial"/>
                <a:cs typeface="Arial"/>
              </a:defRPr>
            </a:pPr>
            <a:r>
              <a:rPr sz="1200" b="0">
                <a:solidFill>
                  <a:srgbClr val="52667B"/>
                </a:solidFill>
                <a:latin typeface="Arial"/>
                <a:ea typeface="Arial"/>
                <a:cs typeface="Arial"/>
              </a:rPr>
              <a:t>Known limit: weather recall 9.72%. Field accuracy is unproven.</a:t>
            </a:r>
          </a:p>
        </p:txBody>
      </p:sp>
    </p:spTree>
    <p:extLst>
      <p:ext uri="{BB962C8B-B14F-4D97-AF65-F5344CB8AC3E}">
        <p14:creationId xmlns:p14="http://schemas.microsoft.com/office/powerpoint/2010/main" val="11223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3D8C192-CD49-48A0-A5AB-D8C7E3E9AC9E}"/>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8CD2404B-F3A9-46F0-9788-8B6DBADE1C6E}"/>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IMPACT &amp; BENEFITS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4a3f476eef0a4b48"/>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C97F691-1B03-4FF8-AD0D-10DA9BDD6426}"/>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D58A62B8-7E3B-4ABF-8F10-799D7E6B5B3C}"/>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A station report turns scattered readings into evidence an operator can review.</a:t>
            </a:r>
          </a:p>
        </p:txBody>
      </p:sp>
      <p:sp>
        <p:nvSpPr>
          <p:cNvPr id="6" name="">
            <a:extLst xmlns:a="http://schemas.openxmlformats.org/drawingml/2006/main">
              <a:ext uri="{FF2B5EF4-FFF2-40B4-BE49-F238E27FC236}">
                <a16:creationId xmlns:a16="http://schemas.microsoft.com/office/drawing/2014/main" id="{A307CE03-FF07-4957-BBAC-B5AF49E390F7}"/>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28FE0FEC-4E42-4378-ABCE-A96B48FEFF3D}"/>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5E92F8D8-5F95-4EA8-95DC-2F5EBCA26586}"/>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05</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537592617ee344f7"/>
          <a:stretch xmlns:a="http://schemas.openxmlformats.org/drawingml/2006/main"/>
        </p:blipFill>
        <p:spPr>
          <a:xfrm xmlns:a="http://schemas.openxmlformats.org/drawingml/2006/main">
            <a:off x="925889" y="1695450"/>
            <a:ext cx="4710948" cy="42672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301BA85-448C-4721-B563-01710D043F96}"/>
              </a:ext>
            </a:extLst>
          </p:cNvPr>
          <p:cNvSpPr>
            <a:spLocks xmlns:a="http://schemas.openxmlformats.org/drawingml/2006/main" noGrp="1"/>
          </p:cNvSpPr>
          <p:nvPr/>
        </p:nvSpPr>
        <p:spPr>
          <a:xfrm xmlns:a="http://schemas.openxmlformats.org/drawingml/2006/main">
            <a:off x="619125" y="6124575"/>
            <a:ext cx="53911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68B83"/>
                </a:solidFill>
                <a:latin typeface="Arial"/>
                <a:ea typeface="Arial"/>
                <a:cs typeface="Arial"/>
              </a:defRPr>
            </a:pPr>
            <a:r>
              <a:rPr sz="1200" b="1">
                <a:solidFill>
                  <a:srgbClr val="168B83"/>
                </a:solidFill>
                <a:latin typeface="Arial"/>
                <a:ea typeface="Arial"/>
                <a:cs typeface="Arial"/>
              </a:rPr>
              <a:t>ACTUAL PROTOTYPE / SIMULATED STATIONS</a:t>
            </a:r>
          </a:p>
        </p:txBody>
      </p:sp>
      <p:sp>
        <p:nvSpPr>
          <p:cNvPr id="11" name="">
            <a:extLst xmlns:a="http://schemas.openxmlformats.org/drawingml/2006/main">
              <a:ext uri="{FF2B5EF4-FFF2-40B4-BE49-F238E27FC236}">
                <a16:creationId xmlns:a16="http://schemas.microsoft.com/office/drawing/2014/main" id="{797CB053-9947-434C-834A-38FDA0190162}"/>
              </a:ext>
            </a:extLst>
          </p:cNvPr>
          <p:cNvSpPr>
            <a:spLocks xmlns:a="http://schemas.openxmlformats.org/drawingml/2006/main" noGrp="1"/>
          </p:cNvSpPr>
          <p:nvPr/>
        </p:nvSpPr>
        <p:spPr>
          <a:xfrm xmlns:a="http://schemas.openxmlformats.org/drawingml/2006/main">
            <a:off x="6838950" y="1762125"/>
            <a:ext cx="4933950" cy="1133475"/>
          </a:xfrm>
          <a:prstGeom xmlns:a="http://schemas.openxmlformats.org/drawingml/2006/main" prst="roundRect">
            <a:avLst>
              <a:gd name="adj" fmla="val 13445"/>
            </a:avLst>
          </a:prstGeom>
          <a:noFill xmlns:a="http://schemas.openxmlformats.org/drawingml/2006/main"/>
          <a:ln xmlns:a="http://schemas.openxmlformats.org/drawingml/2006/main" w="15240">
            <a:solidFill>
              <a:srgbClr val="CDDBE8"/>
            </a:solid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895034a668234741">
            <a:extLst>
              <a:ext uri="{96DAC541-7B7A-43D3-8B79-37D633B846F1}">
                <asvg:svgBlip xmlns:asvg="http://schemas.microsoft.com/office/drawing/2016/SVG/main" r:embed="R94eac460ff9447c3"/>
              </a:ext>
            </a:extLst>
          </a:blip>
          <a:stretch xmlns:a="http://schemas.openxmlformats.org/drawingml/2006/main"/>
        </p:blipFill>
        <p:spPr>
          <a:xfrm xmlns:a="http://schemas.openxmlformats.org/drawingml/2006/main">
            <a:off x="7000875" y="1943100"/>
            <a:ext cx="342900" cy="3429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4856019-87D0-4B01-BB0A-4B0F09F4E097}"/>
              </a:ext>
            </a:extLst>
          </p:cNvPr>
          <p:cNvSpPr>
            <a:spLocks xmlns:a="http://schemas.openxmlformats.org/drawingml/2006/main" noGrp="1"/>
          </p:cNvSpPr>
          <p:nvPr/>
        </p:nvSpPr>
        <p:spPr>
          <a:xfrm xmlns:a="http://schemas.openxmlformats.org/drawingml/2006/main">
            <a:off x="7524750" y="1933575"/>
            <a:ext cx="4000500" cy="2952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Locate the station</a:t>
            </a:r>
          </a:p>
        </p:txBody>
      </p:sp>
      <p:sp>
        <p:nvSpPr>
          <p:cNvPr id="14" name="">
            <a:extLst xmlns:a="http://schemas.openxmlformats.org/drawingml/2006/main">
              <a:ext uri="{FF2B5EF4-FFF2-40B4-BE49-F238E27FC236}">
                <a16:creationId xmlns:a16="http://schemas.microsoft.com/office/drawing/2014/main" id="{26063EE4-87E9-4931-98F6-77E2288C1DFD}"/>
              </a:ext>
            </a:extLst>
          </p:cNvPr>
          <p:cNvSpPr>
            <a:spLocks xmlns:a="http://schemas.openxmlformats.org/drawingml/2006/main" noGrp="1"/>
          </p:cNvSpPr>
          <p:nvPr/>
        </p:nvSpPr>
        <p:spPr>
          <a:xfrm xmlns:a="http://schemas.openxmlformats.org/drawingml/2006/main">
            <a:off x="7524750" y="2352675"/>
            <a:ext cx="4048125" cy="5524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Map status dots identify stations</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that need attention.</a:t>
            </a:r>
          </a:p>
        </p:txBody>
      </p:sp>
      <p:sp>
        <p:nvSpPr>
          <p:cNvPr id="15" name="">
            <a:extLst xmlns:a="http://schemas.openxmlformats.org/drawingml/2006/main">
              <a:ext uri="{FF2B5EF4-FFF2-40B4-BE49-F238E27FC236}">
                <a16:creationId xmlns:a16="http://schemas.microsoft.com/office/drawing/2014/main" id="{D24DB410-340C-40F0-A6B0-A90300AF6DC8}"/>
              </a:ext>
            </a:extLst>
          </p:cNvPr>
          <p:cNvSpPr>
            <a:spLocks xmlns:a="http://schemas.openxmlformats.org/drawingml/2006/main" noGrp="1"/>
          </p:cNvSpPr>
          <p:nvPr/>
        </p:nvSpPr>
        <p:spPr>
          <a:xfrm xmlns:a="http://schemas.openxmlformats.org/drawingml/2006/main">
            <a:off x="6838950" y="3124200"/>
            <a:ext cx="4933950" cy="1133475"/>
          </a:xfrm>
          <a:prstGeom xmlns:a="http://schemas.openxmlformats.org/drawingml/2006/main" prst="roundRect">
            <a:avLst>
              <a:gd name="adj" fmla="val 13445"/>
            </a:avLst>
          </a:prstGeom>
          <a:noFill xmlns:a="http://schemas.openxmlformats.org/drawingml/2006/main"/>
          <a:ln xmlns:a="http://schemas.openxmlformats.org/drawingml/2006/main" w="15240">
            <a:solidFill>
              <a:srgbClr val="CDDBE8"/>
            </a:solidFill>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55c141b00f9845f2">
            <a:extLst>
              <a:ext uri="{96DAC541-7B7A-43D3-8B79-37D633B846F1}">
                <asvg:svgBlip xmlns:asvg="http://schemas.microsoft.com/office/drawing/2016/SVG/main" r:embed="Rcf13e7b037524c35"/>
              </a:ext>
            </a:extLst>
          </a:blip>
          <a:stretch xmlns:a="http://schemas.openxmlformats.org/drawingml/2006/main"/>
        </p:blipFill>
        <p:spPr>
          <a:xfrm xmlns:a="http://schemas.openxmlformats.org/drawingml/2006/main">
            <a:off x="7000875" y="3305175"/>
            <a:ext cx="342900" cy="3429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B1E72ADA-C91D-4FD8-B6A5-6F94DED0938D}"/>
              </a:ext>
            </a:extLst>
          </p:cNvPr>
          <p:cNvSpPr>
            <a:spLocks xmlns:a="http://schemas.openxmlformats.org/drawingml/2006/main" noGrp="1"/>
          </p:cNvSpPr>
          <p:nvPr/>
        </p:nvSpPr>
        <p:spPr>
          <a:xfrm xmlns:a="http://schemas.openxmlformats.org/drawingml/2006/main">
            <a:off x="7524750" y="3295650"/>
            <a:ext cx="4000500" cy="2952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Understand the alert</a:t>
            </a:r>
          </a:p>
        </p:txBody>
      </p:sp>
      <p:sp>
        <p:nvSpPr>
          <p:cNvPr id="18" name="">
            <a:extLst xmlns:a="http://schemas.openxmlformats.org/drawingml/2006/main">
              <a:ext uri="{FF2B5EF4-FFF2-40B4-BE49-F238E27FC236}">
                <a16:creationId xmlns:a16="http://schemas.microsoft.com/office/drawing/2014/main" id="{8221CBDE-2900-4D2E-9780-93FF289479EF}"/>
              </a:ext>
            </a:extLst>
          </p:cNvPr>
          <p:cNvSpPr>
            <a:spLocks xmlns:a="http://schemas.openxmlformats.org/drawingml/2006/main" noGrp="1"/>
          </p:cNvSpPr>
          <p:nvPr/>
        </p:nvSpPr>
        <p:spPr>
          <a:xfrm xmlns:a="http://schemas.openxmlformats.org/drawingml/2006/main">
            <a:off x="7524750" y="3714750"/>
            <a:ext cx="4048125" cy="5524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History and nearby observations</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help explain the likely cause.</a:t>
            </a:r>
          </a:p>
        </p:txBody>
      </p:sp>
      <p:cxnSp>
        <p:nvCxnSpPr>
          <p:cNvPr id="45" name=""/>
          <p:cNvCxnSpPr>
            <a:stCxn xmlns:a="http://schemas.openxmlformats.org/drawingml/2006/main" id="11" idx="2"/>
            <a:endCxn xmlns:a="http://schemas.openxmlformats.org/drawingml/2006/main" id="15" idx="0"/>
          </p:cNvCxnSpPr>
          <p:nvPr/>
        </p:nvCxnSpPr>
        <p:spPr>
          <a:xfrm xmlns:a="http://schemas.openxmlformats.org/drawingml/2006/main">
            <a:off x="9305925" y="2895600"/>
            <a:ext cx="0" cy="22860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0" name="">
            <a:extLst xmlns:a="http://schemas.openxmlformats.org/drawingml/2006/main">
              <a:ext uri="{FF2B5EF4-FFF2-40B4-BE49-F238E27FC236}">
                <a16:creationId xmlns:a16="http://schemas.microsoft.com/office/drawing/2014/main" id="{2690774C-8AE4-457C-8BD4-9507B01AE07C}"/>
              </a:ext>
            </a:extLst>
          </p:cNvPr>
          <p:cNvSpPr>
            <a:spLocks xmlns:a="http://schemas.openxmlformats.org/drawingml/2006/main" noGrp="1"/>
          </p:cNvSpPr>
          <p:nvPr/>
        </p:nvSpPr>
        <p:spPr>
          <a:xfrm xmlns:a="http://schemas.openxmlformats.org/drawingml/2006/main">
            <a:off x="6838950" y="4486275"/>
            <a:ext cx="4933950" cy="1133475"/>
          </a:xfrm>
          <a:prstGeom xmlns:a="http://schemas.openxmlformats.org/drawingml/2006/main" prst="roundRect">
            <a:avLst>
              <a:gd name="adj" fmla="val 13445"/>
            </a:avLst>
          </a:prstGeom>
          <a:noFill xmlns:a="http://schemas.openxmlformats.org/drawingml/2006/main"/>
          <a:ln xmlns:a="http://schemas.openxmlformats.org/drawingml/2006/main" w="15240">
            <a:solidFill>
              <a:srgbClr val="CDDBE8"/>
            </a:solid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906eb548e1424f1c">
            <a:extLst>
              <a:ext uri="{96DAC541-7B7A-43D3-8B79-37D633B846F1}">
                <asvg:svgBlip xmlns:asvg="http://schemas.microsoft.com/office/drawing/2016/SVG/main" r:embed="Recd3fee55a0d4cb3"/>
              </a:ext>
            </a:extLst>
          </a:blip>
          <a:stretch xmlns:a="http://schemas.openxmlformats.org/drawingml/2006/main"/>
        </p:blipFill>
        <p:spPr>
          <a:xfrm xmlns:a="http://schemas.openxmlformats.org/drawingml/2006/main">
            <a:off x="7000875" y="4667250"/>
            <a:ext cx="342900" cy="3429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B32DDC05-82D4-4D61-8339-B61180AE4FCF}"/>
              </a:ext>
            </a:extLst>
          </p:cNvPr>
          <p:cNvSpPr>
            <a:spLocks xmlns:a="http://schemas.openxmlformats.org/drawingml/2006/main" noGrp="1"/>
          </p:cNvSpPr>
          <p:nvPr/>
        </p:nvSpPr>
        <p:spPr>
          <a:xfrm xmlns:a="http://schemas.openxmlformats.org/drawingml/2006/main">
            <a:off x="7524750" y="4657725"/>
            <a:ext cx="4000500" cy="2952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7324D"/>
                </a:solidFill>
                <a:latin typeface="Arial"/>
                <a:ea typeface="Arial"/>
                <a:cs typeface="Arial"/>
              </a:defRPr>
            </a:pPr>
            <a:r>
              <a:rPr sz="1800" b="1">
                <a:solidFill>
                  <a:srgbClr val="17324D"/>
                </a:solidFill>
                <a:latin typeface="Arial"/>
                <a:ea typeface="Arial"/>
                <a:cs typeface="Arial"/>
              </a:rPr>
              <a:t>Record the decision</a:t>
            </a:r>
          </a:p>
        </p:txBody>
      </p:sp>
      <p:sp>
        <p:nvSpPr>
          <p:cNvPr id="23" name="">
            <a:extLst xmlns:a="http://schemas.openxmlformats.org/drawingml/2006/main">
              <a:ext uri="{FF2B5EF4-FFF2-40B4-BE49-F238E27FC236}">
                <a16:creationId xmlns:a16="http://schemas.microsoft.com/office/drawing/2014/main" id="{56AD7174-330A-4E9A-A649-D2B2609BA169}"/>
              </a:ext>
            </a:extLst>
          </p:cNvPr>
          <p:cNvSpPr>
            <a:spLocks xmlns:a="http://schemas.openxmlformats.org/drawingml/2006/main" noGrp="1"/>
          </p:cNvSpPr>
          <p:nvPr/>
        </p:nvSpPr>
        <p:spPr>
          <a:xfrm xmlns:a="http://schemas.openxmlformats.org/drawingml/2006/main">
            <a:off x="7524750" y="5076825"/>
            <a:ext cx="4048125" cy="5524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Reviews and proposed fixes retain</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a traceable record.</a:t>
            </a:r>
          </a:p>
        </p:txBody>
      </p:sp>
      <p:cxnSp>
        <p:nvCxnSpPr>
          <p:cNvPr id="50" name=""/>
          <p:cNvCxnSpPr>
            <a:stCxn xmlns:a="http://schemas.openxmlformats.org/drawingml/2006/main" id="15" idx="2"/>
            <a:endCxn xmlns:a="http://schemas.openxmlformats.org/drawingml/2006/main" id="20" idx="0"/>
          </p:cNvCxnSpPr>
          <p:nvPr/>
        </p:nvCxnSpPr>
        <p:spPr>
          <a:xfrm xmlns:a="http://schemas.openxmlformats.org/drawingml/2006/main">
            <a:off x="9305925" y="4257675"/>
            <a:ext cx="0" cy="22860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5" name="">
            <a:extLst xmlns:a="http://schemas.openxmlformats.org/drawingml/2006/main">
              <a:ext uri="{FF2B5EF4-FFF2-40B4-BE49-F238E27FC236}">
                <a16:creationId xmlns:a16="http://schemas.microsoft.com/office/drawing/2014/main" id="{97A1E881-77EC-4105-88BF-E0CB0FFABAB6}"/>
              </a:ext>
            </a:extLst>
          </p:cNvPr>
          <p:cNvSpPr>
            <a:spLocks xmlns:a="http://schemas.openxmlformats.org/drawingml/2006/main" noGrp="1"/>
          </p:cNvSpPr>
          <p:nvPr/>
        </p:nvSpPr>
        <p:spPr>
          <a:xfrm xmlns:a="http://schemas.openxmlformats.org/drawingml/2006/main">
            <a:off x="6838950" y="6019800"/>
            <a:ext cx="2238375"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168B83"/>
                </a:solidFill>
                <a:latin typeface="Arial"/>
                <a:ea typeface="Arial"/>
                <a:cs typeface="Arial"/>
              </a:defRPr>
            </a:pPr>
            <a:r>
              <a:rPr sz="1425" b="1">
                <a:solidFill>
                  <a:srgbClr val="168B83"/>
                </a:solidFill>
                <a:latin typeface="Arial"/>
                <a:ea typeface="Arial"/>
                <a:cs typeface="Arial"/>
              </a:rPr>
              <a:t>Expected benefit</a:t>
            </a:r>
          </a:p>
        </p:txBody>
      </p:sp>
      <p:sp>
        <p:nvSpPr>
          <p:cNvPr id="26" name="">
            <a:extLst xmlns:a="http://schemas.openxmlformats.org/drawingml/2006/main">
              <a:ext uri="{FF2B5EF4-FFF2-40B4-BE49-F238E27FC236}">
                <a16:creationId xmlns:a16="http://schemas.microsoft.com/office/drawing/2014/main" id="{47BF2508-003C-4427-922C-DBF863B77FCE}"/>
              </a:ext>
            </a:extLst>
          </p:cNvPr>
          <p:cNvSpPr>
            <a:spLocks xmlns:a="http://schemas.openxmlformats.org/drawingml/2006/main" noGrp="1"/>
          </p:cNvSpPr>
          <p:nvPr/>
        </p:nvSpPr>
        <p:spPr>
          <a:xfrm xmlns:a="http://schemas.openxmlformats.org/drawingml/2006/main">
            <a:off x="6838950" y="6238875"/>
            <a:ext cx="4953000" cy="2190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Less searching and more focused investigations.</a:t>
            </a:r>
          </a:p>
        </p:txBody>
      </p:sp>
    </p:spTree>
    <p:extLst>
      <p:ext uri="{BB962C8B-B14F-4D97-AF65-F5344CB8AC3E}">
        <p14:creationId xmlns:p14="http://schemas.microsoft.com/office/powerpoint/2010/main" val="23346093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CE9C2BBC-882A-4DD2-A834-067C8863829F}"/>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C4B54CAE-2838-4D9F-BE18-A63D2FF3473F}"/>
              </a:ext>
            </a:extLst>
          </p:cNvPr>
          <p:cNvSpPr>
            <a:spLocks xmlns:a="http://schemas.openxmlformats.org/drawingml/2006/main" noGrp="1"/>
          </p:cNvSpPr>
          <p:nvPr/>
        </p:nvSpPr>
        <p:spPr>
          <a:xfrm xmlns:a="http://schemas.openxmlformats.org/drawingml/2006/main">
            <a:off x="2381250" y="209550"/>
            <a:ext cx="7620000" cy="4953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324D"/>
                </a:solidFill>
                <a:latin typeface="Arial"/>
                <a:ea typeface="Arial"/>
                <a:cs typeface="Arial"/>
              </a:defRPr>
            </a:pPr>
            <a:r>
              <a:rPr sz="2400" b="1">
                <a:solidFill>
                  <a:srgbClr val="17324D"/>
                </a:solidFill>
                <a:latin typeface="Arial"/>
                <a:ea typeface="Arial"/>
                <a:cs typeface="Arial"/>
              </a:rPr>
              <a:t>RESEARCH &amp; REFERENCES</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493036c4185a4f7e"/>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EE26699-ECB1-4C1C-92FF-72EE07B46681}"/>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ect">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74E3D803-6113-42DB-9A9D-76F17A048934}"/>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Each source informed a specific part of the project.</a:t>
            </a:r>
          </a:p>
        </p:txBody>
      </p:sp>
      <p:sp>
        <p:nvSpPr>
          <p:cNvPr id="6" name="">
            <a:extLst xmlns:a="http://schemas.openxmlformats.org/drawingml/2006/main">
              <a:ext uri="{FF2B5EF4-FFF2-40B4-BE49-F238E27FC236}">
                <a16:creationId xmlns:a16="http://schemas.microsoft.com/office/drawing/2014/main" id="{2FCF134F-CEFD-4C26-A600-50FC95025513}"/>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ect">
            <a:avLst/>
          </a:prstGeom>
          <a:solidFill xmlns:a="http://schemas.openxmlformats.org/drawingml/2006/main">
            <a:srgbClr val="193C56"/>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68F247D5-85EB-4380-98E5-04DDAA4A6BF1}"/>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F8DF54D8-062C-42FE-B8D3-93DB8FE98A3D}"/>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06</a:t>
            </a:r>
          </a:p>
        </p:txBody>
      </p:sp>
      <p:sp>
        <p:nvSpPr>
          <p:cNvPr id="9" name="">
            <a:extLst xmlns:a="http://schemas.openxmlformats.org/drawingml/2006/main">
              <a:ext uri="{FF2B5EF4-FFF2-40B4-BE49-F238E27FC236}">
                <a16:creationId xmlns:a16="http://schemas.microsoft.com/office/drawing/2014/main" id="{C5232E46-0811-4803-8108-0980009ACD84}"/>
              </a:ext>
            </a:extLst>
          </p:cNvPr>
          <p:cNvSpPr>
            <a:spLocks xmlns:a="http://schemas.openxmlformats.org/drawingml/2006/main" noGrp="1"/>
          </p:cNvSpPr>
          <p:nvPr/>
        </p:nvSpPr>
        <p:spPr>
          <a:xfrm xmlns:a="http://schemas.openxmlformats.org/drawingml/2006/main">
            <a:off x="933450" y="1638300"/>
            <a:ext cx="41910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93C56"/>
                </a:solidFill>
                <a:latin typeface="Arial"/>
                <a:ea typeface="Arial"/>
                <a:cs typeface="Arial"/>
              </a:defRPr>
            </a:pPr>
            <a:r>
              <a:rPr sz="1350" b="1">
                <a:solidFill>
                  <a:srgbClr val="193C56"/>
                </a:solidFill>
                <a:latin typeface="Arial"/>
                <a:ea typeface="Arial"/>
                <a:cs typeface="Arial"/>
              </a:rPr>
              <a:t>SOURCE</a:t>
            </a:r>
          </a:p>
        </p:txBody>
      </p:sp>
      <p:sp>
        <p:nvSpPr>
          <p:cNvPr id="10" name="">
            <a:extLst xmlns:a="http://schemas.openxmlformats.org/drawingml/2006/main">
              <a:ext uri="{FF2B5EF4-FFF2-40B4-BE49-F238E27FC236}">
                <a16:creationId xmlns:a16="http://schemas.microsoft.com/office/drawing/2014/main" id="{30610136-615B-4CE0-A9B3-07804DB6111C}"/>
              </a:ext>
            </a:extLst>
          </p:cNvPr>
          <p:cNvSpPr>
            <a:spLocks xmlns:a="http://schemas.openxmlformats.org/drawingml/2006/main" noGrp="1"/>
          </p:cNvSpPr>
          <p:nvPr/>
        </p:nvSpPr>
        <p:spPr>
          <a:xfrm xmlns:a="http://schemas.openxmlformats.org/drawingml/2006/main">
            <a:off x="6257925" y="1638300"/>
            <a:ext cx="53340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68B83"/>
                </a:solidFill>
                <a:latin typeface="Arial"/>
                <a:ea typeface="Arial"/>
                <a:cs typeface="Arial"/>
              </a:defRPr>
            </a:pPr>
            <a:r>
              <a:rPr sz="1350" b="1">
                <a:solidFill>
                  <a:srgbClr val="168B83"/>
                </a:solidFill>
                <a:latin typeface="Arial"/>
                <a:ea typeface="Arial"/>
                <a:cs typeface="Arial"/>
              </a:rPr>
              <a:t>HOW IT INFORMED SKYGUARD</a:t>
            </a:r>
          </a:p>
        </p:txBody>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9b77e6371cbe4624">
            <a:extLst>
              <a:ext uri="{96DAC541-7B7A-43D3-8B79-37D633B846F1}">
                <asvg:svgBlip xmlns:asvg="http://schemas.microsoft.com/office/drawing/2016/SVG/main" r:embed="R04dc10d488c44176"/>
              </a:ext>
            </a:extLst>
          </a:blip>
          <a:stretch xmlns:a="http://schemas.openxmlformats.org/drawingml/2006/main"/>
        </p:blipFill>
        <p:spPr>
          <a:xfrm xmlns:a="http://schemas.openxmlformats.org/drawingml/2006/main">
            <a:off x="466725" y="2095500"/>
            <a:ext cx="295275" cy="2952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2A51CC5-FDA5-45DA-BDF8-A19F63F1FB27}"/>
              </a:ext>
            </a:extLst>
          </p:cNvPr>
          <p:cNvSpPr>
            <a:spLocks xmlns:a="http://schemas.openxmlformats.org/drawingml/2006/main" noGrp="1"/>
          </p:cNvSpPr>
          <p:nvPr/>
        </p:nvSpPr>
        <p:spPr>
          <a:xfrm xmlns:a="http://schemas.openxmlformats.org/drawingml/2006/main">
            <a:off x="942975" y="2047875"/>
            <a:ext cx="45529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SIH26073 problem statement</a:t>
            </a:r>
          </a:p>
        </p:txBody>
      </p:sp>
      <p:sp>
        <p:nvSpPr>
          <p:cNvPr id="13" name="">
            <a:extLst xmlns:a="http://schemas.openxmlformats.org/drawingml/2006/main">
              <a:ext uri="{FF2B5EF4-FFF2-40B4-BE49-F238E27FC236}">
                <a16:creationId xmlns:a16="http://schemas.microsoft.com/office/drawing/2014/main" id="{0ACD770F-ED9A-45D1-85BE-6675640DF805}"/>
              </a:ext>
            </a:extLst>
          </p:cNvPr>
          <p:cNvSpPr>
            <a:spLocks xmlns:a="http://schemas.openxmlformats.org/drawingml/2006/main" noGrp="1"/>
          </p:cNvSpPr>
          <p:nvPr/>
        </p:nvSpPr>
        <p:spPr>
          <a:xfrm xmlns:a="http://schemas.openxmlformats.org/drawingml/2006/main">
            <a:off x="942975" y="2333625"/>
            <a:ext cx="45529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AWS anomaly-detection need and scope</a:t>
            </a:r>
          </a:p>
        </p:txBody>
      </p:sp>
      <p:sp>
        <p:nvSpPr>
          <p:cNvPr id="14" name="">
            <a:extLst xmlns:a="http://schemas.openxmlformats.org/drawingml/2006/main">
              <a:ext uri="{FF2B5EF4-FFF2-40B4-BE49-F238E27FC236}">
                <a16:creationId xmlns:a16="http://schemas.microsoft.com/office/drawing/2014/main" id="{F1C35FC4-176C-4BB9-BB15-D47F9ABBC453}"/>
              </a:ext>
            </a:extLst>
          </p:cNvPr>
          <p:cNvSpPr>
            <a:spLocks xmlns:a="http://schemas.openxmlformats.org/drawingml/2006/main" noGrp="1"/>
          </p:cNvSpPr>
          <p:nvPr/>
        </p:nvSpPr>
        <p:spPr>
          <a:xfrm xmlns:a="http://schemas.openxmlformats.org/drawingml/2006/main">
            <a:off x="5619750" y="22193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15" name="">
            <a:extLst xmlns:a="http://schemas.openxmlformats.org/drawingml/2006/main">
              <a:ext uri="{FF2B5EF4-FFF2-40B4-BE49-F238E27FC236}">
                <a16:creationId xmlns:a16="http://schemas.microsoft.com/office/drawing/2014/main" id="{C3108AC2-B248-4F8E-93A3-136B66986D39}"/>
              </a:ext>
            </a:extLst>
          </p:cNvPr>
          <p:cNvSpPr>
            <a:spLocks xmlns:a="http://schemas.openxmlformats.org/drawingml/2006/main" noGrp="1"/>
          </p:cNvSpPr>
          <p:nvPr/>
        </p:nvSpPr>
        <p:spPr>
          <a:xfrm xmlns:a="http://schemas.openxmlformats.org/drawingml/2006/main">
            <a:off x="6038850" y="22193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66" name=""/>
          <p:cNvCxnSpPr>
            <a:stCxn xmlns:a="http://schemas.openxmlformats.org/drawingml/2006/main" id="14" idx="3"/>
            <a:endCxn xmlns:a="http://schemas.openxmlformats.org/drawingml/2006/main" id="15" idx="1"/>
          </p:cNvCxnSpPr>
          <p:nvPr/>
        </p:nvCxnSpPr>
        <p:spPr>
          <a:xfrm xmlns:a="http://schemas.openxmlformats.org/drawingml/2006/main">
            <a:off x="5638800" y="222885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17" name="">
            <a:extLst xmlns:a="http://schemas.openxmlformats.org/drawingml/2006/main">
              <a:ext uri="{FF2B5EF4-FFF2-40B4-BE49-F238E27FC236}">
                <a16:creationId xmlns:a16="http://schemas.microsoft.com/office/drawing/2014/main" id="{0C6CAC19-48B6-4F93-AE48-E922493C9739}"/>
              </a:ext>
            </a:extLst>
          </p:cNvPr>
          <p:cNvSpPr>
            <a:spLocks xmlns:a="http://schemas.openxmlformats.org/drawingml/2006/main" noGrp="1"/>
          </p:cNvSpPr>
          <p:nvPr/>
        </p:nvSpPr>
        <p:spPr>
          <a:xfrm xmlns:a="http://schemas.openxmlformats.org/drawingml/2006/main">
            <a:off x="6257925" y="2133600"/>
            <a:ext cx="5495925" cy="4762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Defines the target users and T/P/RH task.</a:t>
            </a:r>
          </a:p>
        </p:txBody>
      </p:sp>
      <p:sp>
        <p:nvSpPr>
          <p:cNvPr id="18" name="">
            <a:extLst xmlns:a="http://schemas.openxmlformats.org/drawingml/2006/main">
              <a:ext uri="{FF2B5EF4-FFF2-40B4-BE49-F238E27FC236}">
                <a16:creationId xmlns:a16="http://schemas.microsoft.com/office/drawing/2014/main" id="{C0736976-DEFC-40A4-91D8-E2CDA9E5A17D}"/>
              </a:ext>
            </a:extLst>
          </p:cNvPr>
          <p:cNvSpPr>
            <a:spLocks xmlns:a="http://schemas.openxmlformats.org/drawingml/2006/main" noGrp="1"/>
          </p:cNvSpPr>
          <p:nvPr/>
        </p:nvSpPr>
        <p:spPr>
          <a:xfrm xmlns:a="http://schemas.openxmlformats.org/drawingml/2006/main">
            <a:off x="942975" y="2676525"/>
            <a:ext cx="10810875" cy="9525"/>
          </a:xfrm>
          <a:prstGeom xmlns:a="http://schemas.openxmlformats.org/drawingml/2006/main" prst="rect">
            <a:avLst/>
          </a:prstGeom>
          <a:solidFill xmlns:a="http://schemas.openxmlformats.org/drawingml/2006/main">
            <a:srgbClr val="CDDBE8"/>
          </a:solidFill>
          <a:ln xmlns:a="http://schemas.openxmlformats.org/drawingml/2006/main" w="15240">
            <a:noFill/>
          </a:ln>
        </p:spPr>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2db161535cb54242">
            <a:extLst>
              <a:ext uri="{96DAC541-7B7A-43D3-8B79-37D633B846F1}">
                <asvg:svgBlip xmlns:asvg="http://schemas.microsoft.com/office/drawing/2016/SVG/main" r:embed="R69ef3d1adb354f6b"/>
              </a:ext>
            </a:extLst>
          </a:blip>
          <a:stretch xmlns:a="http://schemas.openxmlformats.org/drawingml/2006/main"/>
        </p:blipFill>
        <p:spPr>
          <a:xfrm xmlns:a="http://schemas.openxmlformats.org/drawingml/2006/main">
            <a:off x="466725" y="2838450"/>
            <a:ext cx="295275" cy="29527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7C81FC0C-2189-495A-A104-7AC3E1C03496}"/>
              </a:ext>
            </a:extLst>
          </p:cNvPr>
          <p:cNvSpPr>
            <a:spLocks xmlns:a="http://schemas.openxmlformats.org/drawingml/2006/main" noGrp="1"/>
          </p:cNvSpPr>
          <p:nvPr/>
        </p:nvSpPr>
        <p:spPr>
          <a:xfrm xmlns:a="http://schemas.openxmlformats.org/drawingml/2006/main">
            <a:off x="942975" y="2790825"/>
            <a:ext cx="45529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IMD surface instrumentation</a:t>
            </a:r>
          </a:p>
        </p:txBody>
      </p:sp>
      <p:sp>
        <p:nvSpPr>
          <p:cNvPr id="21" name="">
            <a:extLst xmlns:a="http://schemas.openxmlformats.org/drawingml/2006/main">
              <a:ext uri="{FF2B5EF4-FFF2-40B4-BE49-F238E27FC236}">
                <a16:creationId xmlns:a16="http://schemas.microsoft.com/office/drawing/2014/main" id="{78CD9EF3-7864-48C3-86F5-D4ECBCD90D43}"/>
              </a:ext>
            </a:extLst>
          </p:cNvPr>
          <p:cNvSpPr>
            <a:spLocks xmlns:a="http://schemas.openxmlformats.org/drawingml/2006/main" noGrp="1"/>
          </p:cNvSpPr>
          <p:nvPr/>
        </p:nvSpPr>
        <p:spPr>
          <a:xfrm xmlns:a="http://schemas.openxmlformats.org/drawingml/2006/main">
            <a:off x="942975" y="3076575"/>
            <a:ext cx="45529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AWS measurements and monitoring</a:t>
            </a:r>
          </a:p>
        </p:txBody>
      </p:sp>
      <p:sp>
        <p:nvSpPr>
          <p:cNvPr id="22" name="">
            <a:extLst xmlns:a="http://schemas.openxmlformats.org/drawingml/2006/main">
              <a:ext uri="{FF2B5EF4-FFF2-40B4-BE49-F238E27FC236}">
                <a16:creationId xmlns:a16="http://schemas.microsoft.com/office/drawing/2014/main" id="{BE085A05-6251-47C2-82CE-7B2E4198B318}"/>
              </a:ext>
            </a:extLst>
          </p:cNvPr>
          <p:cNvSpPr>
            <a:spLocks xmlns:a="http://schemas.openxmlformats.org/drawingml/2006/main" noGrp="1"/>
          </p:cNvSpPr>
          <p:nvPr/>
        </p:nvSpPr>
        <p:spPr>
          <a:xfrm xmlns:a="http://schemas.openxmlformats.org/drawingml/2006/main">
            <a:off x="5619750" y="29622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23" name="">
            <a:extLst xmlns:a="http://schemas.openxmlformats.org/drawingml/2006/main">
              <a:ext uri="{FF2B5EF4-FFF2-40B4-BE49-F238E27FC236}">
                <a16:creationId xmlns:a16="http://schemas.microsoft.com/office/drawing/2014/main" id="{CDC60FF3-D021-40A7-8EA4-175F8029A0C7}"/>
              </a:ext>
            </a:extLst>
          </p:cNvPr>
          <p:cNvSpPr>
            <a:spLocks xmlns:a="http://schemas.openxmlformats.org/drawingml/2006/main" noGrp="1"/>
          </p:cNvSpPr>
          <p:nvPr/>
        </p:nvSpPr>
        <p:spPr>
          <a:xfrm xmlns:a="http://schemas.openxmlformats.org/drawingml/2006/main">
            <a:off x="6038850" y="29622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74" name=""/>
          <p:cNvCxnSpPr>
            <a:stCxn xmlns:a="http://schemas.openxmlformats.org/drawingml/2006/main" id="22" idx="3"/>
            <a:endCxn xmlns:a="http://schemas.openxmlformats.org/drawingml/2006/main" id="23" idx="1"/>
          </p:cNvCxnSpPr>
          <p:nvPr/>
        </p:nvCxnSpPr>
        <p:spPr>
          <a:xfrm xmlns:a="http://schemas.openxmlformats.org/drawingml/2006/main">
            <a:off x="5638800" y="297180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5" name="">
            <a:extLst xmlns:a="http://schemas.openxmlformats.org/drawingml/2006/main">
              <a:ext uri="{FF2B5EF4-FFF2-40B4-BE49-F238E27FC236}">
                <a16:creationId xmlns:a16="http://schemas.microsoft.com/office/drawing/2014/main" id="{DD202A6F-940D-4159-B597-9EDD572F2894}"/>
              </a:ext>
            </a:extLst>
          </p:cNvPr>
          <p:cNvSpPr>
            <a:spLocks xmlns:a="http://schemas.openxmlformats.org/drawingml/2006/main" noGrp="1"/>
          </p:cNvSpPr>
          <p:nvPr/>
        </p:nvSpPr>
        <p:spPr>
          <a:xfrm xmlns:a="http://schemas.openxmlformats.org/drawingml/2006/main">
            <a:off x="6257925" y="2876550"/>
            <a:ext cx="5495925" cy="4762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Informs observation metadata and station context.</a:t>
            </a:r>
          </a:p>
        </p:txBody>
      </p:sp>
      <p:sp>
        <p:nvSpPr>
          <p:cNvPr id="26" name="">
            <a:extLst xmlns:a="http://schemas.openxmlformats.org/drawingml/2006/main">
              <a:ext uri="{FF2B5EF4-FFF2-40B4-BE49-F238E27FC236}">
                <a16:creationId xmlns:a16="http://schemas.microsoft.com/office/drawing/2014/main" id="{D09D190B-E36B-4537-AC3A-D26BEEE6715F}"/>
              </a:ext>
            </a:extLst>
          </p:cNvPr>
          <p:cNvSpPr>
            <a:spLocks xmlns:a="http://schemas.openxmlformats.org/drawingml/2006/main" noGrp="1"/>
          </p:cNvSpPr>
          <p:nvPr/>
        </p:nvSpPr>
        <p:spPr>
          <a:xfrm xmlns:a="http://schemas.openxmlformats.org/drawingml/2006/main">
            <a:off x="942975" y="3419475"/>
            <a:ext cx="10810875" cy="9525"/>
          </a:xfrm>
          <a:prstGeom xmlns:a="http://schemas.openxmlformats.org/drawingml/2006/main" prst="rect">
            <a:avLst/>
          </a:prstGeom>
          <a:solidFill xmlns:a="http://schemas.openxmlformats.org/drawingml/2006/main">
            <a:srgbClr val="CDDBE8"/>
          </a:solidFill>
          <a:ln xmlns:a="http://schemas.openxmlformats.org/drawingml/2006/main" w="15240">
            <a:noFill/>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65d1798a2de64143">
            <a:extLst>
              <a:ext uri="{96DAC541-7B7A-43D3-8B79-37D633B846F1}">
                <asvg:svgBlip xmlns:asvg="http://schemas.microsoft.com/office/drawing/2016/SVG/main" r:embed="R5c483839608e48d0"/>
              </a:ext>
            </a:extLst>
          </a:blip>
          <a:stretch xmlns:a="http://schemas.openxmlformats.org/drawingml/2006/main"/>
        </p:blipFill>
        <p:spPr>
          <a:xfrm xmlns:a="http://schemas.openxmlformats.org/drawingml/2006/main">
            <a:off x="466725" y="3581400"/>
            <a:ext cx="295275" cy="295275"/>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B7D743B4-C8CD-439E-97E3-1AF10B6A338E}"/>
              </a:ext>
            </a:extLst>
          </p:cNvPr>
          <p:cNvSpPr>
            <a:spLocks xmlns:a="http://schemas.openxmlformats.org/drawingml/2006/main" noGrp="1"/>
          </p:cNvSpPr>
          <p:nvPr/>
        </p:nvSpPr>
        <p:spPr>
          <a:xfrm xmlns:a="http://schemas.openxmlformats.org/drawingml/2006/main">
            <a:off x="942975" y="3533775"/>
            <a:ext cx="45529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WMO Guide No. 8</a:t>
            </a:r>
          </a:p>
        </p:txBody>
      </p:sp>
      <p:sp>
        <p:nvSpPr>
          <p:cNvPr id="29" name="">
            <a:extLst xmlns:a="http://schemas.openxmlformats.org/drawingml/2006/main">
              <a:ext uri="{FF2B5EF4-FFF2-40B4-BE49-F238E27FC236}">
                <a16:creationId xmlns:a16="http://schemas.microsoft.com/office/drawing/2014/main" id="{6B5A2B03-A8F8-407C-916B-E94F211BD9CE}"/>
              </a:ext>
            </a:extLst>
          </p:cNvPr>
          <p:cNvSpPr>
            <a:spLocks xmlns:a="http://schemas.openxmlformats.org/drawingml/2006/main" noGrp="1"/>
          </p:cNvSpPr>
          <p:nvPr/>
        </p:nvSpPr>
        <p:spPr>
          <a:xfrm xmlns:a="http://schemas.openxmlformats.org/drawingml/2006/main">
            <a:off x="942975" y="3819525"/>
            <a:ext cx="45529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Measurement methods and data quality</a:t>
            </a:r>
          </a:p>
        </p:txBody>
      </p:sp>
      <p:sp>
        <p:nvSpPr>
          <p:cNvPr id="30" name="">
            <a:extLst xmlns:a="http://schemas.openxmlformats.org/drawingml/2006/main">
              <a:ext uri="{FF2B5EF4-FFF2-40B4-BE49-F238E27FC236}">
                <a16:creationId xmlns:a16="http://schemas.microsoft.com/office/drawing/2014/main" id="{DAC3A5AE-DFEB-49D3-A53F-6D8300004733}"/>
              </a:ext>
            </a:extLst>
          </p:cNvPr>
          <p:cNvSpPr>
            <a:spLocks xmlns:a="http://schemas.openxmlformats.org/drawingml/2006/main" noGrp="1"/>
          </p:cNvSpPr>
          <p:nvPr/>
        </p:nvSpPr>
        <p:spPr>
          <a:xfrm xmlns:a="http://schemas.openxmlformats.org/drawingml/2006/main">
            <a:off x="5619750" y="37052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31" name="">
            <a:extLst xmlns:a="http://schemas.openxmlformats.org/drawingml/2006/main">
              <a:ext uri="{FF2B5EF4-FFF2-40B4-BE49-F238E27FC236}">
                <a16:creationId xmlns:a16="http://schemas.microsoft.com/office/drawing/2014/main" id="{7B35EC6E-F403-4840-A01B-AE5928C16024}"/>
              </a:ext>
            </a:extLst>
          </p:cNvPr>
          <p:cNvSpPr>
            <a:spLocks xmlns:a="http://schemas.openxmlformats.org/drawingml/2006/main" noGrp="1"/>
          </p:cNvSpPr>
          <p:nvPr/>
        </p:nvSpPr>
        <p:spPr>
          <a:xfrm xmlns:a="http://schemas.openxmlformats.org/drawingml/2006/main">
            <a:off x="6038850" y="37052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82" name=""/>
          <p:cNvCxnSpPr>
            <a:stCxn xmlns:a="http://schemas.openxmlformats.org/drawingml/2006/main" id="30" idx="3"/>
            <a:endCxn xmlns:a="http://schemas.openxmlformats.org/drawingml/2006/main" id="31" idx="1"/>
          </p:cNvCxnSpPr>
          <p:nvPr/>
        </p:nvCxnSpPr>
        <p:spPr>
          <a:xfrm xmlns:a="http://schemas.openxmlformats.org/drawingml/2006/main">
            <a:off x="5638800" y="371475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33" name="">
            <a:extLst xmlns:a="http://schemas.openxmlformats.org/drawingml/2006/main">
              <a:ext uri="{FF2B5EF4-FFF2-40B4-BE49-F238E27FC236}">
                <a16:creationId xmlns:a16="http://schemas.microsoft.com/office/drawing/2014/main" id="{ACE9863B-C4B0-4E0A-A99D-43D315739F6B}"/>
              </a:ext>
            </a:extLst>
          </p:cNvPr>
          <p:cNvSpPr>
            <a:spLocks xmlns:a="http://schemas.openxmlformats.org/drawingml/2006/main" noGrp="1"/>
          </p:cNvSpPr>
          <p:nvPr/>
        </p:nvSpPr>
        <p:spPr>
          <a:xfrm xmlns:a="http://schemas.openxmlformats.org/drawingml/2006/main">
            <a:off x="6257925" y="3619500"/>
            <a:ext cx="5495925" cy="4762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Guides physical plausibility and quality checks.</a:t>
            </a:r>
          </a:p>
        </p:txBody>
      </p:sp>
      <p:sp>
        <p:nvSpPr>
          <p:cNvPr id="34" name="">
            <a:extLst xmlns:a="http://schemas.openxmlformats.org/drawingml/2006/main">
              <a:ext uri="{FF2B5EF4-FFF2-40B4-BE49-F238E27FC236}">
                <a16:creationId xmlns:a16="http://schemas.microsoft.com/office/drawing/2014/main" id="{687D771D-72D3-4FD6-93FB-D71B1A1526BB}"/>
              </a:ext>
            </a:extLst>
          </p:cNvPr>
          <p:cNvSpPr>
            <a:spLocks xmlns:a="http://schemas.openxmlformats.org/drawingml/2006/main" noGrp="1"/>
          </p:cNvSpPr>
          <p:nvPr/>
        </p:nvSpPr>
        <p:spPr>
          <a:xfrm xmlns:a="http://schemas.openxmlformats.org/drawingml/2006/main">
            <a:off x="942975" y="4162425"/>
            <a:ext cx="10810875" cy="9525"/>
          </a:xfrm>
          <a:prstGeom xmlns:a="http://schemas.openxmlformats.org/drawingml/2006/main" prst="rect">
            <a:avLst/>
          </a:prstGeom>
          <a:solidFill xmlns:a="http://schemas.openxmlformats.org/drawingml/2006/main">
            <a:srgbClr val="CDDBE8"/>
          </a:solidFill>
          <a:ln xmlns:a="http://schemas.openxmlformats.org/drawingml/2006/main" w="15240">
            <a:noFill/>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ba527e3265924ad5">
            <a:extLst>
              <a:ext uri="{96DAC541-7B7A-43D3-8B79-37D633B846F1}">
                <asvg:svgBlip xmlns:asvg="http://schemas.microsoft.com/office/drawing/2016/SVG/main" r:embed="R18c0f1288cbd426f"/>
              </a:ext>
            </a:extLst>
          </a:blip>
          <a:stretch xmlns:a="http://schemas.openxmlformats.org/drawingml/2006/main"/>
        </p:blipFill>
        <p:spPr>
          <a:xfrm xmlns:a="http://schemas.openxmlformats.org/drawingml/2006/main">
            <a:off x="466725" y="4324350"/>
            <a:ext cx="295275" cy="295275"/>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87AA126F-1E3B-4501-B4CA-B35BE0140EAA}"/>
              </a:ext>
            </a:extLst>
          </p:cNvPr>
          <p:cNvSpPr>
            <a:spLocks xmlns:a="http://schemas.openxmlformats.org/drawingml/2006/main" noGrp="1"/>
          </p:cNvSpPr>
          <p:nvPr/>
        </p:nvSpPr>
        <p:spPr>
          <a:xfrm xmlns:a="http://schemas.openxmlformats.org/drawingml/2006/main">
            <a:off x="942975" y="4276725"/>
            <a:ext cx="45529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scikit-learn: Isolation Forest</a:t>
            </a:r>
          </a:p>
        </p:txBody>
      </p:sp>
      <p:sp>
        <p:nvSpPr>
          <p:cNvPr id="37" name="">
            <a:extLst xmlns:a="http://schemas.openxmlformats.org/drawingml/2006/main">
              <a:ext uri="{FF2B5EF4-FFF2-40B4-BE49-F238E27FC236}">
                <a16:creationId xmlns:a16="http://schemas.microsoft.com/office/drawing/2014/main" id="{03D81C39-DFDA-4730-B0F1-0F053FAA83AF}"/>
              </a:ext>
            </a:extLst>
          </p:cNvPr>
          <p:cNvSpPr>
            <a:spLocks xmlns:a="http://schemas.openxmlformats.org/drawingml/2006/main" noGrp="1"/>
          </p:cNvSpPr>
          <p:nvPr/>
        </p:nvSpPr>
        <p:spPr>
          <a:xfrm xmlns:a="http://schemas.openxmlformats.org/drawingml/2006/main">
            <a:off x="942975" y="4562475"/>
            <a:ext cx="45529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Unsupervised anomaly detection</a:t>
            </a:r>
          </a:p>
        </p:txBody>
      </p:sp>
      <p:sp>
        <p:nvSpPr>
          <p:cNvPr id="38" name="">
            <a:extLst xmlns:a="http://schemas.openxmlformats.org/drawingml/2006/main">
              <a:ext uri="{FF2B5EF4-FFF2-40B4-BE49-F238E27FC236}">
                <a16:creationId xmlns:a16="http://schemas.microsoft.com/office/drawing/2014/main" id="{C479CC60-30BD-4F68-94B8-CCB929F0B5BB}"/>
              </a:ext>
            </a:extLst>
          </p:cNvPr>
          <p:cNvSpPr>
            <a:spLocks xmlns:a="http://schemas.openxmlformats.org/drawingml/2006/main" noGrp="1"/>
          </p:cNvSpPr>
          <p:nvPr/>
        </p:nvSpPr>
        <p:spPr>
          <a:xfrm xmlns:a="http://schemas.openxmlformats.org/drawingml/2006/main">
            <a:off x="5619750" y="44481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39" name="">
            <a:extLst xmlns:a="http://schemas.openxmlformats.org/drawingml/2006/main">
              <a:ext uri="{FF2B5EF4-FFF2-40B4-BE49-F238E27FC236}">
                <a16:creationId xmlns:a16="http://schemas.microsoft.com/office/drawing/2014/main" id="{AA5F3847-19ED-401F-ABE9-8EC1C6B39AD1}"/>
              </a:ext>
            </a:extLst>
          </p:cNvPr>
          <p:cNvSpPr>
            <a:spLocks xmlns:a="http://schemas.openxmlformats.org/drawingml/2006/main" noGrp="1"/>
          </p:cNvSpPr>
          <p:nvPr/>
        </p:nvSpPr>
        <p:spPr>
          <a:xfrm xmlns:a="http://schemas.openxmlformats.org/drawingml/2006/main">
            <a:off x="6038850" y="44481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90" name=""/>
          <p:cNvCxnSpPr>
            <a:stCxn xmlns:a="http://schemas.openxmlformats.org/drawingml/2006/main" id="38" idx="3"/>
            <a:endCxn xmlns:a="http://schemas.openxmlformats.org/drawingml/2006/main" id="39" idx="1"/>
          </p:cNvCxnSpPr>
          <p:nvPr/>
        </p:nvCxnSpPr>
        <p:spPr>
          <a:xfrm xmlns:a="http://schemas.openxmlformats.org/drawingml/2006/main">
            <a:off x="5638800" y="445770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41" name="">
            <a:extLst xmlns:a="http://schemas.openxmlformats.org/drawingml/2006/main">
              <a:ext uri="{FF2B5EF4-FFF2-40B4-BE49-F238E27FC236}">
                <a16:creationId xmlns:a16="http://schemas.microsoft.com/office/drawing/2014/main" id="{6EEE8090-4490-4737-96E0-C8188F4E029D}"/>
              </a:ext>
            </a:extLst>
          </p:cNvPr>
          <p:cNvSpPr>
            <a:spLocks xmlns:a="http://schemas.openxmlformats.org/drawingml/2006/main" noGrp="1"/>
          </p:cNvSpPr>
          <p:nvPr/>
        </p:nvSpPr>
        <p:spPr>
          <a:xfrm xmlns:a="http://schemas.openxmlformats.org/drawingml/2006/main">
            <a:off x="6257925" y="4362450"/>
            <a:ext cx="5495925" cy="4762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Supports the ML score alongside other evidence.</a:t>
            </a:r>
          </a:p>
        </p:txBody>
      </p:sp>
      <p:sp>
        <p:nvSpPr>
          <p:cNvPr id="42" name="">
            <a:extLst xmlns:a="http://schemas.openxmlformats.org/drawingml/2006/main">
              <a:ext uri="{FF2B5EF4-FFF2-40B4-BE49-F238E27FC236}">
                <a16:creationId xmlns:a16="http://schemas.microsoft.com/office/drawing/2014/main" id="{93C794BA-75FB-490B-91AD-B27ACD843C0A}"/>
              </a:ext>
            </a:extLst>
          </p:cNvPr>
          <p:cNvSpPr>
            <a:spLocks xmlns:a="http://schemas.openxmlformats.org/drawingml/2006/main" noGrp="1"/>
          </p:cNvSpPr>
          <p:nvPr/>
        </p:nvSpPr>
        <p:spPr>
          <a:xfrm xmlns:a="http://schemas.openxmlformats.org/drawingml/2006/main">
            <a:off x="942975" y="4905375"/>
            <a:ext cx="10810875" cy="9525"/>
          </a:xfrm>
          <a:prstGeom xmlns:a="http://schemas.openxmlformats.org/drawingml/2006/main" prst="rect">
            <a:avLst/>
          </a:prstGeom>
          <a:solidFill xmlns:a="http://schemas.openxmlformats.org/drawingml/2006/main">
            <a:srgbClr val="CDDBE8"/>
          </a:solidFill>
          <a:ln xmlns:a="http://schemas.openxmlformats.org/drawingml/2006/main" w="15240">
            <a:noFill/>
          </a:ln>
        </p:spPr>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ba5ba81e4ab44820">
            <a:extLst>
              <a:ext uri="{96DAC541-7B7A-43D3-8B79-37D633B846F1}">
                <asvg:svgBlip xmlns:asvg="http://schemas.microsoft.com/office/drawing/2016/SVG/main" r:embed="Rcf8940d4320a4765"/>
              </a:ext>
            </a:extLst>
          </a:blip>
          <a:stretch xmlns:a="http://schemas.openxmlformats.org/drawingml/2006/main"/>
        </p:blipFill>
        <p:spPr>
          <a:xfrm xmlns:a="http://schemas.openxmlformats.org/drawingml/2006/main">
            <a:off x="466725" y="5067300"/>
            <a:ext cx="295275" cy="295275"/>
          </a:xfrm>
          <a:prstGeom xmlns:a="http://schemas.openxmlformats.org/drawingml/2006/main" prst="rect">
            <a:avLst/>
          </a:prstGeom>
        </p:spPr>
      </p:pic>
      <p:sp>
        <p:nvSpPr>
          <p:cNvPr id="44" name="">
            <a:extLst xmlns:a="http://schemas.openxmlformats.org/drawingml/2006/main">
              <a:ext uri="{FF2B5EF4-FFF2-40B4-BE49-F238E27FC236}">
                <a16:creationId xmlns:a16="http://schemas.microsoft.com/office/drawing/2014/main" id="{17F0CCE3-E4BA-4C9F-B5D0-C6C3F7C5836C}"/>
              </a:ext>
            </a:extLst>
          </p:cNvPr>
          <p:cNvSpPr>
            <a:spLocks xmlns:a="http://schemas.openxmlformats.org/drawingml/2006/main" noGrp="1"/>
          </p:cNvSpPr>
          <p:nvPr/>
        </p:nvSpPr>
        <p:spPr>
          <a:xfrm xmlns:a="http://schemas.openxmlformats.org/drawingml/2006/main">
            <a:off x="942975" y="5019675"/>
            <a:ext cx="455295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PMFBY WINDS / OpenStreetMap</a:t>
            </a:r>
          </a:p>
        </p:txBody>
      </p:sp>
      <p:sp>
        <p:nvSpPr>
          <p:cNvPr id="45" name="">
            <a:extLst xmlns:a="http://schemas.openxmlformats.org/drawingml/2006/main">
              <a:ext uri="{FF2B5EF4-FFF2-40B4-BE49-F238E27FC236}">
                <a16:creationId xmlns:a16="http://schemas.microsoft.com/office/drawing/2014/main" id="{A8F54E96-0B08-4903-8C1F-68789EC1CF97}"/>
              </a:ext>
            </a:extLst>
          </p:cNvPr>
          <p:cNvSpPr>
            <a:spLocks xmlns:a="http://schemas.openxmlformats.org/drawingml/2006/main" noGrp="1"/>
          </p:cNvSpPr>
          <p:nvPr/>
        </p:nvSpPr>
        <p:spPr>
          <a:xfrm xmlns:a="http://schemas.openxmlformats.org/drawingml/2006/main">
            <a:off x="942975" y="5305425"/>
            <a:ext cx="4552950" cy="2476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Station maps and geographic detail</a:t>
            </a:r>
          </a:p>
        </p:txBody>
      </p:sp>
      <p:sp>
        <p:nvSpPr>
          <p:cNvPr id="46" name="">
            <a:extLst xmlns:a="http://schemas.openxmlformats.org/drawingml/2006/main">
              <a:ext uri="{FF2B5EF4-FFF2-40B4-BE49-F238E27FC236}">
                <a16:creationId xmlns:a16="http://schemas.microsoft.com/office/drawing/2014/main" id="{5E001FDA-D91F-4769-9A42-446E8CA7B76F}"/>
              </a:ext>
            </a:extLst>
          </p:cNvPr>
          <p:cNvSpPr>
            <a:spLocks xmlns:a="http://schemas.openxmlformats.org/drawingml/2006/main" noGrp="1"/>
          </p:cNvSpPr>
          <p:nvPr/>
        </p:nvSpPr>
        <p:spPr>
          <a:xfrm xmlns:a="http://schemas.openxmlformats.org/drawingml/2006/main">
            <a:off x="5619750" y="51911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47" name="">
            <a:extLst xmlns:a="http://schemas.openxmlformats.org/drawingml/2006/main">
              <a:ext uri="{FF2B5EF4-FFF2-40B4-BE49-F238E27FC236}">
                <a16:creationId xmlns:a16="http://schemas.microsoft.com/office/drawing/2014/main" id="{78E4F3AD-ACC9-433F-8A6C-751349F2B5C9}"/>
              </a:ext>
            </a:extLst>
          </p:cNvPr>
          <p:cNvSpPr>
            <a:spLocks xmlns:a="http://schemas.openxmlformats.org/drawingml/2006/main" noGrp="1"/>
          </p:cNvSpPr>
          <p:nvPr/>
        </p:nvSpPr>
        <p:spPr>
          <a:xfrm xmlns:a="http://schemas.openxmlformats.org/drawingml/2006/main">
            <a:off x="6038850" y="51911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98" name=""/>
          <p:cNvCxnSpPr>
            <a:stCxn xmlns:a="http://schemas.openxmlformats.org/drawingml/2006/main" id="46" idx="3"/>
            <a:endCxn xmlns:a="http://schemas.openxmlformats.org/drawingml/2006/main" id="47" idx="1"/>
          </p:cNvCxnSpPr>
          <p:nvPr/>
        </p:nvCxnSpPr>
        <p:spPr>
          <a:xfrm xmlns:a="http://schemas.openxmlformats.org/drawingml/2006/main">
            <a:off x="5638800" y="520065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49" name="">
            <a:extLst xmlns:a="http://schemas.openxmlformats.org/drawingml/2006/main">
              <a:ext uri="{FF2B5EF4-FFF2-40B4-BE49-F238E27FC236}">
                <a16:creationId xmlns:a16="http://schemas.microsoft.com/office/drawing/2014/main" id="{2C0F4EFA-1797-416A-8CC7-0A897576C85B}"/>
              </a:ext>
            </a:extLst>
          </p:cNvPr>
          <p:cNvSpPr>
            <a:spLocks xmlns:a="http://schemas.openxmlformats.org/drawingml/2006/main" noGrp="1"/>
          </p:cNvSpPr>
          <p:nvPr/>
        </p:nvSpPr>
        <p:spPr>
          <a:xfrm xmlns:a="http://schemas.openxmlformats.org/drawingml/2006/main">
            <a:off x="6257925" y="5105400"/>
            <a:ext cx="5495925" cy="4762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Inspires zoom behaviour and location exploration.</a:t>
            </a:r>
          </a:p>
        </p:txBody>
      </p:sp>
      <p:sp>
        <p:nvSpPr>
          <p:cNvPr id="50" name="">
            <a:extLst xmlns:a="http://schemas.openxmlformats.org/drawingml/2006/main">
              <a:ext uri="{FF2B5EF4-FFF2-40B4-BE49-F238E27FC236}">
                <a16:creationId xmlns:a16="http://schemas.microsoft.com/office/drawing/2014/main" id="{0AE01B1C-5210-4228-BE80-FEF566461E93}"/>
              </a:ext>
            </a:extLst>
          </p:cNvPr>
          <p:cNvSpPr>
            <a:spLocks xmlns:a="http://schemas.openxmlformats.org/drawingml/2006/main" noGrp="1"/>
          </p:cNvSpPr>
          <p:nvPr/>
        </p:nvSpPr>
        <p:spPr>
          <a:xfrm xmlns:a="http://schemas.openxmlformats.org/drawingml/2006/main">
            <a:off x="419100" y="6048375"/>
            <a:ext cx="11353800" cy="285750"/>
          </a:xfrm>
          <a:prstGeom xmlns:a="http://schemas.openxmlformats.org/drawingml/2006/main" prst="rect">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168B83"/>
                </a:solidFill>
                <a:latin typeface="Arial"/>
                <a:ea typeface="Arial"/>
                <a:cs typeface="Arial"/>
              </a:defRPr>
            </a:pPr>
            <a:r>
              <a:rPr sz="1350" b="0">
                <a:solidFill>
                  <a:srgbClr val="168B83"/>
                </a:solidFill>
                <a:latin typeface="Arial"/>
                <a:ea typeface="Arial"/>
                <a:cs typeface="Arial"/>
              </a:rPr>
              <a:t>Project evidence: reproducible evaluation artifact and recorded limitations accompany the prototype.</a:t>
            </a:r>
          </a:p>
        </p:txBody>
      </p:sp>
    </p:spTree>
    <p:extLst>
      <p:ext uri="{BB962C8B-B14F-4D97-AF65-F5344CB8AC3E}">
        <p14:creationId xmlns:p14="http://schemas.microsoft.com/office/powerpoint/2010/main" val="702256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2026-09-29T18:36:05.5940000Z</dcterms:created>
  <dcterms:modified xsi:type="dcterms:W3CDTF">2026-09-29T18:36:05.5940000Z</dcterms:modified>
</coreProperties>
</file>